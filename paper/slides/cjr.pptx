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3.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6.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6d07a64eab544b2" /><Relationship Type="http://schemas.openxmlformats.org/officeDocument/2006/relationships/extended-properties" Target="/docProps/app.xml" Id="Rc91edf52f7704d27" /><Relationship Type="http://schemas.openxmlformats.org/officeDocument/2006/relationships/officeDocument" Target="/ppt/presentation.xml" Id="R84dd7469370b45f9" /></Relationships>
</file>

<file path=ppt/presentation.xml><?xml version="1.0" encoding="utf-8"?>
<p:presentation xmlns:p="http://schemas.openxmlformats.org/presentationml/2006/main">
  <p:sldMasterIdLst>
    <p:sldMasterId xmlns:r="http://schemas.openxmlformats.org/officeDocument/2006/relationships" id="2147483648" r:id="Rb981933a42014872"/>
  </p:sldMasterIdLst>
  <p:notesMasterIdLst>
    <p:notesMasterId xmlns:r="http://schemas.openxmlformats.org/officeDocument/2006/relationships" r:id="R2c1f0e545a6742d4"/>
  </p:notesMasterIdLst>
  <p:sldIdLst>
    <p:sldId xmlns:r="http://schemas.openxmlformats.org/officeDocument/2006/relationships" id="256" r:id="R2eb69851f623484e"/>
    <p:sldId xmlns:r="http://schemas.openxmlformats.org/officeDocument/2006/relationships" id="257" r:id="Rd026b784e1c945a8"/>
    <p:sldId xmlns:r="http://schemas.openxmlformats.org/officeDocument/2006/relationships" id="258" r:id="R9d7fe7ce3e104dc3"/>
    <p:sldId xmlns:r="http://schemas.openxmlformats.org/officeDocument/2006/relationships" id="259" r:id="Rfa9f78498d3a4002"/>
    <p:sldId xmlns:r="http://schemas.openxmlformats.org/officeDocument/2006/relationships" id="260" r:id="Rc2ca359a6a744e62"/>
    <p:sldId xmlns:r="http://schemas.openxmlformats.org/officeDocument/2006/relationships" id="261" r:id="R0e18f198ab8b4670"/>
    <p:sldId xmlns:r="http://schemas.openxmlformats.org/officeDocument/2006/relationships" id="262" r:id="Rbc44220eb07d40b2"/>
    <p:sldId xmlns:r="http://schemas.openxmlformats.org/officeDocument/2006/relationships" id="263" r:id="R6ed1569e0a2d44b1"/>
    <p:sldId xmlns:r="http://schemas.openxmlformats.org/officeDocument/2006/relationships" id="264" r:id="R545b0c74dda24df9"/>
    <p:sldId xmlns:r="http://schemas.openxmlformats.org/officeDocument/2006/relationships" id="265" r:id="Rc613f11a601a4ff6"/>
    <p:sldId xmlns:r="http://schemas.openxmlformats.org/officeDocument/2006/relationships" id="266" r:id="Rc67eb9a9b94b4408"/>
    <p:sldId xmlns:r="http://schemas.openxmlformats.org/officeDocument/2006/relationships" id="267" r:id="R18117ab62028479f"/>
    <p:sldId xmlns:r="http://schemas.openxmlformats.org/officeDocument/2006/relationships" id="268" r:id="R47dc9859537e411f"/>
    <p:sldId xmlns:r="http://schemas.openxmlformats.org/officeDocument/2006/relationships" id="269" r:id="Re236216ccf144680"/>
    <p:sldId xmlns:r="http://schemas.openxmlformats.org/officeDocument/2006/relationships" id="270" r:id="R0c23beffe9ae4daf"/>
    <p:sldId xmlns:r="http://schemas.openxmlformats.org/officeDocument/2006/relationships" id="271" r:id="R78f94a61599845d9"/>
    <p:sldId xmlns:r="http://schemas.openxmlformats.org/officeDocument/2006/relationships" id="272" r:id="Re6cdb237ea3e4d25"/>
    <p:sldId xmlns:r="http://schemas.openxmlformats.org/officeDocument/2006/relationships" id="273" r:id="R976966d78d5243ae"/>
    <p:sldId xmlns:r="http://schemas.openxmlformats.org/officeDocument/2006/relationships" id="274" r:id="R950fa85c04e04a92"/>
    <p:sldId xmlns:r="http://schemas.openxmlformats.org/officeDocument/2006/relationships" id="275" r:id="R28e921141edc4acb"/>
    <p:sldId xmlns:r="http://schemas.openxmlformats.org/officeDocument/2006/relationships" id="276" r:id="R22b4c071448f4be9"/>
    <p:sldId xmlns:r="http://schemas.openxmlformats.org/officeDocument/2006/relationships" id="277" r:id="Rf062e812b4a24607"/>
    <p:sldId xmlns:r="http://schemas.openxmlformats.org/officeDocument/2006/relationships" id="278" r:id="Rf1aa10c8f7c54a92"/>
    <p:sldId xmlns:r="http://schemas.openxmlformats.org/officeDocument/2006/relationships" id="279" r:id="R1d61a909c5d94fce"/>
    <p:sldId xmlns:r="http://schemas.openxmlformats.org/officeDocument/2006/relationships" id="280" r:id="R0ec570c64aac4d17"/>
    <p:sldId xmlns:r="http://schemas.openxmlformats.org/officeDocument/2006/relationships" id="281" r:id="R8560c57a70d64965"/>
    <p:sldId xmlns:r="http://schemas.openxmlformats.org/officeDocument/2006/relationships" id="282" r:id="Rd5539777bd244129"/>
    <p:sldId xmlns:r="http://schemas.openxmlformats.org/officeDocument/2006/relationships" id="283" r:id="Rb5a71c9f0ae748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852eee87234ee3" /><Relationship Type="http://schemas.openxmlformats.org/officeDocument/2006/relationships/slideMaster" Target="/ppt/slideMasters/slideMaster1.xml" Id="Rb981933a42014872" /><Relationship Type="http://schemas.openxmlformats.org/officeDocument/2006/relationships/notesMaster" Target="/ppt/notesMasters/notesMaster1.xml" Id="R2c1f0e545a6742d4" /><Relationship Type="http://schemas.openxmlformats.org/officeDocument/2006/relationships/presProps" Target="/ppt/presProps.xml" Id="Rdb1ff001013b45cd" /><Relationship Type="http://schemas.openxmlformats.org/officeDocument/2006/relationships/tableStyles" Target="/ppt/tableStyles.xml" Id="R40fa039f78ad474f" /><Relationship Type="http://schemas.openxmlformats.org/officeDocument/2006/relationships/slide" Target="/ppt/slides/slide1.xml" Id="R2eb69851f623484e" /><Relationship Type="http://schemas.openxmlformats.org/officeDocument/2006/relationships/slide" Target="/ppt/slides/slide2.xml" Id="Rd026b784e1c945a8" /><Relationship Type="http://schemas.openxmlformats.org/officeDocument/2006/relationships/slide" Target="/ppt/slides/slide3.xml" Id="R9d7fe7ce3e104dc3" /><Relationship Type="http://schemas.openxmlformats.org/officeDocument/2006/relationships/slide" Target="/ppt/slides/slide4.xml" Id="Rfa9f78498d3a4002" /><Relationship Type="http://schemas.openxmlformats.org/officeDocument/2006/relationships/slide" Target="/ppt/slides/slide5.xml" Id="Rc2ca359a6a744e62" /><Relationship Type="http://schemas.openxmlformats.org/officeDocument/2006/relationships/slide" Target="/ppt/slides/slide6.xml" Id="R0e18f198ab8b4670" /><Relationship Type="http://schemas.openxmlformats.org/officeDocument/2006/relationships/slide" Target="/ppt/slides/slide7.xml" Id="Rbc44220eb07d40b2" /><Relationship Type="http://schemas.openxmlformats.org/officeDocument/2006/relationships/slide" Target="/ppt/slides/slide8.xml" Id="R6ed1569e0a2d44b1" /><Relationship Type="http://schemas.openxmlformats.org/officeDocument/2006/relationships/slide" Target="/ppt/slides/slide9.xml" Id="R545b0c74dda24df9" /><Relationship Type="http://schemas.openxmlformats.org/officeDocument/2006/relationships/slide" Target="/ppt/slides/slide10.xml" Id="Rc613f11a601a4ff6" /><Relationship Type="http://schemas.openxmlformats.org/officeDocument/2006/relationships/slide" Target="/ppt/slides/slide11.xml" Id="Rc67eb9a9b94b4408" /><Relationship Type="http://schemas.openxmlformats.org/officeDocument/2006/relationships/slide" Target="/ppt/slides/slide12.xml" Id="R18117ab62028479f" /><Relationship Type="http://schemas.openxmlformats.org/officeDocument/2006/relationships/slide" Target="/ppt/slides/slide13.xml" Id="R47dc9859537e411f" /><Relationship Type="http://schemas.openxmlformats.org/officeDocument/2006/relationships/slide" Target="/ppt/slides/slide14.xml" Id="Re236216ccf144680" /><Relationship Type="http://schemas.openxmlformats.org/officeDocument/2006/relationships/slide" Target="/ppt/slides/slide15.xml" Id="R0c23beffe9ae4daf" /><Relationship Type="http://schemas.openxmlformats.org/officeDocument/2006/relationships/slide" Target="/ppt/slides/slide16.xml" Id="R78f94a61599845d9" /><Relationship Type="http://schemas.openxmlformats.org/officeDocument/2006/relationships/slide" Target="/ppt/slides/slide17.xml" Id="Re6cdb237ea3e4d25" /><Relationship Type="http://schemas.openxmlformats.org/officeDocument/2006/relationships/slide" Target="/ppt/slides/slide18.xml" Id="R976966d78d5243ae" /><Relationship Type="http://schemas.openxmlformats.org/officeDocument/2006/relationships/slide" Target="/ppt/slides/slide19.xml" Id="R950fa85c04e04a92" /><Relationship Type="http://schemas.openxmlformats.org/officeDocument/2006/relationships/slide" Target="/ppt/slides/slide20.xml" Id="R28e921141edc4acb" /><Relationship Type="http://schemas.openxmlformats.org/officeDocument/2006/relationships/slide" Target="/ppt/slides/slide21.xml" Id="R22b4c071448f4be9" /><Relationship Type="http://schemas.openxmlformats.org/officeDocument/2006/relationships/slide" Target="/ppt/slides/slide22.xml" Id="Rf062e812b4a24607" /><Relationship Type="http://schemas.openxmlformats.org/officeDocument/2006/relationships/slide" Target="/ppt/slides/slide23.xml" Id="Rf1aa10c8f7c54a92" /><Relationship Type="http://schemas.openxmlformats.org/officeDocument/2006/relationships/slide" Target="/ppt/slides/slide24.xml" Id="R1d61a909c5d94fce" /><Relationship Type="http://schemas.openxmlformats.org/officeDocument/2006/relationships/slide" Target="/ppt/slides/slide25.xml" Id="R0ec570c64aac4d17" /><Relationship Type="http://schemas.openxmlformats.org/officeDocument/2006/relationships/slide" Target="/ppt/slides/slide26.xml" Id="R8560c57a70d64965" /><Relationship Type="http://schemas.openxmlformats.org/officeDocument/2006/relationships/slide" Target="/ppt/slides/slide27.xml" Id="Rd5539777bd244129" /><Relationship Type="http://schemas.openxmlformats.org/officeDocument/2006/relationships/slide" Target="/ppt/slides/slide28.xml" Id="Rb5a71c9f0ae748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34a2e234c341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3ca459a14d4a0e" /><Relationship Type="http://schemas.openxmlformats.org/officeDocument/2006/relationships/notesMaster" Target="/ppt/notesMasters/notesMaster1.xml" Id="Rcf2827b6106b4f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40f44dfb614cda" /><Relationship Type="http://schemas.openxmlformats.org/officeDocument/2006/relationships/notesMaster" Target="/ppt/notesMasters/notesMaster1.xml" Id="R679e0c5e886142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058c59584044a9" /><Relationship Type="http://schemas.openxmlformats.org/officeDocument/2006/relationships/notesMaster" Target="/ppt/notesMasters/notesMaster1.xml" Id="R9322d9da480641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e2a13c5bfe43d6" /><Relationship Type="http://schemas.openxmlformats.org/officeDocument/2006/relationships/notesMaster" Target="/ppt/notesMasters/notesMaster1.xml" Id="R049062712d0241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1e142027d84863" /><Relationship Type="http://schemas.openxmlformats.org/officeDocument/2006/relationships/notesMaster" Target="/ppt/notesMasters/notesMaster1.xml" Id="Ra99fc827340742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cfc80b5cf249ff" /><Relationship Type="http://schemas.openxmlformats.org/officeDocument/2006/relationships/notesMaster" Target="/ppt/notesMasters/notesMaster1.xml" Id="R132b4f8545c544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71af9f01e54d93" /><Relationship Type="http://schemas.openxmlformats.org/officeDocument/2006/relationships/notesMaster" Target="/ppt/notesMasters/notesMaster1.xml" Id="R9101eb2ee9f54f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ff2435eee54951" /><Relationship Type="http://schemas.openxmlformats.org/officeDocument/2006/relationships/notesMaster" Target="/ppt/notesMasters/notesMaster1.xml" Id="R1243f870a51540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627e88b8ea4e4c" /><Relationship Type="http://schemas.openxmlformats.org/officeDocument/2006/relationships/notesMaster" Target="/ppt/notesMasters/notesMaster1.xml" Id="Rab7b14ec32ee47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7f27a3632d420b" /><Relationship Type="http://schemas.openxmlformats.org/officeDocument/2006/relationships/notesMaster" Target="/ppt/notesMasters/notesMaster1.xml" Id="Recae6eb70b3749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797c6e2aee46e2" /><Relationship Type="http://schemas.openxmlformats.org/officeDocument/2006/relationships/notesMaster" Target="/ppt/notesMasters/notesMaster1.xml" Id="Rdff322d596f341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873b526f754bc7" /><Relationship Type="http://schemas.openxmlformats.org/officeDocument/2006/relationships/notesMaster" Target="/ppt/notesMasters/notesMaster1.xml" Id="R3f8a039225fb44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3ee8ea6eeb43b4" /><Relationship Type="http://schemas.openxmlformats.org/officeDocument/2006/relationships/notesMaster" Target="/ppt/notesMasters/notesMaster1.xml" Id="R76653910fd884c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f1c54eba0f446d" /><Relationship Type="http://schemas.openxmlformats.org/officeDocument/2006/relationships/notesMaster" Target="/ppt/notesMasters/notesMaster1.xml" Id="Ra7bce6338c8045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3085b167b341c0" /><Relationship Type="http://schemas.openxmlformats.org/officeDocument/2006/relationships/notesMaster" Target="/ppt/notesMasters/notesMaster1.xml" Id="R96c2639c3d194f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3255e30be046bb" /><Relationship Type="http://schemas.openxmlformats.org/officeDocument/2006/relationships/notesMaster" Target="/ppt/notesMasters/notesMaster1.xml" Id="Red0bc10ec8cf4c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e976e36935e4519" /><Relationship Type="http://schemas.openxmlformats.org/officeDocument/2006/relationships/notesMaster" Target="/ppt/notesMasters/notesMaster1.xml" Id="Rdebd59e5516c4f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1b0c109c7e4e71" /><Relationship Type="http://schemas.openxmlformats.org/officeDocument/2006/relationships/notesMaster" Target="/ppt/notesMasters/notesMaster1.xml" Id="R6e404c6a24f847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eb3b703a5014a32" /><Relationship Type="http://schemas.openxmlformats.org/officeDocument/2006/relationships/notesMaster" Target="/ppt/notesMasters/notesMaster1.xml" Id="Rb3134213672b4f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bd01ce6bf0449c3" /><Relationship Type="http://schemas.openxmlformats.org/officeDocument/2006/relationships/notesMaster" Target="/ppt/notesMasters/notesMaster1.xml" Id="R11c5cf263c5d4fe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dc4d5233624bc2" /><Relationship Type="http://schemas.openxmlformats.org/officeDocument/2006/relationships/notesMaster" Target="/ppt/notesMasters/notesMaster1.xml" Id="R6f7fcdffeed940b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c959e17d5948e0" /><Relationship Type="http://schemas.openxmlformats.org/officeDocument/2006/relationships/notesMaster" Target="/ppt/notesMasters/notesMaster1.xml" Id="R6fbb48e9466441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d387d03ea3457c" /><Relationship Type="http://schemas.openxmlformats.org/officeDocument/2006/relationships/notesMaster" Target="/ppt/notesMasters/notesMaster1.xml" Id="Rb3b5b1ef485a4ed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3b71338ef174747" /><Relationship Type="http://schemas.openxmlformats.org/officeDocument/2006/relationships/notesMaster" Target="/ppt/notesMasters/notesMaster1.xml" Id="R89bf1c043cd143f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1551b2de6524e4c" /><Relationship Type="http://schemas.openxmlformats.org/officeDocument/2006/relationships/notesMaster" Target="/ppt/notesMasters/notesMaster1.xml" Id="Rb263155ae0be47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ae31707a43e4fbb" /><Relationship Type="http://schemas.openxmlformats.org/officeDocument/2006/relationships/notesMaster" Target="/ppt/notesMasters/notesMaster1.xml" Id="Rb65faec29de543b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0391c108c8141e6" /><Relationship Type="http://schemas.openxmlformats.org/officeDocument/2006/relationships/notesMaster" Target="/ppt/notesMasters/notesMaster1.xml" Id="Rbcef726b59d946d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64cb8790c41476b" /><Relationship Type="http://schemas.openxmlformats.org/officeDocument/2006/relationships/notesMaster" Target="/ppt/notesMasters/notesMaster1.xml" Id="R9901c27a560049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talk examines a proposed workflow for agent-assisted programming: describe an algorithm and its intended properties, review a formal specification, check its proofs, then emit executable Cangjie. CJR demonstrates this on mutable data structures. The proof applies to the CJR operational semantics. Target-code correspondence remains a separate trust boundary.</a:t>
            </a:r>
          </a:p>
          <a:p xmlns:a="http://schemas.openxmlformats.org/drawingml/2006/main">
            <a:r>
              <a:t/>
            </a:r>
          </a:p>
          <a:p xmlns:a="http://schemas.openxmlformats.org/drawingml/2006/main">
            <a:r>
              <a:t>Sources</a:t>
            </a:r>
          </a:p>
          <a:p xmlns:a="http://schemas.openxmlformats.org/drawingml/2006/main">
            <a:r>
              <a:t>Repository source: paper/cjr-tutorial.tex</a:t>
            </a:r>
          </a:p>
          <a:p xmlns:a="http://schemas.openxmlformats.org/drawingml/2006/main">
            <a:r>
              <a:t>Repository source: paper/blog.md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the motivation of the project, rather than a measured claim about developer productivity. Generating more code does not automatically establish its correspondence to the informal request. A proof can move review effort toward precise statements and their assumptions, but people still have to review those statements.</a:t>
            </a:r>
          </a:p>
          <a:p xmlns:a="http://schemas.openxmlformats.org/drawingml/2006/main">
            <a:r>
              <a:t/>
            </a:r>
          </a:p>
          <a:p xmlns:a="http://schemas.openxmlformats.org/drawingml/2006/main">
            <a:r>
              <a:t>Sources</a:t>
            </a:r>
          </a:p>
          <a:p xmlns:a="http://schemas.openxmlformats.org/drawingml/2006/main">
            <a:r>
              <a:t>Repository source: paper/cjr-tutorial.tex: conclusion</a:t>
            </a:r>
          </a:p>
          <a:p xmlns:a="http://schemas.openxmlformats.org/drawingml/2006/main">
            <a:r>
              <a:t>Repository source: paper/blog.md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workflow distinctions, not mutually exclusive mathematical techniques. Both can use separation logic and proof assistants. CJR takes executable CJR expression trees inside Rocq, proves Iris WP contracts, then prints those trees as Cangjie. Gallina extraction, used by CompCert for its compiler implementation, is a different mechanism.</a:t>
            </a:r>
          </a:p>
          <a:p xmlns:a="http://schemas.openxmlformats.org/drawingml/2006/main">
            <a:r>
              <a:t/>
            </a:r>
          </a:p>
          <a:p xmlns:a="http://schemas.openxmlformats.org/drawingml/2006/main">
            <a:r>
              <a:t>Sources</a:t>
            </a:r>
          </a:p>
          <a:p xmlns:a="http://schemas.openxmlformats.org/drawingml/2006/main">
            <a:r>
              <a:t>Repository source: paper/cjr-tutorial.tex: Tool structure and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CompCert is a realistic optimizing C compiler with machine-checked semantic-preservation proofs. Explain the two levels: extraction turns the Coq implementation of the compiler into an executable; compiler correctness connects source and target program behaviours. The complete toolchain has a trusted computing base, including interfaces outside its verified passes. Do not claim arbitrary C programs are functionally correct merely because CompCert compiled them.</a:t>
            </a:r>
          </a:p>
          <a:p xmlns:a="http://schemas.openxmlformats.org/drawingml/2006/main">
            <a:r>
              <a:t/>
            </a:r>
          </a:p>
          <a:p xmlns:a="http://schemas.openxmlformats.org/drawingml/2006/main">
            <a:r>
              <a:t>Sources</a:t>
            </a:r>
          </a:p>
          <a:p xmlns:a="http://schemas.openxmlformats.org/drawingml/2006/main">
            <a:r>
              <a:t>https://compcert.org/research.html</a:t>
            </a:r>
          </a:p>
          <a:p xmlns:a="http://schemas.openxmlformats.org/drawingml/2006/main">
            <a:r>
              <a:t>https://compcert.org/doc/</a:t>
            </a:r>
          </a:p>
          <a:p xmlns:a="http://schemas.openxmlformats.org/drawingml/2006/main">
            <a:r>
              <a:t>https://arxiv.org/abs/2201.10280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development is sequential, monomorphic and first-order, with code pointers. Algorithmic realism is a design aim: omitted convenience features should lower without changing asymptotic time or space. No general lowering theorem is supplied. CJR is not a proof of the whole Cangjie language.</a:t>
            </a:r>
          </a:p>
          <a:p xmlns:a="http://schemas.openxmlformats.org/drawingml/2006/main">
            <a:r>
              <a:t/>
            </a:r>
          </a:p>
          <a:p xmlns:a="http://schemas.openxmlformats.org/drawingml/2006/main">
            <a:r>
              <a:t>Sources</a:t>
            </a:r>
          </a:p>
          <a:p xmlns:a="http://schemas.openxmlformats.org/drawingml/2006/main">
            <a:r>
              <a:t>Repository source: paper/cjr-tutorial.tex: What this development is</a:t>
            </a:r>
          </a:p>
          <a:p xmlns:a="http://schemas.openxmlformats.org/drawingml/2006/main">
            <a:r>
              <a:t>Repository source: theories/lang.v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ty grammar records intended types, but reduction is untyped. The generated Cangjie may contain runtime representation adapters, such as optional links and match in the Node bridge. Those adapters do not extend the formal CJR core. Ordinary runtime/target-language constructs must be distinguished from the mechanized syntax.</a:t>
            </a:r>
          </a:p>
          <a:p xmlns:a="http://schemas.openxmlformats.org/drawingml/2006/main">
            <a:r>
              <a:t/>
            </a:r>
          </a:p>
          <a:p xmlns:a="http://schemas.openxmlformats.org/drawingml/2006/main">
            <a:r>
              <a:t>Sources</a:t>
            </a:r>
          </a:p>
          <a:p xmlns:a="http://schemas.openxmlformats.org/drawingml/2006/main">
            <a:r>
              <a:t>Repository source: theories/lang.v</a:t>
            </a:r>
          </a:p>
          <a:p xmlns:a="http://schemas.openxmlformats.org/drawingml/2006/main">
            <a:r>
              <a:t>Repository source: paper/cjr-tutorial.tex: What is deliberately missing</a:t>
            </a:r>
          </a:p>
          <a:p xmlns:a="http://schemas.openxmlformats.org/drawingml/2006/main">
            <a:r>
              <a:t>Repository source: example/list/extracted/list.cj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compact illustrative surface fragment based on the tutorial syntax. Show Let, VarBind, While and If in the core as their corresponding constructors. Application in the core is unary: multi-argument source calls package arguments as a struct. The printer emits supported constructs in the reverse direction.</a:t>
            </a:r>
          </a:p>
          <a:p xmlns:a="http://schemas.openxmlformats.org/drawingml/2006/main">
            <a:r>
              <a:t/>
            </a:r>
          </a:p>
          <a:p xmlns:a="http://schemas.openxmlformats.org/drawingml/2006/main">
            <a:r>
              <a:t>Sources</a:t>
            </a:r>
          </a:p>
          <a:p xmlns:a="http://schemas.openxmlformats.org/drawingml/2006/main">
            <a:r>
              <a:t>Repository source: paper/cjr-tutorial.tex: Syntax</a:t>
            </a:r>
          </a:p>
          <a:p xmlns:a="http://schemas.openxmlformats.org/drawingml/2006/main">
            <a:r>
              <a:t>Repository source: theories/lang.v</a:t>
            </a:r>
          </a:p>
          <a:p xmlns:a="http://schemas.openxmlformats.org/drawingml/2006/main">
            <a:r>
              <a:t>Repository source: theories/notation.v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state has four maps: stack, raw words, block lengths and object fields, plus a fresh-address counter. Word-address arithmetic has no byte padding. Evaluation contexts lift head reductions to whole programs. A null access, use-after-free or unavailable address gets stuck because its lookup premise fails. The formal model does not implement object garbage collection.</a:t>
            </a:r>
          </a:p>
          <a:p xmlns:a="http://schemas.openxmlformats.org/drawingml/2006/main">
            <a:r>
              <a:t/>
            </a:r>
          </a:p>
          <a:p xmlns:a="http://schemas.openxmlformats.org/drawingml/2006/main">
            <a:r>
              <a:t>Sources</a:t>
            </a:r>
          </a:p>
          <a:p xmlns:a="http://schemas.openxmlformats.org/drawingml/2006/main">
            <a:r>
              <a:t>Repository source: theories/lang.v</a:t>
            </a:r>
          </a:p>
          <a:p xmlns:a="http://schemas.openxmlformats.org/drawingml/2006/main">
            <a:r>
              <a:t>Repository source: paper/cjr-tutorial.tex: Machine state</a:t>
            </a:r>
          </a:p>
          <a:p xmlns:a="http://schemas.openxmlformats.org/drawingml/2006/main">
            <a:r>
              <a:t>Repository source: paper/cjr-tutorial.tex: Small-step semantics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propositions-as-types viewpoint without assuming prior type theory. A large automation tactic need not be trusted merely because it helps construct a proof term. The kernel and its implementation remain part of the trust base. Declared axioms are accepted as assumptions, so kernel acceptance alone is not an assumption audit.</a:t>
            </a:r>
          </a:p>
          <a:p xmlns:a="http://schemas.openxmlformats.org/drawingml/2006/main">
            <a:r>
              <a:t/>
            </a:r>
          </a:p>
          <a:p xmlns:a="http://schemas.openxmlformats.org/drawingml/2006/main">
            <a:r>
              <a:t>Sources</a:t>
            </a:r>
          </a:p>
          <a:p xmlns:a="http://schemas.openxmlformats.org/drawingml/2006/main">
            <a:r>
              <a:t>https://rocq-prover.org/docs</a:t>
            </a:r>
          </a:p>
          <a:p xmlns:a="http://schemas.openxmlformats.org/drawingml/2006/main">
            <a:r>
              <a:t>https://docs.rocq-prover.org/master/refman/</a:t>
            </a:r>
          </a:p>
          <a:p xmlns:a="http://schemas.openxmlformats.org/drawingml/2006/main">
            <a:r>
              <a:t>Repository source: README.md</a:t>
            </a:r>
          </a:p>
          <a:p xmlns:a="http://schemas.openxmlformats.org/drawingml/2006/main">
            <a:r>
              <a:t>Repository source: Makefile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evidence that large mathematical and software developments can be formalized, not a claim that using Rocq makes every application trustworthy automatically. Four Colour and the odd-order theorem build on Mathematical Components and extensive formal libraries. CompCert demonstrates executable software with a detailed correctness argument.</a:t>
            </a:r>
          </a:p>
          <a:p xmlns:a="http://schemas.openxmlformats.org/drawingml/2006/main">
            <a:r>
              <a:t/>
            </a:r>
          </a:p>
          <a:p xmlns:a="http://schemas.openxmlformats.org/drawingml/2006/main">
            <a:r>
              <a:t>Sources</a:t>
            </a:r>
          </a:p>
          <a:p xmlns:a="http://schemas.openxmlformats.org/drawingml/2006/main">
            <a:r>
              <a:t>https://rocq-prover.org/</a:t>
            </a:r>
          </a:p>
          <a:p xmlns:a="http://schemas.openxmlformats.org/drawingml/2006/main">
            <a:r>
              <a:t>https://compcert.org/doc/</a:t>
            </a:r>
          </a:p>
          <a:p xmlns:a="http://schemas.openxmlformats.org/drawingml/2006/main">
            <a:r>
              <a:t>https://www.msr-inria.fr/files/hal-00816699/file/main.pdf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actual make verify behaviour and inspect the current verification output. The source scan is a useful guard, not a complete logical audit. Print Assumptions reports transitive logical dependencies for selected theorems. coqchk rechecks proof objects but does not judge whether a specification matches the intended requirement. Avoid claiming every possible escape hatch is ruled out by a textual search.</a:t>
            </a:r>
          </a:p>
          <a:p xmlns:a="http://schemas.openxmlformats.org/drawingml/2006/main">
            <a:r>
              <a:t/>
            </a:r>
          </a:p>
          <a:p xmlns:a="http://schemas.openxmlformats.org/drawingml/2006/main">
            <a:r>
              <a:t>Sources</a:t>
            </a:r>
          </a:p>
          <a:p xmlns:a="http://schemas.openxmlformats.org/drawingml/2006/main">
            <a:r>
              <a:t>Repository source: Makefile.local</a:t>
            </a:r>
          </a:p>
          <a:p xmlns:a="http://schemas.openxmlformats.org/drawingml/2006/main">
            <a:r>
              <a:t>Repository source: theories/verify_assumptions.v</a:t>
            </a:r>
          </a:p>
          <a:p xmlns:a="http://schemas.openxmlformats.org/drawingml/2006/main">
            <a:r>
              <a:t>Repository source: example/quadtree/proof/audit.v</a:t>
            </a:r>
          </a:p>
          <a:p xmlns:a="http://schemas.openxmlformats.org/drawingml/2006/main">
            <a:r>
              <a:t>Repository source: build/verify.log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simplified points-to assertions. In CJR there are distinct assertions for raw words, stack cells and object fields, plus allocation metadata required for free. Disjointness is about the owned resources. Separation logic supports other resource algebras and ownership modes beyond this simple example.</a:t>
            </a:r>
          </a:p>
          <a:p xmlns:a="http://schemas.openxmlformats.org/drawingml/2006/main">
            <a:r>
              <a:t/>
            </a:r>
          </a:p>
          <a:p xmlns:a="http://schemas.openxmlformats.org/drawingml/2006/main">
            <a:r>
              <a:t>Sources</a:t>
            </a:r>
          </a:p>
          <a:p xmlns:a="http://schemas.openxmlformats.org/drawingml/2006/main">
            <a:r>
              <a:t>Repository source: theories/primitive_laws.v</a:t>
            </a:r>
          </a:p>
          <a:p xmlns:a="http://schemas.openxmlformats.org/drawingml/2006/main">
            <a:r>
              <a:t>Repository source: paper/cjr-tutorial.tex: Separation logic</a:t>
            </a:r>
          </a:p>
          <a:p xmlns:a="http://schemas.openxmlformats.org/drawingml/2006/main">
            <a:r>
              <a:t>https://iris-project.org/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schematic Hoare notation explaining the Iris WP frame rule. The actual proof uses Iris assertions and the correct side conditions. In the reversal runtime test an unrelated list remains unchanged; the formal frame rule gives the compositional reasoning principle. Framing is sound because the operation can access only the resources its contract supplies.</a:t>
            </a:r>
          </a:p>
          <a:p xmlns:a="http://schemas.openxmlformats.org/drawingml/2006/main">
            <a:r>
              <a:t/>
            </a:r>
          </a:p>
          <a:p xmlns:a="http://schemas.openxmlformats.org/drawingml/2006/main">
            <a:r>
              <a:t>Sources</a:t>
            </a:r>
          </a:p>
          <a:p xmlns:a="http://schemas.openxmlformats.org/drawingml/2006/main">
            <a:r>
              <a:t>Repository source: paper/cjr-tutorial.tex: Structural rules</a:t>
            </a:r>
          </a:p>
          <a:p xmlns:a="http://schemas.openxmlformats.org/drawingml/2006/main">
            <a:r>
              <a:t>Repository source: example/list_rev/test/list_rev_test.cj</a:t>
            </a:r>
          </a:p>
          <a:p xmlns:a="http://schemas.openxmlformats.org/drawingml/2006/main">
            <a:r>
              <a:t>https://iris-project.org/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Iris is a higher-order concurrent separation logic framework. CJR uses its generic infrastructure but this CJR development is sequential. Academic examples: Iris: Monoids and Invariants as an Orthogonal Basis for Concurrent Reasoning (POPL 2015), Iris from the Ground Up (JFP 2018), RustBelt (POPL 2018), and Zoo (POPL 2026). Cite the project’s publication list, which links papers and mechanizations.</a:t>
            </a:r>
          </a:p>
          <a:p xmlns:a="http://schemas.openxmlformats.org/drawingml/2006/main">
            <a:r>
              <a:t/>
            </a:r>
          </a:p>
          <a:p xmlns:a="http://schemas.openxmlformats.org/drawingml/2006/main">
            <a:r>
              <a:t>Sources</a:t>
            </a:r>
          </a:p>
          <a:p xmlns:a="http://schemas.openxmlformats.org/drawingml/2006/main">
            <a:r>
              <a:t>https://iris-project.org/</a:t>
            </a:r>
          </a:p>
          <a:p xmlns:a="http://schemas.openxmlformats.org/drawingml/2006/main">
            <a:r>
              <a:t>Repository source: theories/lifting.v</a:t>
            </a:r>
          </a:p>
          <a:p xmlns:a="http://schemas.openxmlformats.org/drawingml/2006/main">
            <a:r>
              <a:t>Repository source: theories/primitive_laws.v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signature: cjr_adequacy S e (phi : val -&gt; Prop) requires forall cjrGS S and invGS_gen HasLc S, entailment of wp e (fun v =&gt; pure (phi v)), and concludes adequate NotStuck e state_init (fun v _ =&gt; phi v). It allocates empty ghost maps and applies Iris adequacy. This is partial correctness and non-stuckness, not termination. Open data-structure contracts require owned resources and are WP statements, not direct adequacy claims from an empty state.</a:t>
            </a:r>
          </a:p>
          <a:p xmlns:a="http://schemas.openxmlformats.org/drawingml/2006/main">
            <a:r>
              <a:t/>
            </a:r>
          </a:p>
          <a:p xmlns:a="http://schemas.openxmlformats.org/drawingml/2006/main">
            <a:r>
              <a:t>Sources</a:t>
            </a:r>
          </a:p>
          <a:p xmlns:a="http://schemas.openxmlformats.org/drawingml/2006/main">
            <a:r>
              <a:t>Repository source: theories/adequacy.v</a:t>
            </a:r>
          </a:p>
          <a:p xmlns:a="http://schemas.openxmlformats.org/drawingml/2006/main">
            <a:r>
              <a:t>Repository source: paper/cjr-tutorial.tex: Adequacy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syntax-directed Cangjie printer is distinct from a verified compiler. The repository has runtime tests and benchmarks, but they do not prove semantic preservation. The core abstracts mathematical values and word-address memory; target integer bounds, allocation and garbage collection need their own analysis. Mention relevant limitations from the tutorial without suggesting those limitations invalidate the CJR theorem.</a:t>
            </a:r>
          </a:p>
          <a:p xmlns:a="http://schemas.openxmlformats.org/drawingml/2006/main">
            <a:r>
              <a:t/>
            </a:r>
          </a:p>
          <a:p xmlns:a="http://schemas.openxmlformats.org/drawingml/2006/main">
            <a:r>
              <a:t>Sources</a:t>
            </a:r>
          </a:p>
          <a:p xmlns:a="http://schemas.openxmlformats.org/drawingml/2006/main">
            <a:r>
              <a:t>Repository source: paper/cjr-tutorial.tex: Limitations and target-code risks</a:t>
            </a:r>
          </a:p>
          <a:p xmlns:a="http://schemas.openxmlformats.org/drawingml/2006/main">
            <a:r>
              <a:t>Repository source: tools/extraction/rocq/cj_print.v</a:t>
            </a:r>
          </a:p>
          <a:p xmlns:a="http://schemas.openxmlformats.org/drawingml/2006/main">
            <a:r>
              <a:t>Repository source: tools/extraction/rocq/emit_cj.v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code abbreviates UIntNative conversions in the generated file for readability. In the CJR AST, Alloc receives length 1, Store writes 7, Load reads the word, and Free releases it. The load result is discarded by sequencing. The theorem’s observable result is Unit, not 7. The intermediate ownership proof justifies the read and free.</a:t>
            </a:r>
          </a:p>
          <a:p xmlns:a="http://schemas.openxmlformats.org/drawingml/2006/main">
            <a:r>
              <a:t/>
            </a:r>
          </a:p>
          <a:p xmlns:a="http://schemas.openxmlformats.org/drawingml/2006/main">
            <a:r>
              <a:t>Sources</a:t>
            </a:r>
          </a:p>
          <a:p xmlns:a="http://schemas.openxmlformats.org/drawingml/2006/main">
            <a:r>
              <a:t>Repository source: example/misc/rocq/cell.v</a:t>
            </a:r>
          </a:p>
          <a:p xmlns:a="http://schemas.openxmlformats.org/drawingml/2006/main">
            <a:r>
              <a:t>Repository source: example/misc/extracted/cell.cj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proof applies wp_alloc_one, wp_store, wp_load and wp_free_one, with wp_bind and sequencing rules selecting the next operation. The block token ensures that free releases a valid allocated block, rather than merely a word. The proof does not state that arbitrary pointer programs are safe. The resource progression is a pedagogical summary of the checked script.</a:t>
            </a:r>
          </a:p>
          <a:p xmlns:a="http://schemas.openxmlformats.org/drawingml/2006/main">
            <a:r>
              <a:t/>
            </a:r>
          </a:p>
          <a:p xmlns:a="http://schemas.openxmlformats.org/drawingml/2006/main">
            <a:r>
              <a:t>Sources</a:t>
            </a:r>
          </a:p>
          <a:p xmlns:a="http://schemas.openxmlformats.org/drawingml/2006/main">
            <a:r>
              <a:t>Repository source: example/misc/rocq/cell.v</a:t>
            </a:r>
          </a:p>
          <a:p xmlns:a="http://schemas.openxmlformats.org/drawingml/2006/main">
            <a:r>
              <a:t>Repository source: theories/primitive_laws.v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predicate is a conceptual expansion, not literal Rocq syntax. Nodes have tag, integer value and next fields. A boolean tag distinguishes empty and cons nodes in the core, which has no enum/match. The sentinel is an owned object. Contracts relate the implementation to Coq lists and compose into client equations.</a:t>
            </a:r>
          </a:p>
          <a:p xmlns:a="http://schemas.openxmlformats.org/drawingml/2006/main">
            <a:r>
              <a:t/>
            </a:r>
          </a:p>
          <a:p xmlns:a="http://schemas.openxmlformats.org/drawingml/2006/main">
            <a:r>
              <a:t>Sources</a:t>
            </a:r>
          </a:p>
          <a:p xmlns:a="http://schemas.openxmlformats.org/drawingml/2006/main">
            <a:r>
              <a:t>Repository source: example/list/rocq/list.v</a:t>
            </a:r>
          </a:p>
          <a:p xmlns:a="http://schemas.openxmlformats.org/drawingml/2006/main">
            <a:r>
              <a:t>Repository source: example/list/extracted/list.cj</a:t>
            </a:r>
          </a:p>
          <a:p xmlns:a="http://schemas.openxmlformats.org/drawingml/2006/main">
            <a:r>
              <a:t>Repository source: paper/cjr-tutorial.tex: A linked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local measurements, recorded 2026-10-12 and preserved during repository relocation. Compare extracted CJR tagged singly linked nodes against std.collection.LinkedList, whose representation differs. Traversal sums all elements. Build-and-scan constructs a list and then sums it, with allocation and garbage collection included. Values are nanoseconds per element, not total time per traversal. Each point is the median of 21 observations from three processes and seven trials. Full Q1/Q3 values are copied below. Different representations and guarantees prevent attributing the ratios solely to proof extraction.</a:t>
            </a:r>
          </a:p>
          <a:p xmlns:a="http://schemas.openxmlformats.org/drawingml/2006/main">
            <a:r>
              <a:t/>
            </a:r>
          </a:p>
          <a:p xmlns:a="http://schemas.openxmlformats.org/drawingml/2006/main">
            <a:r>
              <a:t>Sources</a:t>
            </a:r>
          </a:p>
          <a:p xmlns:a="http://schemas.openxmlformats.org/drawingml/2006/main">
            <a:r>
              <a:t>Repository source: example/list/benchmark/list_bench.cj</a:t>
            </a:r>
          </a:p>
          <a:p xmlns:a="http://schemas.openxmlformats.org/drawingml/2006/main">
            <a:r>
              <a:t>Repository source: example/list/benchmark/results/summary.json</a:t>
            </a:r>
          </a:p>
          <a:p xmlns:a="http://schemas.openxmlformats.org/drawingml/2006/main">
            <a:r>
              <a:t>Repository source: example/list/benchmark/results/metadata.json</a:t>
            </a:r>
          </a:p>
          <a:p xmlns:a="http://schemas.openxmlformats.org/drawingml/2006/main">
            <a:r>
              <a:t/>
            </a:r>
          </a:p>
          <a:p xmlns:a="http://schemas.openxmlformats.org/drawingml/2006/main">
            <a:r>
              <a:t>Benchmark evidence (unrounded)</a:t>
            </a:r>
          </a:p>
          <a:p xmlns:a="http://schemas.openxmlformats.org/drawingml/2006/main">
            <a:r>
              <a:t>[</a:t>
            </a:r>
          </a:p>
          <a:p xmlns:a="http://schemas.openxmlformats.org/drawingml/2006/main">
            <a:r>
              <a:t>  {</a:t>
            </a:r>
          </a:p>
          <a:p xmlns:a="http://schemas.openxmlformats.org/drawingml/2006/main">
            <a:r>
              <a:t>    "case": "list_build_scan",</a:t>
            </a:r>
          </a:p>
          <a:p xmlns:a="http://schemas.openxmlformats.org/drawingml/2006/main">
            <a:r>
              <a:t>    "implementation": "CJR",</a:t>
            </a:r>
          </a:p>
          <a:p xmlns:a="http://schemas.openxmlformats.org/drawingml/2006/main">
            <a:r>
              <a:t>    "iqr_ns": 1.10626220703125,</a:t>
            </a:r>
          </a:p>
          <a:p xmlns:a="http://schemas.openxmlformats.org/drawingml/2006/main">
            <a:r>
              <a:t>    "median_ns": 4.78363037109375,</a:t>
            </a:r>
          </a:p>
          <a:p xmlns:a="http://schemas.openxmlformats.org/drawingml/2006/main">
            <a:r>
              <a:t>    "n": 16384,</a:t>
            </a:r>
          </a:p>
          <a:p xmlns:a="http://schemas.openxmlformats.org/drawingml/2006/main">
            <a:r>
              <a:t>    "q1_ns": 3.940582275390625,</a:t>
            </a:r>
          </a:p>
          <a:p xmlns:a="http://schemas.openxmlformats.org/drawingml/2006/main">
            <a:r>
              <a:t>    "q3_ns": 5.046844482421875,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"list_build_scan",</a:t>
            </a:r>
          </a:p>
          <a:p xmlns:a="http://schemas.openxmlformats.org/drawingml/2006/main">
            <a:r>
              <a:t>    "implementation": "Std",</a:t>
            </a:r>
          </a:p>
          <a:p xmlns:a="http://schemas.openxmlformats.org/drawingml/2006/main">
            <a:r>
              <a:t>    "iqr_ns": 2.056121826171875,</a:t>
            </a:r>
          </a:p>
          <a:p xmlns:a="http://schemas.openxmlformats.org/drawingml/2006/main">
            <a:r>
              <a:t>    "median_ns": 15.789031982421875,</a:t>
            </a:r>
          </a:p>
          <a:p xmlns:a="http://schemas.openxmlformats.org/drawingml/2006/main">
            <a:r>
              <a:t>    "n": 16384,</a:t>
            </a:r>
          </a:p>
          <a:p xmlns:a="http://schemas.openxmlformats.org/drawingml/2006/main">
            <a:r>
              <a:t>    "q1_ns": 14.2669677734375,</a:t>
            </a:r>
          </a:p>
          <a:p xmlns:a="http://schemas.openxmlformats.org/drawingml/2006/main">
            <a:r>
              <a:t>    "q3_ns": 16.323089599609375,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"list_build_scan",</a:t>
            </a:r>
          </a:p>
          <a:p xmlns:a="http://schemas.openxmlformats.org/drawingml/2006/main">
            <a:r>
              <a:t>    "implementation": "CJR",</a:t>
            </a:r>
          </a:p>
          <a:p xmlns:a="http://schemas.openxmlformats.org/drawingml/2006/main">
            <a:r>
              <a:t>    "iqr_ns": 0.1983642578125,</a:t>
            </a:r>
          </a:p>
          <a:p xmlns:a="http://schemas.openxmlformats.org/drawingml/2006/main">
            <a:r>
              <a:t>    "median_ns": 4.5166015625,</a:t>
            </a:r>
          </a:p>
          <a:p xmlns:a="http://schemas.openxmlformats.org/drawingml/2006/main">
            <a:r>
              <a:t>    "n": 256,</a:t>
            </a:r>
          </a:p>
          <a:p xmlns:a="http://schemas.openxmlformats.org/drawingml/2006/main">
            <a:r>
              <a:t>    "q1_ns": 4.4403076171875,</a:t>
            </a:r>
          </a:p>
          <a:p xmlns:a="http://schemas.openxmlformats.org/drawingml/2006/main">
            <a:r>
              <a:t>    "q3_ns": 4.638671875,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"list_build_scan",</a:t>
            </a:r>
          </a:p>
          <a:p xmlns:a="http://schemas.openxmlformats.org/drawingml/2006/main">
            <a:r>
              <a:t>    "implementation": "Std",</a:t>
            </a:r>
          </a:p>
          <a:p xmlns:a="http://schemas.openxmlformats.org/drawingml/2006/main">
            <a:r>
              <a:t>    "iqr_ns": 0.522613525390625,</a:t>
            </a:r>
          </a:p>
          <a:p xmlns:a="http://schemas.openxmlformats.org/drawingml/2006/main">
            <a:r>
              <a:t>    "median_ns": 15.70892333984375,</a:t>
            </a:r>
          </a:p>
          <a:p xmlns:a="http://schemas.openxmlformats.org/drawingml/2006/main">
            <a:r>
              <a:t>    "n": 256,</a:t>
            </a:r>
          </a:p>
          <a:p xmlns:a="http://schemas.openxmlformats.org/drawingml/2006/main">
            <a:r>
              <a:t>    "q1_ns": 15.476226806640625,</a:t>
            </a:r>
          </a:p>
          <a:p xmlns:a="http://schemas.openxmlformats.org/drawingml/2006/main">
            <a:r>
              <a:t>    "q3_ns": 15.99884033203125,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"list_build_scan",</a:t>
            </a:r>
          </a:p>
          <a:p xmlns:a="http://schemas.openxmlformats.org/drawingml/2006/main">
            <a:r>
              <a:t>    "implementation": "CJR",</a:t>
            </a:r>
          </a:p>
          <a:p xmlns:a="http://schemas.openxmlformats.org/drawingml/2006/main">
            <a:r>
              <a:t>    "iqr_ns": 0.194549560546875,</a:t>
            </a:r>
          </a:p>
          <a:p xmlns:a="http://schemas.openxmlformats.org/drawingml/2006/main">
            <a:r>
              <a:t>    "median_ns": 4.680633544921875,</a:t>
            </a:r>
          </a:p>
          <a:p xmlns:a="http://schemas.openxmlformats.org/drawingml/2006/main">
            <a:r>
              <a:t>    "n": 4096,</a:t>
            </a:r>
          </a:p>
          <a:p xmlns:a="http://schemas.openxmlformats.org/drawingml/2006/main">
            <a:r>
              <a:t>    "q1_ns": 4.596710205078125,</a:t>
            </a:r>
          </a:p>
          <a:p xmlns:a="http://schemas.openxmlformats.org/drawingml/2006/main">
            <a:r>
              <a:t>    "q3_ns": 4.791259765625,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"list_build_scan",</a:t>
            </a:r>
          </a:p>
          <a:p xmlns:a="http://schemas.openxmlformats.org/drawingml/2006/main">
            <a:r>
              <a:t>    "implementation": "Std",</a:t>
            </a:r>
          </a:p>
          <a:p xmlns:a="http://schemas.openxmlformats.org/drawingml/2006/main">
            <a:r>
              <a:t>    "iqr_ns": 0.3814697265625,</a:t>
            </a:r>
          </a:p>
          <a:p xmlns:a="http://schemas.openxmlformats.org/drawingml/2006/main">
            <a:r>
              <a:t>    "median_ns": 16.048431396484375,</a:t>
            </a:r>
          </a:p>
          <a:p xmlns:a="http://schemas.openxmlformats.org/drawingml/2006/main">
            <a:r>
              <a:t>    "n": 4096,</a:t>
            </a:r>
          </a:p>
          <a:p xmlns:a="http://schemas.openxmlformats.org/drawingml/2006/main">
            <a:r>
              <a:t>    "q1_ns": 15.811920166015625,</a:t>
            </a:r>
          </a:p>
          <a:p xmlns:a="http://schemas.openxmlformats.org/drawingml/2006/main">
            <a:r>
              <a:t>    "q3_ns": 16.193389892578125,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"list_traverse",</a:t>
            </a:r>
          </a:p>
          <a:p xmlns:a="http://schemas.openxmlformats.org/drawingml/2006/main">
            <a:r>
              <a:t>    "implementation": "CJR",</a:t>
            </a:r>
          </a:p>
          <a:p xmlns:a="http://schemas.openxmlformats.org/drawingml/2006/main">
            <a:r>
              <a:t>    "iqr_ns": 0.09429454803466797,</a:t>
            </a:r>
          </a:p>
          <a:p xmlns:a="http://schemas.openxmlformats.org/drawingml/2006/main">
            <a:r>
              <a:t>    "median_ns": 1.888871192932129,</a:t>
            </a:r>
          </a:p>
          <a:p xmlns:a="http://schemas.openxmlformats.org/drawingml/2006/main">
            <a:r>
              <a:t>    "n": 16384,</a:t>
            </a:r>
          </a:p>
          <a:p xmlns:a="http://schemas.openxmlformats.org/drawingml/2006/main">
            <a:r>
              <a:t>    "q1_ns": 1.8524527549743652,</a:t>
            </a:r>
          </a:p>
          <a:p xmlns:a="http://schemas.openxmlformats.org/drawingml/2006/main">
            <a:r>
              <a:t>    "q3_ns": 1.9467473030090332,</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"list_traverse",</a:t>
            </a:r>
          </a:p>
          <a:p xmlns:a="http://schemas.openxmlformats.org/drawingml/2006/main">
            <a:r>
              <a:t>    "implementation": "Std",</a:t>
            </a:r>
          </a:p>
          <a:p xmlns:a="http://schemas.openxmlformats.org/drawingml/2006/main">
            <a:r>
              <a:t>    "iqr_ns": 0.03814697265625,</a:t>
            </a:r>
          </a:p>
          <a:p xmlns:a="http://schemas.openxmlformats.org/drawingml/2006/main">
            <a:r>
              <a:t>    "median_ns": 2.2565722465515137,</a:t>
            </a:r>
          </a:p>
          <a:p xmlns:a="http://schemas.openxmlformats.org/drawingml/2006/main">
            <a:r>
              <a:t>    "n": 16384,</a:t>
            </a:r>
          </a:p>
          <a:p xmlns:a="http://schemas.openxmlformats.org/drawingml/2006/main">
            <a:r>
              <a:t>    "q1_ns": 2.2330880165100098,</a:t>
            </a:r>
          </a:p>
          <a:p xmlns:a="http://schemas.openxmlformats.org/drawingml/2006/main">
            <a:r>
              <a:t>    "q3_ns": 2.2712349891662598,</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"list_traverse",</a:t>
            </a:r>
          </a:p>
          <a:p xmlns:a="http://schemas.openxmlformats.org/drawingml/2006/main">
            <a:r>
              <a:t>    "implementation": "CJR",</a:t>
            </a:r>
          </a:p>
          <a:p xmlns:a="http://schemas.openxmlformats.org/drawingml/2006/main">
            <a:r>
              <a:t>    "iqr_ns": 0.04172325134277344,</a:t>
            </a:r>
          </a:p>
          <a:p xmlns:a="http://schemas.openxmlformats.org/drawingml/2006/main">
            <a:r>
              <a:t>    "median_ns": 1.8571019172668457,</a:t>
            </a:r>
          </a:p>
          <a:p xmlns:a="http://schemas.openxmlformats.org/drawingml/2006/main">
            <a:r>
              <a:t>    "n": 256,</a:t>
            </a:r>
          </a:p>
          <a:p xmlns:a="http://schemas.openxmlformats.org/drawingml/2006/main">
            <a:r>
              <a:t>    "q1_ns": 1.8291473388671875,</a:t>
            </a:r>
          </a:p>
          <a:p xmlns:a="http://schemas.openxmlformats.org/drawingml/2006/main">
            <a:r>
              <a:t>    "q3_ns": 1.870870590209961,</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"list_traverse",</a:t>
            </a:r>
          </a:p>
          <a:p xmlns:a="http://schemas.openxmlformats.org/drawingml/2006/main">
            <a:r>
              <a:t>    "implementation": "Std",</a:t>
            </a:r>
          </a:p>
          <a:p xmlns:a="http://schemas.openxmlformats.org/drawingml/2006/main">
            <a:r>
              <a:t>    "iqr_ns": 0.049948692321777344,</a:t>
            </a:r>
          </a:p>
          <a:p xmlns:a="http://schemas.openxmlformats.org/drawingml/2006/main">
            <a:r>
              <a:t>    "median_ns": 2.268493175506592,</a:t>
            </a:r>
          </a:p>
          <a:p xmlns:a="http://schemas.openxmlformats.org/drawingml/2006/main">
            <a:r>
              <a:t>    "n": 256,</a:t>
            </a:r>
          </a:p>
          <a:p xmlns:a="http://schemas.openxmlformats.org/drawingml/2006/main">
            <a:r>
              <a:t>    "q1_ns": 2.228975296020508,</a:t>
            </a:r>
          </a:p>
          <a:p xmlns:a="http://schemas.openxmlformats.org/drawingml/2006/main">
            <a:r>
              <a:t>    "q3_ns": 2.278923988342285,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"list_traverse",</a:t>
            </a:r>
          </a:p>
          <a:p xmlns:a="http://schemas.openxmlformats.org/drawingml/2006/main">
            <a:r>
              <a:t>    "implementation": "CJR",</a:t>
            </a:r>
          </a:p>
          <a:p xmlns:a="http://schemas.openxmlformats.org/drawingml/2006/main">
            <a:r>
              <a:t>    "iqr_ns": 0.06508827209472656,</a:t>
            </a:r>
          </a:p>
          <a:p xmlns:a="http://schemas.openxmlformats.org/drawingml/2006/main">
            <a:r>
              <a:t>    "median_ns": 1.8981099128723145,</a:t>
            </a:r>
          </a:p>
          <a:p xmlns:a="http://schemas.openxmlformats.org/drawingml/2006/main">
            <a:r>
              <a:t>    "n": 4096,</a:t>
            </a:r>
          </a:p>
          <a:p xmlns:a="http://schemas.openxmlformats.org/drawingml/2006/main">
            <a:r>
              <a:t>    "q1_ns": 1.8655657768249512,</a:t>
            </a:r>
          </a:p>
          <a:p xmlns:a="http://schemas.openxmlformats.org/drawingml/2006/main">
            <a:r>
              <a:t>    "q3_ns": 1.9306540489196777,</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"list_traverse",</a:t>
            </a:r>
          </a:p>
          <a:p xmlns:a="http://schemas.openxmlformats.org/drawingml/2006/main">
            <a:r>
              <a:t>    "implementation": "Std",</a:t>
            </a:r>
          </a:p>
          <a:p xmlns:a="http://schemas.openxmlformats.org/drawingml/2006/main">
            <a:r>
              <a:t>    "iqr_ns": 0.06496906280517578,</a:t>
            </a:r>
          </a:p>
          <a:p xmlns:a="http://schemas.openxmlformats.org/drawingml/2006/main">
            <a:r>
              <a:t>    "median_ns": 2.2777318954467773,</a:t>
            </a:r>
          </a:p>
          <a:p xmlns:a="http://schemas.openxmlformats.org/drawingml/2006/main">
            <a:r>
              <a:t>    "n": 4096,</a:t>
            </a:r>
          </a:p>
          <a:p xmlns:a="http://schemas.openxmlformats.org/drawingml/2006/main">
            <a:r>
              <a:t>    "q1_ns": 2.2231340408325195,</a:t>
            </a:r>
          </a:p>
          <a:p xmlns:a="http://schemas.openxmlformats.org/drawingml/2006/main">
            <a:r>
              <a:t>    "q3_ns": 2.2881031036376953,</a:t>
            </a:r>
          </a:p>
          <a:p xmlns:a="http://schemas.openxmlformats.org/drawingml/2006/main">
            <a:r>
              <a:t>    "samples": 21</a:t>
            </a:r>
          </a:p>
          <a:p xmlns:a="http://schemas.openxmlformats.org/drawingml/2006/main">
            <a:r>
              <a:t>  }</a:t>
            </a:r>
          </a:p>
          <a:p xmlns:a="http://schemas.openxmlformats.org/drawingml/2006/main">
            <a:r>
              <a:t>]</a:t>
            </a:r>
          </a:p>
          <a:p xmlns:a="http://schemas.openxmlformats.org/drawingml/2006/main">
            <a:r>
              <a:t>Metadata: {"flags":["--test","-O2"],"processes":3,"samples_per_process":7}</a:t>
            </a:r>
          </a:p>
          <a:p xmlns:a="http://schemas.openxmlformats.org/drawingml/2006/main">
            <a:r>
              <a:t>Compiler: Cangjie Compiler: 1.0.5 (cjnative)</a:t>
            </a:r>
          </a:p>
          <a:p xmlns:a="http://schemas.openxmlformats.org/drawingml/2006/main">
            <a:r>
              <a:t>Target: aarch64-apple-darwin</a:t>
            </a:r>
          </a:p>
          <a:p xmlns:a="http://schemas.openxmlformats.org/drawingml/2006/main">
            <a:r>
              <a:t>Machine: {"machine":"arm64","node":"Dans-Mac-mini.local","processor":"arm","release":"25.6.0","system":"Darwin","version":"Darwin Kernel Version 25.6.0: Fri Jul 31 19:11:03 PDT 2026; root:xnu-12377.161.14~5/RELEASE_ARM64_T8132"}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displayed code is the exact loop excerpt from the generated reverse function. The formal rev_inv also owns the stack slots for acc and cur. The equation rev u ++ v = xs is preserved while moving one node from suffix to accumulator. reverse_spec returns is_list (rev xs), and reverse_twice_spec returns is_list xs. Both are partial-correctness contracts. This mutates links rather than copying cons nodes, but each call creates a fresh sentinel. Abstract restoration does not assert pointer identity of the sentinel.</a:t>
            </a:r>
          </a:p>
          <a:p xmlns:a="http://schemas.openxmlformats.org/drawingml/2006/main">
            <a:r>
              <a:t/>
            </a:r>
          </a:p>
          <a:p xmlns:a="http://schemas.openxmlformats.org/drawingml/2006/main">
            <a:r>
              <a:t>Sources</a:t>
            </a:r>
          </a:p>
          <a:p xmlns:a="http://schemas.openxmlformats.org/drawingml/2006/main">
            <a:r>
              <a:t>Repository source: example/list_rev/rocq/list_rev.v</a:t>
            </a:r>
          </a:p>
          <a:p xmlns:a="http://schemas.openxmlformats.org/drawingml/2006/main">
            <a:r>
              <a:t>Repository source: example/list_rev/extracted/list_rev.cj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local reversal benchmark. Both implementations use tagged singly linked nodes and allocate one sentinel on each reversal. The native baseline is independently written and accesses its optional links directly; CJR uses the generated Node property bridge. Prebuilt lists keep construction outside timing. A work batch reverses twice, reading each resulting head to produce a checksum, then divides time by the number of full reversals. Validation checks complete sequences before timing and after samples, including empty, singleton, duplicates, negative values and all measured sizes. Two warmup batches, calibration toward 20 ms, three processes and seven trials per process. Trial-plus-process parity rotates order. Report median and IQR. GC, sentinel allocation and checksum overhead remain part of timing. These timings are observations, not a complexity theorem.</a:t>
            </a:r>
          </a:p>
          <a:p xmlns:a="http://schemas.openxmlformats.org/drawingml/2006/main">
            <a:r>
              <a:t/>
            </a:r>
          </a:p>
          <a:p xmlns:a="http://schemas.openxmlformats.org/drawingml/2006/main">
            <a:r>
              <a:t>Sources</a:t>
            </a:r>
          </a:p>
          <a:p xmlns:a="http://schemas.openxmlformats.org/drawingml/2006/main">
            <a:r>
              <a:t>Repository source: example/list_rev/benchmark/list_rev_bench.cj</a:t>
            </a:r>
          </a:p>
          <a:p xmlns:a="http://schemas.openxmlformats.org/drawingml/2006/main">
            <a:r>
              <a:t>Repository source: example/list_rev/benchmark/benchmark.config.json</a:t>
            </a:r>
          </a:p>
          <a:p xmlns:a="http://schemas.openxmlformats.org/drawingml/2006/main">
            <a:r>
              <a:t>Repository source: example/list_rev/benchmark/results/summary.json</a:t>
            </a:r>
          </a:p>
          <a:p xmlns:a="http://schemas.openxmlformats.org/drawingml/2006/main">
            <a:r>
              <a:t>Repository source: example/list_rev/benchmark/results/metadata.json</a:t>
            </a:r>
          </a:p>
          <a:p xmlns:a="http://schemas.openxmlformats.org/drawingml/2006/main">
            <a:r>
              <a:t/>
            </a:r>
          </a:p>
          <a:p xmlns:a="http://schemas.openxmlformats.org/drawingml/2006/main">
            <a:r>
              <a:t>Benchmark evidence (unrounded)</a:t>
            </a:r>
          </a:p>
          <a:p xmlns:a="http://schemas.openxmlformats.org/drawingml/2006/main">
            <a:r>
              <a:t>[</a:t>
            </a:r>
          </a:p>
          <a:p xmlns:a="http://schemas.openxmlformats.org/drawingml/2006/main">
            <a:r>
              <a:t>  {</a:t>
            </a:r>
          </a:p>
          <a:p xmlns:a="http://schemas.openxmlformats.org/drawingml/2006/main">
            <a:r>
              <a:t>    "case": "list_reverse",</a:t>
            </a:r>
          </a:p>
          <a:p xmlns:a="http://schemas.openxmlformats.org/drawingml/2006/main">
            <a:r>
              <a:t>    "implementation": "CJR",</a:t>
            </a:r>
          </a:p>
          <a:p xmlns:a="http://schemas.openxmlformats.org/drawingml/2006/main">
            <a:r>
              <a:t>    "iqr_ns": 767.578125,</a:t>
            </a:r>
          </a:p>
          <a:p xmlns:a="http://schemas.openxmlformats.org/drawingml/2006/main">
            <a:r>
              <a:t>    "median_ns": 28451.171875,</a:t>
            </a:r>
          </a:p>
          <a:p xmlns:a="http://schemas.openxmlformats.org/drawingml/2006/main">
            <a:r>
              <a:t>    "n": 16384,</a:t>
            </a:r>
          </a:p>
          <a:p xmlns:a="http://schemas.openxmlformats.org/drawingml/2006/main">
            <a:r>
              <a:t>    "q1_ns": 28113.28125,</a:t>
            </a:r>
          </a:p>
          <a:p xmlns:a="http://schemas.openxmlformats.org/drawingml/2006/main">
            <a:r>
              <a:t>    "q3_ns": 28880.859375,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"list_reverse",</a:t>
            </a:r>
          </a:p>
          <a:p xmlns:a="http://schemas.openxmlformats.org/drawingml/2006/main">
            <a:r>
              <a:t>    "implementation": "Native",</a:t>
            </a:r>
          </a:p>
          <a:p xmlns:a="http://schemas.openxmlformats.org/drawingml/2006/main">
            <a:r>
              <a:t>    "iqr_ns": 539.0625,</a:t>
            </a:r>
          </a:p>
          <a:p xmlns:a="http://schemas.openxmlformats.org/drawingml/2006/main">
            <a:r>
              <a:t>    "median_ns": 18202.1484375,</a:t>
            </a:r>
          </a:p>
          <a:p xmlns:a="http://schemas.openxmlformats.org/drawingml/2006/main">
            <a:r>
              <a:t>    "n": 16384,</a:t>
            </a:r>
          </a:p>
          <a:p xmlns:a="http://schemas.openxmlformats.org/drawingml/2006/main">
            <a:r>
              <a:t>    "q1_ns": 17997.0703125,</a:t>
            </a:r>
          </a:p>
          <a:p xmlns:a="http://schemas.openxmlformats.org/drawingml/2006/main">
            <a:r>
              <a:t>    "q3_ns": 18536.1328125,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"list_reverse",</a:t>
            </a:r>
          </a:p>
          <a:p xmlns:a="http://schemas.openxmlformats.org/drawingml/2006/main">
            <a:r>
              <a:t>    "implementation": "CJR",</a:t>
            </a:r>
          </a:p>
          <a:p xmlns:a="http://schemas.openxmlformats.org/drawingml/2006/main">
            <a:r>
              <a:t>    "iqr_ns": 5.7525634765625,</a:t>
            </a:r>
          </a:p>
          <a:p xmlns:a="http://schemas.openxmlformats.org/drawingml/2006/main">
            <a:r>
              <a:t>    "median_ns": 443.7103271484375,</a:t>
            </a:r>
          </a:p>
          <a:p xmlns:a="http://schemas.openxmlformats.org/drawingml/2006/main">
            <a:r>
              <a:t>    "n": 256,</a:t>
            </a:r>
          </a:p>
          <a:p xmlns:a="http://schemas.openxmlformats.org/drawingml/2006/main">
            <a:r>
              <a:t>    "q1_ns": 442.1539306640625,</a:t>
            </a:r>
          </a:p>
          <a:p xmlns:a="http://schemas.openxmlformats.org/drawingml/2006/main">
            <a:r>
              <a:t>    "q3_ns": 447.906494140625,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"list_reverse",</a:t>
            </a:r>
          </a:p>
          <a:p xmlns:a="http://schemas.openxmlformats.org/drawingml/2006/main">
            <a:r>
              <a:t>    "implementation": "Native",</a:t>
            </a:r>
          </a:p>
          <a:p xmlns:a="http://schemas.openxmlformats.org/drawingml/2006/main">
            <a:r>
              <a:t>    "iqr_ns": 4.41741943359375,</a:t>
            </a:r>
          </a:p>
          <a:p xmlns:a="http://schemas.openxmlformats.org/drawingml/2006/main">
            <a:r>
              <a:t>    "median_ns": 192.92449951171875,</a:t>
            </a:r>
          </a:p>
          <a:p xmlns:a="http://schemas.openxmlformats.org/drawingml/2006/main">
            <a:r>
              <a:t>    "n": 256,</a:t>
            </a:r>
          </a:p>
          <a:p xmlns:a="http://schemas.openxmlformats.org/drawingml/2006/main">
            <a:r>
              <a:t>    "q1_ns": 191.45965576171875,</a:t>
            </a:r>
          </a:p>
          <a:p xmlns:a="http://schemas.openxmlformats.org/drawingml/2006/main">
            <a:r>
              <a:t>    "q3_ns": 195.8770751953125,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"list_reverse",</a:t>
            </a:r>
          </a:p>
          <a:p xmlns:a="http://schemas.openxmlformats.org/drawingml/2006/main">
            <a:r>
              <a:t>    "implementation": "CJR",</a:t>
            </a:r>
          </a:p>
          <a:p xmlns:a="http://schemas.openxmlformats.org/drawingml/2006/main">
            <a:r>
              <a:t>    "iqr_ns": 1111.083984375,</a:t>
            </a:r>
          </a:p>
          <a:p xmlns:a="http://schemas.openxmlformats.org/drawingml/2006/main">
            <a:r>
              <a:t>    "median_ns": 7864.501953125,</a:t>
            </a:r>
          </a:p>
          <a:p xmlns:a="http://schemas.openxmlformats.org/drawingml/2006/main">
            <a:r>
              <a:t>    "n": 4096,</a:t>
            </a:r>
          </a:p>
          <a:p xmlns:a="http://schemas.openxmlformats.org/drawingml/2006/main">
            <a:r>
              <a:t>    "q1_ns": 7696.2890625,</a:t>
            </a:r>
          </a:p>
          <a:p xmlns:a="http://schemas.openxmlformats.org/drawingml/2006/main">
            <a:r>
              <a:t>    "q3_ns": 8807.373046875,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"list_reverse",</a:t>
            </a:r>
          </a:p>
          <a:p xmlns:a="http://schemas.openxmlformats.org/drawingml/2006/main">
            <a:r>
              <a:t>    "implementation": "Native",</a:t>
            </a:r>
          </a:p>
          <a:p xmlns:a="http://schemas.openxmlformats.org/drawingml/2006/main">
            <a:r>
              <a:t>    "iqr_ns": 1028.4423828125,</a:t>
            </a:r>
          </a:p>
          <a:p xmlns:a="http://schemas.openxmlformats.org/drawingml/2006/main">
            <a:r>
              <a:t>    "median_ns": 4318.359375,</a:t>
            </a:r>
          </a:p>
          <a:p xmlns:a="http://schemas.openxmlformats.org/drawingml/2006/main">
            <a:r>
              <a:t>    "n": 4096,</a:t>
            </a:r>
          </a:p>
          <a:p xmlns:a="http://schemas.openxmlformats.org/drawingml/2006/main">
            <a:r>
              <a:t>    "q1_ns": 4230.3466796875,</a:t>
            </a:r>
          </a:p>
          <a:p xmlns:a="http://schemas.openxmlformats.org/drawingml/2006/main">
            <a:r>
              <a:t>    "q3_ns": 5258.7890625,</a:t>
            </a:r>
          </a:p>
          <a:p xmlns:a="http://schemas.openxmlformats.org/drawingml/2006/main">
            <a:r>
              <a:t>    "samples": 21</a:t>
            </a:r>
          </a:p>
          <a:p xmlns:a="http://schemas.openxmlformats.org/drawingml/2006/main">
            <a:r>
              <a:t>  }</a:t>
            </a:r>
          </a:p>
          <a:p xmlns:a="http://schemas.openxmlformats.org/drawingml/2006/main">
            <a:r>
              <a:t>]</a:t>
            </a:r>
          </a:p>
          <a:p xmlns:a="http://schemas.openxmlformats.org/drawingml/2006/main">
            <a:r>
              <a:t>Protocol: {"calibration_target_ns":20000000,"flags":["--test","-O2"],"order":"(trial + process) parity","processes":3,"samples_per_process":7,"timed_work":"two reversals per batch on prebuilt list, endpoint checksum, sentinel allocation included","unit":"ns per full reversal","validation":"full sequences before timing and after samples; empty, singleton, duplicates, negative values and all measured sizes","warmup_batches":2}</a:t>
            </a:r>
          </a:p>
          <a:p xmlns:a="http://schemas.openxmlformats.org/drawingml/2006/main">
            <a:r>
              <a:t>Compiler: Cangjie Compiler: 1.0.5 (cjnative)</a:t>
            </a:r>
          </a:p>
          <a:p xmlns:a="http://schemas.openxmlformats.org/drawingml/2006/main">
            <a:r>
              <a:t>Target: aarch64-apple-darwin</a:t>
            </a:r>
          </a:p>
          <a:p xmlns:a="http://schemas.openxmlformats.org/drawingml/2006/main">
            <a:r>
              <a:t>Machine: {"machine":"arm64","node":"Dans-Mac-mini.local","processor":"arm","release":"25.6.0","system":"Darwin","version":"Darwin Kernel Version 25.6.0: Fri Jul 31 19:11:03 PDT 2026; root:xnu-12377.161.14~5/RELEASE_ARM64_T8132"}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hash map uses integer keys and values. Dedicated iterative lookup has contracts connected to the same pure probe and map representation. Remainder normalization matters for negative keys and wrapped indexes. Rehash correctness requires insertion over the old live entries, not merely allocation. The extracted grow routine does not honour its minimum-capacity argument in the general way the name might suggest; discuss only the actual proved behaviour. Avoid claiming arbitrary user hash functions or library-equivalent guarantees.</a:t>
            </a:r>
          </a:p>
          <a:p xmlns:a="http://schemas.openxmlformats.org/drawingml/2006/main">
            <a:r>
              <a:t/>
            </a:r>
          </a:p>
          <a:p xmlns:a="http://schemas.openxmlformats.org/drawingml/2006/main">
            <a:r>
              <a:t>Sources</a:t>
            </a:r>
          </a:p>
          <a:p xmlns:a="http://schemas.openxmlformats.org/drawingml/2006/main">
            <a:r>
              <a:t>Repository source: example/hash_map/rocq/hash_map.v</a:t>
            </a:r>
          </a:p>
          <a:p xmlns:a="http://schemas.openxmlformats.org/drawingml/2006/main">
            <a:r>
              <a:t>Repository source: example/hash_map/extracted/hash_map.cj</a:t>
            </a:r>
          </a:p>
          <a:p xmlns:a="http://schemas.openxmlformats.org/drawingml/2006/main">
            <a:r>
              <a:t>Repository source: paper/cjr-tutorial.tex: Hash maps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measurements, recorded 2026-10-12. Baseline is std.collection.HashMap&lt;Int64, Int64&gt;. Separate regular hit/miss results at n=16384 from the deliberately colliding hit workload at n=4096. Keys in the collision case follow the benchmark’s stride to exercise long probe chains. Values are nanoseconds per lookup. The collision case is not on the same chart scale as the regular lookups. Each median uses 21 observations. Benchmarks compare implementations with different algorithms and representations, and do not establish the cause of the performance difference.</a:t>
            </a:r>
          </a:p>
          <a:p xmlns:a="http://schemas.openxmlformats.org/drawingml/2006/main">
            <a:r>
              <a:t/>
            </a:r>
          </a:p>
          <a:p xmlns:a="http://schemas.openxmlformats.org/drawingml/2006/main">
            <a:r>
              <a:t>Sources</a:t>
            </a:r>
          </a:p>
          <a:p xmlns:a="http://schemas.openxmlformats.org/drawingml/2006/main">
            <a:r>
              <a:t>Repository source: example/hash_map/benchmark/hash_map_bench.cj</a:t>
            </a:r>
          </a:p>
          <a:p xmlns:a="http://schemas.openxmlformats.org/drawingml/2006/main">
            <a:r>
              <a:t>Repository source: example/hash_map/benchmark/results/summary.json</a:t>
            </a:r>
          </a:p>
          <a:p xmlns:a="http://schemas.openxmlformats.org/drawingml/2006/main">
            <a:r>
              <a:t>Repository source: example/hash_map/benchmark/results/metadata.json</a:t>
            </a:r>
          </a:p>
          <a:p xmlns:a="http://schemas.openxmlformats.org/drawingml/2006/main">
            <a:r>
              <a:t/>
            </a:r>
          </a:p>
          <a:p xmlns:a="http://schemas.openxmlformats.org/drawingml/2006/main">
            <a:r>
              <a:t>Benchmark evidence (unrounded)</a:t>
            </a:r>
          </a:p>
          <a:p xmlns:a="http://schemas.openxmlformats.org/drawingml/2006/main">
            <a:r>
              <a:t>[</a:t>
            </a:r>
          </a:p>
          <a:p xmlns:a="http://schemas.openxmlformats.org/drawingml/2006/main">
            <a:r>
              <a:t>  {</a:t>
            </a:r>
          </a:p>
          <a:p xmlns:a="http://schemas.openxmlformats.org/drawingml/2006/main">
            <a:r>
              <a:t>    "case": "hashmap_build_scan",</a:t>
            </a:r>
          </a:p>
          <a:p xmlns:a="http://schemas.openxmlformats.org/drawingml/2006/main">
            <a:r>
              <a:t>    "implementation": "CJR",</a:t>
            </a:r>
          </a:p>
          <a:p xmlns:a="http://schemas.openxmlformats.org/drawingml/2006/main">
            <a:r>
              <a:t>    "iqr_ns": 1.28936767578125,</a:t>
            </a:r>
          </a:p>
          <a:p xmlns:a="http://schemas.openxmlformats.org/drawingml/2006/main">
            <a:r>
              <a:t>    "median_ns": 29.956817626953125,</a:t>
            </a:r>
          </a:p>
          <a:p xmlns:a="http://schemas.openxmlformats.org/drawingml/2006/main">
            <a:r>
              <a:t>    "n": 16384,</a:t>
            </a:r>
          </a:p>
          <a:p xmlns:a="http://schemas.openxmlformats.org/drawingml/2006/main">
            <a:r>
              <a:t>    "q1_ns": 29.4189453125,</a:t>
            </a:r>
          </a:p>
          <a:p xmlns:a="http://schemas.openxmlformats.org/drawingml/2006/main">
            <a:r>
              <a:t>    "q3_ns": 30.70831298828125,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"hashmap_build_scan",</a:t>
            </a:r>
          </a:p>
          <a:p xmlns:a="http://schemas.openxmlformats.org/drawingml/2006/main">
            <a:r>
              <a:t>    "implementation": "Std",</a:t>
            </a:r>
          </a:p>
          <a:p xmlns:a="http://schemas.openxmlformats.org/drawingml/2006/main">
            <a:r>
              <a:t>    "iqr_ns": 6.43157958984375,</a:t>
            </a:r>
          </a:p>
          <a:p xmlns:a="http://schemas.openxmlformats.org/drawingml/2006/main">
            <a:r>
              <a:t>    "median_ns": 21.297454833984375,</a:t>
            </a:r>
          </a:p>
          <a:p xmlns:a="http://schemas.openxmlformats.org/drawingml/2006/main">
            <a:r>
              <a:t>    "n": 16384,</a:t>
            </a:r>
          </a:p>
          <a:p xmlns:a="http://schemas.openxmlformats.org/drawingml/2006/main">
            <a:r>
              <a:t>    "q1_ns": 19.893646240234375,</a:t>
            </a:r>
          </a:p>
          <a:p xmlns:a="http://schemas.openxmlformats.org/drawingml/2006/main">
            <a:r>
              <a:t>    "q3_ns": 26.325225830078125,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"hashmap_build_scan",</a:t>
            </a:r>
          </a:p>
          <a:p xmlns:a="http://schemas.openxmlformats.org/drawingml/2006/main">
            <a:r>
              <a:t>    "implementation": "CJR",</a:t>
            </a:r>
          </a:p>
          <a:p xmlns:a="http://schemas.openxmlformats.org/drawingml/2006/main">
            <a:r>
              <a:t>    "iqr_ns": 1.3275146484375,</a:t>
            </a:r>
          </a:p>
          <a:p xmlns:a="http://schemas.openxmlformats.org/drawingml/2006/main">
            <a:r>
              <a:t>    "median_ns": 31.734466552734375,</a:t>
            </a:r>
          </a:p>
          <a:p xmlns:a="http://schemas.openxmlformats.org/drawingml/2006/main">
            <a:r>
              <a:t>    "n": 256,</a:t>
            </a:r>
          </a:p>
          <a:p xmlns:a="http://schemas.openxmlformats.org/drawingml/2006/main">
            <a:r>
              <a:t>    "q1_ns": 31.08978271484375,</a:t>
            </a:r>
          </a:p>
          <a:p xmlns:a="http://schemas.openxmlformats.org/drawingml/2006/main">
            <a:r>
              <a:t>    "q3_ns": 32.41729736328125,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"hashmap_build_scan",</a:t>
            </a:r>
          </a:p>
          <a:p xmlns:a="http://schemas.openxmlformats.org/drawingml/2006/main">
            <a:r>
              <a:t>    "implementation": "Std",</a:t>
            </a:r>
          </a:p>
          <a:p xmlns:a="http://schemas.openxmlformats.org/drawingml/2006/main">
            <a:r>
              <a:t>    "iqr_ns": 2.08282470703125,</a:t>
            </a:r>
          </a:p>
          <a:p xmlns:a="http://schemas.openxmlformats.org/drawingml/2006/main">
            <a:r>
              <a:t>    "median_ns": 18.402099609375,</a:t>
            </a:r>
          </a:p>
          <a:p xmlns:a="http://schemas.openxmlformats.org/drawingml/2006/main">
            <a:r>
              <a:t>    "n": 256,</a:t>
            </a:r>
          </a:p>
          <a:p xmlns:a="http://schemas.openxmlformats.org/drawingml/2006/main">
            <a:r>
              <a:t>    "q1_ns": 18.054962158203125,</a:t>
            </a:r>
          </a:p>
          <a:p xmlns:a="http://schemas.openxmlformats.org/drawingml/2006/main">
            <a:r>
              <a:t>    "q3_ns": 20.137786865234375,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"hashmap_build_scan",</a:t>
            </a:r>
          </a:p>
          <a:p xmlns:a="http://schemas.openxmlformats.org/drawingml/2006/main">
            <a:r>
              <a:t>    "implementation": "CJR",</a:t>
            </a:r>
          </a:p>
          <a:p xmlns:a="http://schemas.openxmlformats.org/drawingml/2006/main">
            <a:r>
              <a:t>    "iqr_ns": 1.300811767578125,</a:t>
            </a:r>
          </a:p>
          <a:p xmlns:a="http://schemas.openxmlformats.org/drawingml/2006/main">
            <a:r>
              <a:t>    "median_ns": 31.261444091796875,</a:t>
            </a:r>
          </a:p>
          <a:p xmlns:a="http://schemas.openxmlformats.org/drawingml/2006/main">
            <a:r>
              <a:t>    "n": 4096,</a:t>
            </a:r>
          </a:p>
          <a:p xmlns:a="http://schemas.openxmlformats.org/drawingml/2006/main">
            <a:r>
              <a:t>    "q1_ns": 30.63201904296875,</a:t>
            </a:r>
          </a:p>
          <a:p xmlns:a="http://schemas.openxmlformats.org/drawingml/2006/main">
            <a:r>
              <a:t>    "q3_ns": 31.932830810546875,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"hashmap_build_scan",</a:t>
            </a:r>
          </a:p>
          <a:p xmlns:a="http://schemas.openxmlformats.org/drawingml/2006/main">
            <a:r>
              <a:t>    "implementation": "Std",</a:t>
            </a:r>
          </a:p>
          <a:p xmlns:a="http://schemas.openxmlformats.org/drawingml/2006/main">
            <a:r>
              <a:t>    "iqr_ns": 2.49481201171875,</a:t>
            </a:r>
          </a:p>
          <a:p xmlns:a="http://schemas.openxmlformats.org/drawingml/2006/main">
            <a:r>
              <a:t>    "median_ns": 19.779205322265625,</a:t>
            </a:r>
          </a:p>
          <a:p xmlns:a="http://schemas.openxmlformats.org/drawingml/2006/main">
            <a:r>
              <a:t>    "n": 4096,</a:t>
            </a:r>
          </a:p>
          <a:p xmlns:a="http://schemas.openxmlformats.org/drawingml/2006/main">
            <a:r>
              <a:t>    "q1_ns": 18.894195556640625,</a:t>
            </a:r>
          </a:p>
          <a:p xmlns:a="http://schemas.openxmlformats.org/drawingml/2006/main">
            <a:r>
              <a:t>    "q3_ns": 21.389007568359375,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"hashmap_collision",</a:t>
            </a:r>
          </a:p>
          <a:p xmlns:a="http://schemas.openxmlformats.org/drawingml/2006/main">
            <a:r>
              <a:t>    "implementation": "CJR",</a:t>
            </a:r>
          </a:p>
          <a:p xmlns:a="http://schemas.openxmlformats.org/drawingml/2006/main">
            <a:r>
              <a:t>    "iqr_ns": 11.810302734375,</a:t>
            </a:r>
          </a:p>
          <a:p xmlns:a="http://schemas.openxmlformats.org/drawingml/2006/main">
            <a:r>
              <a:t>    "median_ns": 906.463623046875,</a:t>
            </a:r>
          </a:p>
          <a:p xmlns:a="http://schemas.openxmlformats.org/drawingml/2006/main">
            <a:r>
              <a:t>    "n": 1024,</a:t>
            </a:r>
          </a:p>
          <a:p xmlns:a="http://schemas.openxmlformats.org/drawingml/2006/main">
            <a:r>
              <a:t>    "q1_ns": 899.261474609375,</a:t>
            </a:r>
          </a:p>
          <a:p xmlns:a="http://schemas.openxmlformats.org/drawingml/2006/main">
            <a:r>
              <a:t>    "q3_ns": 911.07177734375,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"hashmap_collision",</a:t>
            </a:r>
          </a:p>
          <a:p xmlns:a="http://schemas.openxmlformats.org/drawingml/2006/main">
            <a:r>
              <a:t>    "implementation": "Std",</a:t>
            </a:r>
          </a:p>
          <a:p xmlns:a="http://schemas.openxmlformats.org/drawingml/2006/main">
            <a:r>
              <a:t>    "iqr_ns": 2.9144287109375,</a:t>
            </a:r>
          </a:p>
          <a:p xmlns:a="http://schemas.openxmlformats.org/drawingml/2006/main">
            <a:r>
              <a:t>    "median_ns": 276.5960693359375,</a:t>
            </a:r>
          </a:p>
          <a:p xmlns:a="http://schemas.openxmlformats.org/drawingml/2006/main">
            <a:r>
              <a:t>    "n": 1024,</a:t>
            </a:r>
          </a:p>
          <a:p xmlns:a="http://schemas.openxmlformats.org/drawingml/2006/main">
            <a:r>
              <a:t>    "q1_ns": 274.86419677734375,</a:t>
            </a:r>
          </a:p>
          <a:p xmlns:a="http://schemas.openxmlformats.org/drawingml/2006/main">
            <a:r>
              <a:t>    "q3_ns": 277.77862548828125,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"hashmap_collision",</a:t>
            </a:r>
          </a:p>
          <a:p xmlns:a="http://schemas.openxmlformats.org/drawingml/2006/main">
            <a:r>
              <a:t>    "implementation": "CJR",</a:t>
            </a:r>
          </a:p>
          <a:p xmlns:a="http://schemas.openxmlformats.org/drawingml/2006/main">
            <a:r>
              <a:t>    "iqr_ns": 14.3280029296875,</a:t>
            </a:r>
          </a:p>
          <a:p xmlns:a="http://schemas.openxmlformats.org/drawingml/2006/main">
            <a:r>
              <a:t>    "median_ns": 234.0545654296875,</a:t>
            </a:r>
          </a:p>
          <a:p xmlns:a="http://schemas.openxmlformats.org/drawingml/2006/main">
            <a:r>
              <a:t>    "n": 256,</a:t>
            </a:r>
          </a:p>
          <a:p xmlns:a="http://schemas.openxmlformats.org/drawingml/2006/main">
            <a:r>
              <a:t>    "q1_ns": 228.59954833984375,</a:t>
            </a:r>
          </a:p>
          <a:p xmlns:a="http://schemas.openxmlformats.org/drawingml/2006/main">
            <a:r>
              <a:t>    "q3_ns": 242.92755126953125,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"hashmap_collision",</a:t>
            </a:r>
          </a:p>
          <a:p xmlns:a="http://schemas.openxmlformats.org/drawingml/2006/main">
            <a:r>
              <a:t>    "implementation": "Std",</a:t>
            </a:r>
          </a:p>
          <a:p xmlns:a="http://schemas.openxmlformats.org/drawingml/2006/main">
            <a:r>
              <a:t>    "iqr_ns": 2.838134765625,</a:t>
            </a:r>
          </a:p>
          <a:p xmlns:a="http://schemas.openxmlformats.org/drawingml/2006/main">
            <a:r>
              <a:t>    "median_ns": 104.583740234375,</a:t>
            </a:r>
          </a:p>
          <a:p xmlns:a="http://schemas.openxmlformats.org/drawingml/2006/main">
            <a:r>
              <a:t>    "n": 256,</a:t>
            </a:r>
          </a:p>
          <a:p xmlns:a="http://schemas.openxmlformats.org/drawingml/2006/main">
            <a:r>
              <a:t>    "q1_ns": 103.46603393554688,</a:t>
            </a:r>
          </a:p>
          <a:p xmlns:a="http://schemas.openxmlformats.org/drawingml/2006/main">
            <a:r>
              <a:t>    "q3_ns": 106.30416870117188,</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"hashmap_collision",</a:t>
            </a:r>
          </a:p>
          <a:p xmlns:a="http://schemas.openxmlformats.org/drawingml/2006/main">
            <a:r>
              <a:t>    "implementation": "CJR",</a:t>
            </a:r>
          </a:p>
          <a:p xmlns:a="http://schemas.openxmlformats.org/drawingml/2006/main">
            <a:r>
              <a:t>    "iqr_ns": 52.8564453125,</a:t>
            </a:r>
          </a:p>
          <a:p xmlns:a="http://schemas.openxmlformats.org/drawingml/2006/main">
            <a:r>
              <a:t>    "median_ns": 3617.431640625,</a:t>
            </a:r>
          </a:p>
          <a:p xmlns:a="http://schemas.openxmlformats.org/drawingml/2006/main">
            <a:r>
              <a:t>    "n": 4096,</a:t>
            </a:r>
          </a:p>
          <a:p xmlns:a="http://schemas.openxmlformats.org/drawingml/2006/main">
            <a:r>
              <a:t>    "q1_ns": 3580.322265625,</a:t>
            </a:r>
          </a:p>
          <a:p xmlns:a="http://schemas.openxmlformats.org/drawingml/2006/main">
            <a:r>
              <a:t>    "q3_ns": 3633.1787109375,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"hashmap_collision",</a:t>
            </a:r>
          </a:p>
          <a:p xmlns:a="http://schemas.openxmlformats.org/drawingml/2006/main">
            <a:r>
              <a:t>    "implementation": "Std",</a:t>
            </a:r>
          </a:p>
          <a:p xmlns:a="http://schemas.openxmlformats.org/drawingml/2006/main">
            <a:r>
              <a:t>    "iqr_ns": 6.927490234375,</a:t>
            </a:r>
          </a:p>
          <a:p xmlns:a="http://schemas.openxmlformats.org/drawingml/2006/main">
            <a:r>
              <a:t>    "median_ns": 1050.96435546875,</a:t>
            </a:r>
          </a:p>
          <a:p xmlns:a="http://schemas.openxmlformats.org/drawingml/2006/main">
            <a:r>
              <a:t>    "n": 4096,</a:t>
            </a:r>
          </a:p>
          <a:p xmlns:a="http://schemas.openxmlformats.org/drawingml/2006/main">
            <a:r>
              <a:t>    "q1_ns": 1046.9970703125,</a:t>
            </a:r>
          </a:p>
          <a:p xmlns:a="http://schemas.openxmlformats.org/drawingml/2006/main">
            <a:r>
              <a:t>    "q3_ns": 1053.924560546875,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"hashmap_hit",</a:t>
            </a:r>
          </a:p>
          <a:p xmlns:a="http://schemas.openxmlformats.org/drawingml/2006/main">
            <a:r>
              <a:t>    "implementation": "CJR",</a:t>
            </a:r>
          </a:p>
          <a:p xmlns:a="http://schemas.openxmlformats.org/drawingml/2006/main">
            <a:r>
              <a:t>    "iqr_ns": 0.4144906997680664,</a:t>
            </a:r>
          </a:p>
          <a:p xmlns:a="http://schemas.openxmlformats.org/drawingml/2006/main">
            <a:r>
              <a:t>    "median_ns": 4.536151885986328,</a:t>
            </a:r>
          </a:p>
          <a:p xmlns:a="http://schemas.openxmlformats.org/drawingml/2006/main">
            <a:r>
              <a:t>    "n": 16384,</a:t>
            </a:r>
          </a:p>
          <a:p xmlns:a="http://schemas.openxmlformats.org/drawingml/2006/main">
            <a:r>
              <a:t>    "q1_ns": 4.296660423278809,</a:t>
            </a:r>
          </a:p>
          <a:p xmlns:a="http://schemas.openxmlformats.org/drawingml/2006/main">
            <a:r>
              <a:t>    "q3_ns": 4.711151123046875,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"hashmap_hit",</a:t>
            </a:r>
          </a:p>
          <a:p xmlns:a="http://schemas.openxmlformats.org/drawingml/2006/main">
            <a:r>
              <a:t>    "implementation": "Std",</a:t>
            </a:r>
          </a:p>
          <a:p xmlns:a="http://schemas.openxmlformats.org/drawingml/2006/main">
            <a:r>
              <a:t>    "iqr_ns": 0.17559528350830078,</a:t>
            </a:r>
          </a:p>
          <a:p xmlns:a="http://schemas.openxmlformats.org/drawingml/2006/main">
            <a:r>
              <a:t>    "median_ns": 2.3863911628723145,</a:t>
            </a:r>
          </a:p>
          <a:p xmlns:a="http://schemas.openxmlformats.org/drawingml/2006/main">
            <a:r>
              <a:t>    "n": 16384,</a:t>
            </a:r>
          </a:p>
          <a:p xmlns:a="http://schemas.openxmlformats.org/drawingml/2006/main">
            <a:r>
              <a:t>    "q1_ns": 2.3610591888427734,</a:t>
            </a:r>
          </a:p>
          <a:p xmlns:a="http://schemas.openxmlformats.org/drawingml/2006/main">
            <a:r>
              <a:t>    "q3_ns": 2.536654472351074,</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"hashmap_hit",</a:t>
            </a:r>
          </a:p>
          <a:p xmlns:a="http://schemas.openxmlformats.org/drawingml/2006/main">
            <a:r>
              <a:t>    "implementation": "CJR",</a:t>
            </a:r>
          </a:p>
          <a:p xmlns:a="http://schemas.openxmlformats.org/drawingml/2006/main">
            <a:r>
              <a:t>    "iqr_ns": 0.2982616424560547,</a:t>
            </a:r>
          </a:p>
          <a:p xmlns:a="http://schemas.openxmlformats.org/drawingml/2006/main">
            <a:r>
              <a:t>    "median_ns": 4.511475563049316,</a:t>
            </a:r>
          </a:p>
          <a:p xmlns:a="http://schemas.openxmlformats.org/drawingml/2006/main">
            <a:r>
              <a:t>    "n": 256,</a:t>
            </a:r>
          </a:p>
          <a:p xmlns:a="http://schemas.openxmlformats.org/drawingml/2006/main">
            <a:r>
              <a:t>    "q1_ns": 4.383683204650879,</a:t>
            </a:r>
          </a:p>
          <a:p xmlns:a="http://schemas.openxmlformats.org/drawingml/2006/main">
            <a:r>
              <a:t>    "q3_ns": 4.681944847106934,</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"hashmap_hit",</a:t>
            </a:r>
          </a:p>
          <a:p xmlns:a="http://schemas.openxmlformats.org/drawingml/2006/main">
            <a:r>
              <a:t>    "implementation": "Std",</a:t>
            </a:r>
          </a:p>
          <a:p xmlns:a="http://schemas.openxmlformats.org/drawingml/2006/main">
            <a:r>
              <a:t>    "iqr_ns": 0.13124942779541016,</a:t>
            </a:r>
          </a:p>
          <a:p xmlns:a="http://schemas.openxmlformats.org/drawingml/2006/main">
            <a:r>
              <a:t>    "median_ns": 2.5397539138793945,</a:t>
            </a:r>
          </a:p>
          <a:p xmlns:a="http://schemas.openxmlformats.org/drawingml/2006/main">
            <a:r>
              <a:t>    "n": 256,</a:t>
            </a:r>
          </a:p>
          <a:p xmlns:a="http://schemas.openxmlformats.org/drawingml/2006/main">
            <a:r>
              <a:t>    "q1_ns": 2.41243839263916,</a:t>
            </a:r>
          </a:p>
          <a:p xmlns:a="http://schemas.openxmlformats.org/drawingml/2006/main">
            <a:r>
              <a:t>    "q3_ns": 2.5436878204345703,</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"hashmap_hit",</a:t>
            </a:r>
          </a:p>
          <a:p xmlns:a="http://schemas.openxmlformats.org/drawingml/2006/main">
            <a:r>
              <a:t>    "implementation": "CJR",</a:t>
            </a:r>
          </a:p>
          <a:p xmlns:a="http://schemas.openxmlformats.org/drawingml/2006/main">
            <a:r>
              <a:t>    "iqr_ns": 0.4063844680786133,</a:t>
            </a:r>
          </a:p>
          <a:p xmlns:a="http://schemas.openxmlformats.org/drawingml/2006/main">
            <a:r>
              <a:t>    "median_ns": 4.542231559753418,</a:t>
            </a:r>
          </a:p>
          <a:p xmlns:a="http://schemas.openxmlformats.org/drawingml/2006/main">
            <a:r>
              <a:t>    "n": 4096,</a:t>
            </a:r>
          </a:p>
          <a:p xmlns:a="http://schemas.openxmlformats.org/drawingml/2006/main">
            <a:r>
              <a:t>    "q1_ns": 4.374504089355469,</a:t>
            </a:r>
          </a:p>
          <a:p xmlns:a="http://schemas.openxmlformats.org/drawingml/2006/main">
            <a:r>
              <a:t>    "q3_ns": 4.780888557434082,</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"hashmap_hit",</a:t>
            </a:r>
          </a:p>
          <a:p xmlns:a="http://schemas.openxmlformats.org/drawingml/2006/main">
            <a:r>
              <a:t>    "implementation": "Std",</a:t>
            </a:r>
          </a:p>
          <a:p xmlns:a="http://schemas.openxmlformats.org/drawingml/2006/main">
            <a:r>
              <a:t>    "iqr_ns": 0.1278519630432129,</a:t>
            </a:r>
          </a:p>
          <a:p xmlns:a="http://schemas.openxmlformats.org/drawingml/2006/main">
            <a:r>
              <a:t>    "median_ns": 2.4579763412475586,</a:t>
            </a:r>
          </a:p>
          <a:p xmlns:a="http://schemas.openxmlformats.org/drawingml/2006/main">
            <a:r>
              <a:t>    "n": 4096,</a:t>
            </a:r>
          </a:p>
          <a:p xmlns:a="http://schemas.openxmlformats.org/drawingml/2006/main">
            <a:r>
              <a:t>    "q1_ns": 2.3944973945617676,</a:t>
            </a:r>
          </a:p>
          <a:p xmlns:a="http://schemas.openxmlformats.org/drawingml/2006/main">
            <a:r>
              <a:t>    "q3_ns": 2.5223493576049805,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"hashmap_miss",</a:t>
            </a:r>
          </a:p>
          <a:p xmlns:a="http://schemas.openxmlformats.org/drawingml/2006/main">
            <a:r>
              <a:t>    "implementation": "CJR",</a:t>
            </a:r>
          </a:p>
          <a:p xmlns:a="http://schemas.openxmlformats.org/drawingml/2006/main">
            <a:r>
              <a:t>    "iqr_ns": 0.2758502960205078,</a:t>
            </a:r>
          </a:p>
          <a:p xmlns:a="http://schemas.openxmlformats.org/drawingml/2006/main">
            <a:r>
              <a:t>    "median_ns": 3.2902956008911133,</a:t>
            </a:r>
          </a:p>
          <a:p xmlns:a="http://schemas.openxmlformats.org/drawingml/2006/main">
            <a:r>
              <a:t>    "n": 16384,</a:t>
            </a:r>
          </a:p>
          <a:p xmlns:a="http://schemas.openxmlformats.org/drawingml/2006/main">
            <a:r>
              <a:t>    "q1_ns": 3.2799243927001953,</a:t>
            </a:r>
          </a:p>
          <a:p xmlns:a="http://schemas.openxmlformats.org/drawingml/2006/main">
            <a:r>
              <a:t>    "q3_ns": 3.555774688720703,</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"hashmap_miss",</a:t>
            </a:r>
          </a:p>
          <a:p xmlns:a="http://schemas.openxmlformats.org/drawingml/2006/main">
            <a:r>
              <a:t>    "implementation": "Std",</a:t>
            </a:r>
          </a:p>
          <a:p xmlns:a="http://schemas.openxmlformats.org/drawingml/2006/main">
            <a:r>
              <a:t>    "iqr_ns": 0.019550323486328125,</a:t>
            </a:r>
          </a:p>
          <a:p xmlns:a="http://schemas.openxmlformats.org/drawingml/2006/main">
            <a:r>
              <a:t>    "median_ns": 1.7522573471069336,</a:t>
            </a:r>
          </a:p>
          <a:p xmlns:a="http://schemas.openxmlformats.org/drawingml/2006/main">
            <a:r>
              <a:t>    "n": 16384,</a:t>
            </a:r>
          </a:p>
          <a:p xmlns:a="http://schemas.openxmlformats.org/drawingml/2006/main">
            <a:r>
              <a:t>    "q1_ns": 1.7403960227966309,</a:t>
            </a:r>
          </a:p>
          <a:p xmlns:a="http://schemas.openxmlformats.org/drawingml/2006/main">
            <a:r>
              <a:t>    "q3_ns": 1.759946346282959,</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"hashmap_miss",</a:t>
            </a:r>
          </a:p>
          <a:p xmlns:a="http://schemas.openxmlformats.org/drawingml/2006/main">
            <a:r>
              <a:t>    "implementation": "CJR",</a:t>
            </a:r>
          </a:p>
          <a:p xmlns:a="http://schemas.openxmlformats.org/drawingml/2006/main">
            <a:r>
              <a:t>    "iqr_ns": 0.19037723541259766,</a:t>
            </a:r>
          </a:p>
          <a:p xmlns:a="http://schemas.openxmlformats.org/drawingml/2006/main">
            <a:r>
              <a:t>    "median_ns": 3.5593509674072266,</a:t>
            </a:r>
          </a:p>
          <a:p xmlns:a="http://schemas.openxmlformats.org/drawingml/2006/main">
            <a:r>
              <a:t>    "n": 256,</a:t>
            </a:r>
          </a:p>
          <a:p xmlns:a="http://schemas.openxmlformats.org/drawingml/2006/main">
            <a:r>
              <a:t>    "q1_ns": 3.4815073013305664,</a:t>
            </a:r>
          </a:p>
          <a:p xmlns:a="http://schemas.openxmlformats.org/drawingml/2006/main">
            <a:r>
              <a:t>    "q3_ns": 3.671884536743164,</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"hashmap_miss",</a:t>
            </a:r>
          </a:p>
          <a:p xmlns:a="http://schemas.openxmlformats.org/drawingml/2006/main">
            <a:r>
              <a:t>    "implementation": "Std",</a:t>
            </a:r>
          </a:p>
          <a:p xmlns:a="http://schemas.openxmlformats.org/drawingml/2006/main">
            <a:r>
              <a:t>    "iqr_ns": 0.020742416381835938,</a:t>
            </a:r>
          </a:p>
          <a:p xmlns:a="http://schemas.openxmlformats.org/drawingml/2006/main">
            <a:r>
              <a:t>    "median_ns": 1.7821192741394043,</a:t>
            </a:r>
          </a:p>
          <a:p xmlns:a="http://schemas.openxmlformats.org/drawingml/2006/main">
            <a:r>
              <a:t>    "n": 256,</a:t>
            </a:r>
          </a:p>
          <a:p xmlns:a="http://schemas.openxmlformats.org/drawingml/2006/main">
            <a:r>
              <a:t>    "q1_ns": 1.7713308334350586,</a:t>
            </a:r>
          </a:p>
          <a:p xmlns:a="http://schemas.openxmlformats.org/drawingml/2006/main">
            <a:r>
              <a:t>    "q3_ns": 1.7920732498168945,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"hashmap_miss",</a:t>
            </a:r>
          </a:p>
          <a:p xmlns:a="http://schemas.openxmlformats.org/drawingml/2006/main">
            <a:r>
              <a:t>    "implementation": "CJR",</a:t>
            </a:r>
          </a:p>
          <a:p xmlns:a="http://schemas.openxmlformats.org/drawingml/2006/main">
            <a:r>
              <a:t>    "iqr_ns": 0.1214742660522461,</a:t>
            </a:r>
          </a:p>
          <a:p xmlns:a="http://schemas.openxmlformats.org/drawingml/2006/main">
            <a:r>
              <a:t>    "median_ns": 3.505706787109375,</a:t>
            </a:r>
          </a:p>
          <a:p xmlns:a="http://schemas.openxmlformats.org/drawingml/2006/main">
            <a:r>
              <a:t>    "n": 4096,</a:t>
            </a:r>
          </a:p>
          <a:p xmlns:a="http://schemas.openxmlformats.org/drawingml/2006/main">
            <a:r>
              <a:t>    "q1_ns": 3.406405448913574,</a:t>
            </a:r>
          </a:p>
          <a:p xmlns:a="http://schemas.openxmlformats.org/drawingml/2006/main">
            <a:r>
              <a:t>    "q3_ns": 3.5278797149658203,</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"hashmap_miss",</a:t>
            </a:r>
          </a:p>
          <a:p xmlns:a="http://schemas.openxmlformats.org/drawingml/2006/main">
            <a:r>
              <a:t>    "implementation": "Std",</a:t>
            </a:r>
          </a:p>
          <a:p xmlns:a="http://schemas.openxmlformats.org/drawingml/2006/main">
            <a:r>
              <a:t>    "iqr_ns": 0.028371810913085938,</a:t>
            </a:r>
          </a:p>
          <a:p xmlns:a="http://schemas.openxmlformats.org/drawingml/2006/main">
            <a:r>
              <a:t>    "median_ns": 1.7431378364562988,</a:t>
            </a:r>
          </a:p>
          <a:p xmlns:a="http://schemas.openxmlformats.org/drawingml/2006/main">
            <a:r>
              <a:t>    "n": 4096,</a:t>
            </a:r>
          </a:p>
          <a:p xmlns:a="http://schemas.openxmlformats.org/drawingml/2006/main">
            <a:r>
              <a:t>    "q1_ns": 1.7334222793579102,</a:t>
            </a:r>
          </a:p>
          <a:p xmlns:a="http://schemas.openxmlformats.org/drawingml/2006/main">
            <a:r>
              <a:t>    "q3_ns": 1.761794090270996,</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"hashmap_wide_key",</a:t>
            </a:r>
          </a:p>
          <a:p xmlns:a="http://schemas.openxmlformats.org/drawingml/2006/main">
            <a:r>
              <a:t>    "implementation": "CJR",</a:t>
            </a:r>
          </a:p>
          <a:p xmlns:a="http://schemas.openxmlformats.org/drawingml/2006/main">
            <a:r>
              <a:t>    "iqr_ns": 0.2548694610595703,</a:t>
            </a:r>
          </a:p>
          <a:p xmlns:a="http://schemas.openxmlformats.org/drawingml/2006/main">
            <a:r>
              <a:t>    "median_ns": 4.5490264892578125,</a:t>
            </a:r>
          </a:p>
          <a:p xmlns:a="http://schemas.openxmlformats.org/drawingml/2006/main">
            <a:r>
              <a:t>    "n": 16384,</a:t>
            </a:r>
          </a:p>
          <a:p xmlns:a="http://schemas.openxmlformats.org/drawingml/2006/main">
            <a:r>
              <a:t>    "q1_ns": 4.443883895874023,</a:t>
            </a:r>
          </a:p>
          <a:p xmlns:a="http://schemas.openxmlformats.org/drawingml/2006/main">
            <a:r>
              <a:t>    "q3_ns": 4.698753356933594,</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"hashmap_wide_key",</a:t>
            </a:r>
          </a:p>
          <a:p xmlns:a="http://schemas.openxmlformats.org/drawingml/2006/main">
            <a:r>
              <a:t>    "implementation": "Std",</a:t>
            </a:r>
          </a:p>
          <a:p xmlns:a="http://schemas.openxmlformats.org/drawingml/2006/main">
            <a:r>
              <a:t>    "iqr_ns": 0.12814998626708984,</a:t>
            </a:r>
          </a:p>
          <a:p xmlns:a="http://schemas.openxmlformats.org/drawingml/2006/main">
            <a:r>
              <a:t>    "median_ns": 2.402186393737793,</a:t>
            </a:r>
          </a:p>
          <a:p xmlns:a="http://schemas.openxmlformats.org/drawingml/2006/main">
            <a:r>
              <a:t>    "n": 16384,</a:t>
            </a:r>
          </a:p>
          <a:p xmlns:a="http://schemas.openxmlformats.org/drawingml/2006/main">
            <a:r>
              <a:t>    "q1_ns": 2.3584365844726562,</a:t>
            </a:r>
          </a:p>
          <a:p xmlns:a="http://schemas.openxmlformats.org/drawingml/2006/main">
            <a:r>
              <a:t>    "q3_ns": 2.486586570739746,</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"hashmap_wide_key",</a:t>
            </a:r>
          </a:p>
          <a:p xmlns:a="http://schemas.openxmlformats.org/drawingml/2006/main">
            <a:r>
              <a:t>    "implementation": "CJR",</a:t>
            </a:r>
          </a:p>
          <a:p xmlns:a="http://schemas.openxmlformats.org/drawingml/2006/main">
            <a:r>
              <a:t>    "iqr_ns": 0.49614906311035156,</a:t>
            </a:r>
          </a:p>
          <a:p xmlns:a="http://schemas.openxmlformats.org/drawingml/2006/main">
            <a:r>
              <a:t>    "median_ns": 4.5136213302612305,</a:t>
            </a:r>
          </a:p>
          <a:p xmlns:a="http://schemas.openxmlformats.org/drawingml/2006/main">
            <a:r>
              <a:t>    "n": 256,</a:t>
            </a:r>
          </a:p>
          <a:p xmlns:a="http://schemas.openxmlformats.org/drawingml/2006/main">
            <a:r>
              <a:t>    "q1_ns": 4.323363304138184,</a:t>
            </a:r>
          </a:p>
          <a:p xmlns:a="http://schemas.openxmlformats.org/drawingml/2006/main">
            <a:r>
              <a:t>    "q3_ns": 4.819512367248535,</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"hashmap_wide_key",</a:t>
            </a:r>
          </a:p>
          <a:p xmlns:a="http://schemas.openxmlformats.org/drawingml/2006/main">
            <a:r>
              <a:t>    "implementation": "Std",</a:t>
            </a:r>
          </a:p>
          <a:p xmlns:a="http://schemas.openxmlformats.org/drawingml/2006/main">
            <a:r>
              <a:t>    "iqr_ns": 0.05936622619628906,</a:t>
            </a:r>
          </a:p>
          <a:p xmlns:a="http://schemas.openxmlformats.org/drawingml/2006/main">
            <a:r>
              <a:t>    "median_ns": 2.4052858352661133,</a:t>
            </a:r>
          </a:p>
          <a:p xmlns:a="http://schemas.openxmlformats.org/drawingml/2006/main">
            <a:r>
              <a:t>    "n": 256,</a:t>
            </a:r>
          </a:p>
          <a:p xmlns:a="http://schemas.openxmlformats.org/drawingml/2006/main">
            <a:r>
              <a:t>    "q1_ns": 2.3795366287231445,</a:t>
            </a:r>
          </a:p>
          <a:p xmlns:a="http://schemas.openxmlformats.org/drawingml/2006/main">
            <a:r>
              <a:t>    "q3_ns": 2.4389028549194336,</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"hashmap_wide_key",</a:t>
            </a:r>
          </a:p>
          <a:p xmlns:a="http://schemas.openxmlformats.org/drawingml/2006/main">
            <a:r>
              <a:t>    "implementation": "CJR",</a:t>
            </a:r>
          </a:p>
          <a:p xmlns:a="http://schemas.openxmlformats.org/drawingml/2006/main">
            <a:r>
              <a:t>    "iqr_ns": 0.3854036331176758,</a:t>
            </a:r>
          </a:p>
          <a:p xmlns:a="http://schemas.openxmlformats.org/drawingml/2006/main">
            <a:r>
              <a:t>    "median_ns": 4.610538482666016,</a:t>
            </a:r>
          </a:p>
          <a:p xmlns:a="http://schemas.openxmlformats.org/drawingml/2006/main">
            <a:r>
              <a:t>    "n": 4096,</a:t>
            </a:r>
          </a:p>
          <a:p xmlns:a="http://schemas.openxmlformats.org/drawingml/2006/main">
            <a:r>
              <a:t>    "q1_ns": 4.375576972961426,</a:t>
            </a:r>
          </a:p>
          <a:p xmlns:a="http://schemas.openxmlformats.org/drawingml/2006/main">
            <a:r>
              <a:t>    "q3_ns": 4.760980606079102,</a:t>
            </a:r>
          </a:p>
          <a:p xmlns:a="http://schemas.openxmlformats.org/drawingml/2006/main">
            <a:r>
              <a:t>    "samples": 21</a:t>
            </a:r>
          </a:p>
          <a:p xmlns:a="http://schemas.openxmlformats.org/drawingml/2006/main">
            <a:r>
              <a:t>  },</a:t>
            </a:r>
          </a:p>
          <a:p xmlns:a="http://schemas.openxmlformats.org/drawingml/2006/main">
            <a:r>
              <a:t>  {</a:t>
            </a:r>
          </a:p>
          <a:p xmlns:a="http://schemas.openxmlformats.org/drawingml/2006/main">
            <a:r>
              <a:t>    "case": "hashmap_wide_key",</a:t>
            </a:r>
          </a:p>
          <a:p xmlns:a="http://schemas.openxmlformats.org/drawingml/2006/main">
            <a:r>
              <a:t>    "implementation": "Std",</a:t>
            </a:r>
          </a:p>
          <a:p xmlns:a="http://schemas.openxmlformats.org/drawingml/2006/main">
            <a:r>
              <a:t>    "iqr_ns": 0.05829334259033203,</a:t>
            </a:r>
          </a:p>
          <a:p xmlns:a="http://schemas.openxmlformats.org/drawingml/2006/main">
            <a:r>
              <a:t>    "median_ns": 2.4008750915527344,</a:t>
            </a:r>
          </a:p>
          <a:p xmlns:a="http://schemas.openxmlformats.org/drawingml/2006/main">
            <a:r>
              <a:t>    "n": 4096,</a:t>
            </a:r>
          </a:p>
          <a:p xmlns:a="http://schemas.openxmlformats.org/drawingml/2006/main">
            <a:r>
              <a:t>    "q1_ns": 2.370476722717285,</a:t>
            </a:r>
          </a:p>
          <a:p xmlns:a="http://schemas.openxmlformats.org/drawingml/2006/main">
            <a:r>
              <a:t>    "q3_ns": 2.428770065307617,</a:t>
            </a:r>
          </a:p>
          <a:p xmlns:a="http://schemas.openxmlformats.org/drawingml/2006/main">
            <a:r>
              <a:t>    "samples": 21</a:t>
            </a:r>
          </a:p>
          <a:p xmlns:a="http://schemas.openxmlformats.org/drawingml/2006/main">
            <a:r>
              <a:t>  }</a:t>
            </a:r>
          </a:p>
          <a:p xmlns:a="http://schemas.openxmlformats.org/drawingml/2006/main">
            <a:r>
              <a:t>]</a:t>
            </a:r>
          </a:p>
          <a:p xmlns:a="http://schemas.openxmlformats.org/drawingml/2006/main">
            <a:r>
              <a:t>Compiler: Cangjie Compiler: 1.0.5 (cjnative)</a:t>
            </a:r>
          </a:p>
          <a:p xmlns:a="http://schemas.openxmlformats.org/drawingml/2006/main">
            <a:r>
              <a:t>Target: aarch64-apple-darwin</a:t>
            </a:r>
          </a:p>
          <a:p xmlns:a="http://schemas.openxmlformats.org/drawingml/2006/main">
            <a:r>
              <a:t>Machine: {"machine":"arm64","node":"Dans-Mac-mini.local","processor":"arm","release":"25.6.0","system":"Darwin","version":"Darwin Kernel Version 25.6.0: Fri Jul 31 19:11:03 PDT 2026; root:xnu-12377.161.14~5/RELEASE_ARM64_T8132"}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Depth is restricted to 0 through 30 and range rectangles are half-open. Bounds proofs connect the model to supported integer ranges. Duplicate and rejected insertion cases preserve the set and representation. The implementation has no deletion, expansion or executable union. Set-model algebraic laws should not be presented as proofs of executable operations that do not exist. The report distinguishes reference-model proofs and Iris contracts.</a:t>
            </a:r>
          </a:p>
          <a:p xmlns:a="http://schemas.openxmlformats.org/drawingml/2006/main">
            <a:r>
              <a:t/>
            </a:r>
          </a:p>
          <a:p xmlns:a="http://schemas.openxmlformats.org/drawingml/2006/main">
            <a:r>
              <a:t>Sources</a:t>
            </a:r>
          </a:p>
          <a:p xmlns:a="http://schemas.openxmlformats.org/drawingml/2006/main">
            <a:r>
              <a:t>Repository source: example/quadtree/README.md</a:t>
            </a:r>
          </a:p>
          <a:p xmlns:a="http://schemas.openxmlformats.org/drawingml/2006/main">
            <a:r>
              <a:t>Repository source: example/quadtree/spec/model.v</a:t>
            </a:r>
          </a:p>
          <a:p xmlns:a="http://schemas.openxmlformats.org/drawingml/2006/main">
            <a:r>
              <a:t>Repository source: example/quadtree/proof/insertion.v</a:t>
            </a:r>
          </a:p>
          <a:p xmlns:a="http://schemas.openxmlformats.org/drawingml/2006/main">
            <a:r>
              <a:t>Repository source: example/quadtree/proof/correctness.v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local measurements, recorded 2026-10-12. Show selective range queries with n=16384 for uniform, clustered and shared-prefix distributions, comparing extracted CJR, an independent native quadtree and a hash-indexed flat collection. Units are microseconds per full query, converted from the recorded nanoseconds. Uniform points span the depth-30 domain, clustered points lie in a 256-square, and shared-prefix points occupy a 128-wide grid near the origin. Allocation of query-result lists and garbage collection are included. Two warmups, independently calibrated batches, three processes and seven trials, rotating order. Validate against an independent flat-set oracle outside timing and consume checked checksums in timing. Full Q1/Q3 values are retained below. Other workloads have different outcomes, including broad queries; do not infer a universal speedup.</a:t>
            </a:r>
          </a:p>
          <a:p xmlns:a="http://schemas.openxmlformats.org/drawingml/2006/main">
            <a:r>
              <a:t/>
            </a:r>
          </a:p>
          <a:p xmlns:a="http://schemas.openxmlformats.org/drawingml/2006/main">
            <a:r>
              <a:t>Sources</a:t>
            </a:r>
          </a:p>
          <a:p xmlns:a="http://schemas.openxmlformats.org/drawingml/2006/main">
            <a:r>
              <a:t>Repository source: example/quadtree/README.md</a:t>
            </a:r>
          </a:p>
          <a:p xmlns:a="http://schemas.openxmlformats.org/drawingml/2006/main">
            <a:r>
              <a:t>Repository source: example/quadtree/benchmark/results/summary.json</a:t>
            </a:r>
          </a:p>
          <a:p xmlns:a="http://schemas.openxmlformats.org/drawingml/2006/main">
            <a:r>
              <a:t>Repository source: example/quadtree/benchmark/results/metadata.json</a:t>
            </a:r>
          </a:p>
          <a:p xmlns:a="http://schemas.openxmlformats.org/drawingml/2006/main">
            <a:r>
              <a:t/>
            </a:r>
          </a:p>
          <a:p xmlns:a="http://schemas.openxmlformats.org/drawingml/2006/main">
            <a:r>
              <a:t>Benchmark evidence (unrounded)</a:t>
            </a:r>
          </a:p>
          <a:p xmlns:a="http://schemas.openxmlformats.org/drawingml/2006/main">
            <a:r>
              <a:t>[</a:t>
            </a:r>
          </a:p>
          <a:p xmlns:a="http://schemas.openxmlformats.org/drawingml/2006/main">
            <a:r>
              <a:t>  {</a:t>
            </a:r>
          </a:p>
          <a:p xmlns:a="http://schemas.openxmlformats.org/drawingml/2006/main">
            <a:r>
              <a:t>    "distribution": "cluster",</a:t>
            </a:r>
          </a:p>
          <a:p xmlns:a="http://schemas.openxmlformats.org/drawingml/2006/main">
            <a:r>
              <a:t>    "implementation": "CJR",</a:t>
            </a:r>
          </a:p>
          <a:p xmlns:a="http://schemas.openxmlformats.org/drawingml/2006/main">
            <a:r>
              <a:t>    "iqr_ns": 312.015503875969,</a:t>
            </a:r>
          </a:p>
          <a:p xmlns:a="http://schemas.openxmlformats.org/drawingml/2006/main">
            <a:r>
              <a:t>    "median_ns": 2371.124031007752,</a:t>
            </a:r>
          </a:p>
          <a:p xmlns:a="http://schemas.openxmlformats.org/drawingml/2006/main">
            <a:r>
              <a:t>    "n": 16384,</a:t>
            </a:r>
          </a:p>
          <a:p xmlns:a="http://schemas.openxmlformats.org/drawingml/2006/main">
            <a:r>
              <a:t>    "q1_ns": 2261.6279069767443,</a:t>
            </a:r>
          </a:p>
          <a:p xmlns:a="http://schemas.openxmlformats.org/drawingml/2006/main">
            <a:r>
              <a:t>    "q3_ns": 2573.6434108527133,</a:t>
            </a:r>
          </a:p>
          <a:p xmlns:a="http://schemas.openxmlformats.org/drawingml/2006/main">
            <a:r>
              <a:t>    "samples": 21,</a:t>
            </a:r>
          </a:p>
          <a:p xmlns:a="http://schemas.openxmlformats.org/drawingml/2006/main">
            <a:r>
              <a:t>    "workload": "selective"</a:t>
            </a:r>
          </a:p>
          <a:p xmlns:a="http://schemas.openxmlformats.org/drawingml/2006/main">
            <a:r>
              <a:t>  },</a:t>
            </a:r>
          </a:p>
          <a:p xmlns:a="http://schemas.openxmlformats.org/drawingml/2006/main">
            <a:r>
              <a:t>  {</a:t>
            </a:r>
          </a:p>
          <a:p xmlns:a="http://schemas.openxmlformats.org/drawingml/2006/main">
            <a:r>
              <a:t>    "distribution": "cluster",</a:t>
            </a:r>
          </a:p>
          <a:p xmlns:a="http://schemas.openxmlformats.org/drawingml/2006/main">
            <a:r>
              <a:t>    "implementation": "Flat",</a:t>
            </a:r>
          </a:p>
          <a:p xmlns:a="http://schemas.openxmlformats.org/drawingml/2006/main">
            <a:r>
              <a:t>    "iqr_ns": 1082.03125,</a:t>
            </a:r>
          </a:p>
          <a:p xmlns:a="http://schemas.openxmlformats.org/drawingml/2006/main">
            <a:r>
              <a:t>    "median_ns": 23726.5625,</a:t>
            </a:r>
          </a:p>
          <a:p xmlns:a="http://schemas.openxmlformats.org/drawingml/2006/main">
            <a:r>
              <a:t>    "n": 16384,</a:t>
            </a:r>
          </a:p>
          <a:p xmlns:a="http://schemas.openxmlformats.org/drawingml/2006/main">
            <a:r>
              <a:t>    "q1_ns": 22868.1640625,</a:t>
            </a:r>
          </a:p>
          <a:p xmlns:a="http://schemas.openxmlformats.org/drawingml/2006/main">
            <a:r>
              <a:t>    "q3_ns": 23950.1953125,</a:t>
            </a:r>
          </a:p>
          <a:p xmlns:a="http://schemas.openxmlformats.org/drawingml/2006/main">
            <a:r>
              <a:t>    "samples": 21,</a:t>
            </a:r>
          </a:p>
          <a:p xmlns:a="http://schemas.openxmlformats.org/drawingml/2006/main">
            <a:r>
              <a:t>    "workload": "selective"</a:t>
            </a:r>
          </a:p>
          <a:p xmlns:a="http://schemas.openxmlformats.org/drawingml/2006/main">
            <a:r>
              <a:t>  },</a:t>
            </a:r>
          </a:p>
          <a:p xmlns:a="http://schemas.openxmlformats.org/drawingml/2006/main">
            <a:r>
              <a:t>  {</a:t>
            </a:r>
          </a:p>
          <a:p xmlns:a="http://schemas.openxmlformats.org/drawingml/2006/main">
            <a:r>
              <a:t>    "distribution": "cluster",</a:t>
            </a:r>
          </a:p>
          <a:p xmlns:a="http://schemas.openxmlformats.org/drawingml/2006/main">
            <a:r>
              <a:t>    "implementation": "Native",</a:t>
            </a:r>
          </a:p>
          <a:p xmlns:a="http://schemas.openxmlformats.org/drawingml/2006/main">
            <a:r>
              <a:t>    "iqr_ns": 329.4573643410854,</a:t>
            </a:r>
          </a:p>
          <a:p xmlns:a="http://schemas.openxmlformats.org/drawingml/2006/main">
            <a:r>
              <a:t>    "median_ns": 2701.5503875968993,</a:t>
            </a:r>
          </a:p>
          <a:p xmlns:a="http://schemas.openxmlformats.org/drawingml/2006/main">
            <a:r>
              <a:t>    "n": 16384,</a:t>
            </a:r>
          </a:p>
          <a:p xmlns:a="http://schemas.openxmlformats.org/drawingml/2006/main">
            <a:r>
              <a:t>    "q1_ns": 2547.4806201550387,</a:t>
            </a:r>
          </a:p>
          <a:p xmlns:a="http://schemas.openxmlformats.org/drawingml/2006/main">
            <a:r>
              <a:t>    "q3_ns": 2876.937984496124,</a:t>
            </a:r>
          </a:p>
          <a:p xmlns:a="http://schemas.openxmlformats.org/drawingml/2006/main">
            <a:r>
              <a:t>    "samples": 21,</a:t>
            </a:r>
          </a:p>
          <a:p xmlns:a="http://schemas.openxmlformats.org/drawingml/2006/main">
            <a:r>
              <a:t>    "workload": "selective"</a:t>
            </a:r>
          </a:p>
          <a:p xmlns:a="http://schemas.openxmlformats.org/drawingml/2006/main">
            <a:r>
              <a:t>  },</a:t>
            </a:r>
          </a:p>
          <a:p xmlns:a="http://schemas.openxmlformats.org/drawingml/2006/main">
            <a:r>
              <a:t>  {</a:t>
            </a:r>
          </a:p>
          <a:p xmlns:a="http://schemas.openxmlformats.org/drawingml/2006/main">
            <a:r>
              <a:t>    "distribution": "prefix",</a:t>
            </a:r>
          </a:p>
          <a:p xmlns:a="http://schemas.openxmlformats.org/drawingml/2006/main">
            <a:r>
              <a:t>    "implementation": "CJR",</a:t>
            </a:r>
          </a:p>
          <a:p xmlns:a="http://schemas.openxmlformats.org/drawingml/2006/main">
            <a:r>
              <a:t>    "iqr_ns": 336.9140625,</a:t>
            </a:r>
          </a:p>
          <a:p xmlns:a="http://schemas.openxmlformats.org/drawingml/2006/main">
            <a:r>
              <a:t>    "median_ns": 2236.328125,</a:t>
            </a:r>
          </a:p>
          <a:p xmlns:a="http://schemas.openxmlformats.org/drawingml/2006/main">
            <a:r>
              <a:t>    "n": 16384,</a:t>
            </a:r>
          </a:p>
          <a:p xmlns:a="http://schemas.openxmlformats.org/drawingml/2006/main">
            <a:r>
              <a:t>    "q1_ns": 1966.796875,</a:t>
            </a:r>
          </a:p>
          <a:p xmlns:a="http://schemas.openxmlformats.org/drawingml/2006/main">
            <a:r>
              <a:t>    "q3_ns": 2303.7109375,</a:t>
            </a:r>
          </a:p>
          <a:p xmlns:a="http://schemas.openxmlformats.org/drawingml/2006/main">
            <a:r>
              <a:t>    "samples": 21,</a:t>
            </a:r>
          </a:p>
          <a:p xmlns:a="http://schemas.openxmlformats.org/drawingml/2006/main">
            <a:r>
              <a:t>    "workload": "selective"</a:t>
            </a:r>
          </a:p>
          <a:p xmlns:a="http://schemas.openxmlformats.org/drawingml/2006/main">
            <a:r>
              <a:t>  },</a:t>
            </a:r>
          </a:p>
          <a:p xmlns:a="http://schemas.openxmlformats.org/drawingml/2006/main">
            <a:r>
              <a:t>  {</a:t>
            </a:r>
          </a:p>
          <a:p xmlns:a="http://schemas.openxmlformats.org/drawingml/2006/main">
            <a:r>
              <a:t>    "distribution": "prefix",</a:t>
            </a:r>
          </a:p>
          <a:p xmlns:a="http://schemas.openxmlformats.org/drawingml/2006/main">
            <a:r>
              <a:t>    "implementation": "Flat",</a:t>
            </a:r>
          </a:p>
          <a:p xmlns:a="http://schemas.openxmlformats.org/drawingml/2006/main">
            <a:r>
              <a:t>    "iqr_ns": 647.4609375,</a:t>
            </a:r>
          </a:p>
          <a:p xmlns:a="http://schemas.openxmlformats.org/drawingml/2006/main">
            <a:r>
              <a:t>    "median_ns": 22239.2578125,</a:t>
            </a:r>
          </a:p>
          <a:p xmlns:a="http://schemas.openxmlformats.org/drawingml/2006/main">
            <a:r>
              <a:t>    "n": 16384,</a:t>
            </a:r>
          </a:p>
          <a:p xmlns:a="http://schemas.openxmlformats.org/drawingml/2006/main">
            <a:r>
              <a:t>    "q1_ns": 22081.0546875,</a:t>
            </a:r>
          </a:p>
          <a:p xmlns:a="http://schemas.openxmlformats.org/drawingml/2006/main">
            <a:r>
              <a:t>    "q3_ns": 22728.515625,</a:t>
            </a:r>
          </a:p>
          <a:p xmlns:a="http://schemas.openxmlformats.org/drawingml/2006/main">
            <a:r>
              <a:t>    "samples": 21,</a:t>
            </a:r>
          </a:p>
          <a:p xmlns:a="http://schemas.openxmlformats.org/drawingml/2006/main">
            <a:r>
              <a:t>    "workload": "selective"</a:t>
            </a:r>
          </a:p>
          <a:p xmlns:a="http://schemas.openxmlformats.org/drawingml/2006/main">
            <a:r>
              <a:t>  },</a:t>
            </a:r>
          </a:p>
          <a:p xmlns:a="http://schemas.openxmlformats.org/drawingml/2006/main">
            <a:r>
              <a:t>  {</a:t>
            </a:r>
          </a:p>
          <a:p xmlns:a="http://schemas.openxmlformats.org/drawingml/2006/main">
            <a:r>
              <a:t>    "distribution": "prefix",</a:t>
            </a:r>
          </a:p>
          <a:p xmlns:a="http://schemas.openxmlformats.org/drawingml/2006/main">
            <a:r>
              <a:t>    "implementation": "Native",</a:t>
            </a:r>
          </a:p>
          <a:p xmlns:a="http://schemas.openxmlformats.org/drawingml/2006/main">
            <a:r>
              <a:t>    "iqr_ns": 378.90625,</a:t>
            </a:r>
          </a:p>
          <a:p xmlns:a="http://schemas.openxmlformats.org/drawingml/2006/main">
            <a:r>
              <a:t>    "median_ns": 2263.671875,</a:t>
            </a:r>
          </a:p>
          <a:p xmlns:a="http://schemas.openxmlformats.org/drawingml/2006/main">
            <a:r>
              <a:t>    "n": 16384,</a:t>
            </a:r>
          </a:p>
          <a:p xmlns:a="http://schemas.openxmlformats.org/drawingml/2006/main">
            <a:r>
              <a:t>    "q1_ns": 1928.7109375,</a:t>
            </a:r>
          </a:p>
          <a:p xmlns:a="http://schemas.openxmlformats.org/drawingml/2006/main">
            <a:r>
              <a:t>    "q3_ns": 2307.6171875,</a:t>
            </a:r>
          </a:p>
          <a:p xmlns:a="http://schemas.openxmlformats.org/drawingml/2006/main">
            <a:r>
              <a:t>    "samples": 21,</a:t>
            </a:r>
          </a:p>
          <a:p xmlns:a="http://schemas.openxmlformats.org/drawingml/2006/main">
            <a:r>
              <a:t>    "workload": "selective"</a:t>
            </a:r>
          </a:p>
          <a:p xmlns:a="http://schemas.openxmlformats.org/drawingml/2006/main">
            <a:r>
              <a:t>  },</a:t>
            </a:r>
          </a:p>
          <a:p xmlns:a="http://schemas.openxmlformats.org/drawingml/2006/main">
            <a:r>
              <a:t>  {</a:t>
            </a:r>
          </a:p>
          <a:p xmlns:a="http://schemas.openxmlformats.org/drawingml/2006/main">
            <a:r>
              <a:t>    "distribution": "uniform",</a:t>
            </a:r>
          </a:p>
          <a:p xmlns:a="http://schemas.openxmlformats.org/drawingml/2006/main">
            <a:r>
              <a:t>    "implementation": "CJR",</a:t>
            </a:r>
          </a:p>
          <a:p xmlns:a="http://schemas.openxmlformats.org/drawingml/2006/main">
            <a:r>
              <a:t>    "iqr_ns": 316.73306772908336,</a:t>
            </a:r>
          </a:p>
          <a:p xmlns:a="http://schemas.openxmlformats.org/drawingml/2006/main">
            <a:r>
              <a:t>    "median_ns": 2858.565737051793,</a:t>
            </a:r>
          </a:p>
          <a:p xmlns:a="http://schemas.openxmlformats.org/drawingml/2006/main">
            <a:r>
              <a:t>    "n": 16384,</a:t>
            </a:r>
          </a:p>
          <a:p xmlns:a="http://schemas.openxmlformats.org/drawingml/2006/main">
            <a:r>
              <a:t>    "q1_ns": 2718.1274900398407,</a:t>
            </a:r>
          </a:p>
          <a:p xmlns:a="http://schemas.openxmlformats.org/drawingml/2006/main">
            <a:r>
              <a:t>    "q3_ns": 3034.860557768924,</a:t>
            </a:r>
          </a:p>
          <a:p xmlns:a="http://schemas.openxmlformats.org/drawingml/2006/main">
            <a:r>
              <a:t>    "samples": 21,</a:t>
            </a:r>
          </a:p>
          <a:p xmlns:a="http://schemas.openxmlformats.org/drawingml/2006/main">
            <a:r>
              <a:t>    "workload": "selective"</a:t>
            </a:r>
          </a:p>
          <a:p xmlns:a="http://schemas.openxmlformats.org/drawingml/2006/main">
            <a:r>
              <a:t>  },</a:t>
            </a:r>
          </a:p>
          <a:p xmlns:a="http://schemas.openxmlformats.org/drawingml/2006/main">
            <a:r>
              <a:t>  {</a:t>
            </a:r>
          </a:p>
          <a:p xmlns:a="http://schemas.openxmlformats.org/drawingml/2006/main">
            <a:r>
              <a:t>    "distribution": "uniform",</a:t>
            </a:r>
          </a:p>
          <a:p xmlns:a="http://schemas.openxmlformats.org/drawingml/2006/main">
            <a:r>
              <a:t>    "implementation": "Flat",</a:t>
            </a:r>
          </a:p>
          <a:p xmlns:a="http://schemas.openxmlformats.org/drawingml/2006/main">
            <a:r>
              <a:t>    "iqr_ns": 1788.8446215139447,</a:t>
            </a:r>
          </a:p>
          <a:p xmlns:a="http://schemas.openxmlformats.org/drawingml/2006/main">
            <a:r>
              <a:t>    "median_ns": 23373.505976095617,</a:t>
            </a:r>
          </a:p>
          <a:p xmlns:a="http://schemas.openxmlformats.org/drawingml/2006/main">
            <a:r>
              <a:t>    "n": 16384,</a:t>
            </a:r>
          </a:p>
          <a:p xmlns:a="http://schemas.openxmlformats.org/drawingml/2006/main">
            <a:r>
              <a:t>    "q1_ns": 22422.31075697211,</a:t>
            </a:r>
          </a:p>
          <a:p xmlns:a="http://schemas.openxmlformats.org/drawingml/2006/main">
            <a:r>
              <a:t>    "q3_ns": 24211.155378486055,</a:t>
            </a:r>
          </a:p>
          <a:p xmlns:a="http://schemas.openxmlformats.org/drawingml/2006/main">
            <a:r>
              <a:t>    "samples": 21,</a:t>
            </a:r>
          </a:p>
          <a:p xmlns:a="http://schemas.openxmlformats.org/drawingml/2006/main">
            <a:r>
              <a:t>    "workload": "selective"</a:t>
            </a:r>
          </a:p>
          <a:p xmlns:a="http://schemas.openxmlformats.org/drawingml/2006/main">
            <a:r>
              <a:t>  },</a:t>
            </a:r>
          </a:p>
          <a:p xmlns:a="http://schemas.openxmlformats.org/drawingml/2006/main">
            <a:r>
              <a:t>  {</a:t>
            </a:r>
          </a:p>
          <a:p xmlns:a="http://schemas.openxmlformats.org/drawingml/2006/main">
            <a:r>
              <a:t>    "distribution": "uniform",</a:t>
            </a:r>
          </a:p>
          <a:p xmlns:a="http://schemas.openxmlformats.org/drawingml/2006/main">
            <a:r>
              <a:t>    "implementation": "Native",</a:t>
            </a:r>
          </a:p>
          <a:p xmlns:a="http://schemas.openxmlformats.org/drawingml/2006/main">
            <a:r>
              <a:t>    "iqr_ns": 418.3266932270917,</a:t>
            </a:r>
          </a:p>
          <a:p xmlns:a="http://schemas.openxmlformats.org/drawingml/2006/main">
            <a:r>
              <a:t>    "median_ns": 3236.0557768924305,</a:t>
            </a:r>
          </a:p>
          <a:p xmlns:a="http://schemas.openxmlformats.org/drawingml/2006/main">
            <a:r>
              <a:t>    "n": 16384,</a:t>
            </a:r>
          </a:p>
          <a:p xmlns:a="http://schemas.openxmlformats.org/drawingml/2006/main">
            <a:r>
              <a:t>    "q1_ns": 2891.434262948207,</a:t>
            </a:r>
          </a:p>
          <a:p xmlns:a="http://schemas.openxmlformats.org/drawingml/2006/main">
            <a:r>
              <a:t>    "q3_ns": 3309.760956175299,</a:t>
            </a:r>
          </a:p>
          <a:p xmlns:a="http://schemas.openxmlformats.org/drawingml/2006/main">
            <a:r>
              <a:t>    "samples": 21,</a:t>
            </a:r>
          </a:p>
          <a:p xmlns:a="http://schemas.openxmlformats.org/drawingml/2006/main">
            <a:r>
              <a:t>    "workload": "selective"</a:t>
            </a:r>
          </a:p>
          <a:p xmlns:a="http://schemas.openxmlformats.org/drawingml/2006/main">
            <a:r>
              <a:t>  }</a:t>
            </a:r>
          </a:p>
          <a:p xmlns:a="http://schemas.openxmlformats.org/drawingml/2006/main">
            <a:r>
              <a:t>]</a:t>
            </a:r>
          </a:p>
          <a:p xmlns:a="http://schemas.openxmlformats.org/drawingml/2006/main">
            <a:r>
              <a:t>Other workloads: [{"distribution":"cluster","implementation":"CJR","iqr_ns":21392.857142857145,"median_ns":105285.71428571429,"n":16384,"q1_ns":100642.85714285714,"q3_ns":122035.71428571429,"samples":21,"workload":"broad"},{"distribution":"cluster","implementation":"Flat","iqr_ns":17571.428571428572,"median_ns":47464.28571428572,"n":16384,"q1_ns":45571.42857142857,"q3_ns":63142.857142857145,"samples":21,"workload":"broad"},{"distribution":"cluster","implementation":"Native","iqr_ns":25714.28571428571,"median_ns":156178.57142857142,"n":16384,"q1_ns":138000,"q3_ns":163714.2857142857,"samples":21,"workload":"broad"},{"distribution":"cluster","implementation":"CJR","iqr_ns":9.66644287109375,"median_ns":160.72845458984375,"n":16384,"q1_ns":153.19061279296875,"q3_ns":162.8570556640625,"samples":21,"workload":"build"},{"distribution":"cluster","implementation":"Flat","iqr_ns":20.8892822265625,"median_ns":232.23114013671875,"n":16384,"q1_ns":220.31402587890625,"q3_ns":241.20330810546875,"samples":21,"workload":"build"},{"distribution":"cluster","implementation":"Native","iqr_ns":87.677001953125,"median_ns":207.09228515625,"n":16384,"q1_ns":195.953369140625,"q3_ns":283.63037109375,"samples":21,"workload":"build"},{"distribution":"cluster","implementation":"CJR","iqr_ns":1.1444091796875,"median_ns":5.6915283203125,"n":16384,"q1_ns":4.8675537109375,"q3_ns":6.011962890625,"samples":21,"workload":"empty"},{"distribution":"cluster","implementation":"Flat","iqr_ns":1232.91015625,"median_ns":20480.46875,"n":16384,"q1_ns":19521.97265625,"q3_ns":20754.8828125,"samples":21,"workload":"empty"},{"distribution":"cluster","implementation":"Native","iqr_ns":1.3275146484375,"median_ns":5.79833984375,"n":16384,"q1_ns":4.791259765625,"q3_ns":6.1187744140625,"samples":21,"workload":"empty"},{"distribution":"cluster","implementation":"CJR","iqr_ns":11.29913330078125,"median_ns":135.5438232421875,"n":16384,"q1_ns":127.48336791992188,"q3_ns":138.78250122070312,"samples":21,"workload":"hits"},{"distribution":"cluster","implementation":"Flat","iqr_ns":13.519287109375,"median_ns":150.50506591796875,"n":16384,"q1_ns":143.035888671875,"q3_ns":156.55517578125,"samples":21,"workload":"hits"},{"distribution":"cluster","implementation":"Native","iqr_ns":12.90130615234375,"median_ns":134.57489013671875,"n":16384,"q1_ns":128.12042236328125,"q3_ns":141.021728515625,"samples":21,"workload":"hits"},{"distribution":"cluster","implementation":"CJR","iqr_ns":0.09679794311523438,"median_ns":2.9227733612060547,"n":16384,"q1_ns":2.835392951965332,"q3_ns":2.9321908950805664,"samples":21,"workload":"misses"},{"distribution":"cluster","implementation":"Flat","iqr_ns":21.2554931640625,"median_ns":357.72705078125,"n":16384,"q1_ns":351.898193359375,"q3_ns":373.1536865234375,"samples":21,"workload":"misses"},{"distribution":"cluster","implementation":"Native","iqr_ns":0.0667572021484375,"median_ns":2.9914379119873047,"n":16384,"q1_ns":2.960681915283203,"q3_ns":3.0274391174316406,"samples":21,"workload":"misses"},{"distribution":"cluster","implementation":"CJR","iqr_ns":312.015503875969,"median_ns":2371.124031007752,"n":16384,"q1_ns":2261.6279069767443,"q3_ns":2573.6434108527133,"samples":21,"workload":"selective"},{"distribution":"cluster","implementation":"Flat","iqr_ns":1082.03125,"median_ns":23726.5625,"n":16384,"q1_ns":22868.1640625,"q3_ns":23950.1953125,"samples":21,"workload":"selective"},{"distribution":"cluster","implementation":"Native","iqr_ns":329.4573643410854,"median_ns":2701.5503875968993,"n":16384,"q1_ns":2547.4806201550387,"q3_ns":2876.937984496124,"samples":21,"workload":"selective"},{"distribution":"cluster","implementation":"CJR","iqr_ns":59500,"median_ns":274812.5,"n":16384,"q1_ns":250437.5,"q3_ns":309937.5,"samples":21,"workload":"whole"},{"distribution":"cluster","implementation":"Flat","iqr_ns":4250,"median_ns":92937.5,"n":16384,"q1_ns":90875,"q3_ns":95125,"samples":21,"workload":"whole"},{"distribution":"cluster","implementation":"Native","iqr_ns":104187.5,"median_ns":373125,"n":16384,"q1_ns":322875,"q3_ns":427062.5,"samples":21,"workload":"whole"},{"distribution":"cluster","implementation":"CJR","iqr_ns":43.154761904761926,"median_ns":1432.5396825396826,"n":256,"q1_ns":1410.218253968254,"q3_ns":1453.373015873016,"samples":21,"workload":"broad"},{"distribution":"cluster","implementation":"Flat","iqr_ns":66.46825396825386,"median_ns":855.6547619047619,"n":256,"q1_ns":842.2619047619048,"q3_ns":908.7301587301587,"samples":21,"workload":"broad"},{"distribution":"cluster","implementation":"Native","iqr_ns":35.218253968253975,"median_ns":1537.202380952381,"n":256,"q1_ns":1523.8095238095239,"q3_ns":1559.0277777777778,"samples":21,"workload":"broad"},{"distribution":"cluster","implementation":"CJR","iqr_ns":34.862518310546875,"median_ns":137.82501220703125,"n":256,"q1_ns":132.21359252929688,"q3_ns":167.07611083984375,"samples":21,"workload":"build"},{"distribution":"cluster","implementation":"Flat","iqr_ns":1.308441162109375,"median_ns":24.43695068359375,"n":256,"q1_ns":23.76556396484375,"q3_ns":25.074005126953125,"samples":21,"workload":"build"},{"distribution":"cluster","implementation":"Native","iqr_ns":71.44927978515625,"median_ns":167.5262451171875,"n":256,"q1_ns":165.15350341796875,"q3_ns":236.602783203125,"samples":21,"workload":"build"},{"distribution":"cluster","implementation":"CJR","iqr_ns":0.91552734375,"median_ns":5.55419921875,"n":256,"q1_ns":5.096435546875,"q3_ns":6.011962890625,"samples":21,"workload":"empty"},{"distribution":"cluster","implementation":"Flat","iqr_ns":25.4974365234375,"median_ns":335.540771484375,"n":256,"q1_ns":311.3861083984375,"q3_ns":336.883544921875,"samples":21,"workload":"empty"},{"distribution":"cluster","implementation":"Native","iqr_ns":0.946044921875,"median_ns":5.615234375,"n":256,"q1_ns":4.9285888671875,"q3_ns":5.8746337890625,"samples":21,"workload":"empty"},{"distribution":"cluster","implementation":"CJR","iqr_ns":9.647369384765625,"median_ns":106.32705688476562,"n":256,"q1_ns":98.83880615234375,"q3_ns":108.48617553710938,"samples":21,"workload":"hits"},{"distribution":"cluster","implementation":"Flat","iqr_ns":0.14674663543701172,"median_ns":4.078984260559082,"n":256,"q1_ns":3.993988037109375,"q3_ns":4.140734672546387,"samples":21,"workload":"hits"},{"distribution":"cluster","implementation":"Native","iqr_ns":7.14111328125,"median_ns":94.79141235351562,"n":256,"q1_ns":89.141845703125,"q3_ns":96.282958984375,"samples":21,"workload":"hits"},{"distribution":"cluster","implementation":"CJR","iqr_ns":0.07176399230957031,"median_ns":2.973794937133789,"n":256,"q1_ns":2.923130989074707,"q3_ns":2.9948949813842773,"samples":21,"workload":"misses"},{"distribution":"cluster","implementation":"Flat","iqr_ns":0.19276142120361328,"median_ns":4.511475563049316,"n":256,"q1_ns":4.373788833618164,"q3_ns":4.566550254821777,"samples":21,"workload":"misses"},{"distribution":"cluster","implementation":"Native","iqr_ns":0.06961822509765625,"median_ns":3.039240837097168,"n":256,"q1_ns":2.9865503311157227,"q3_ns":3.056168556213379,"samples":21,"workload":"misses"},{"distribution":"cluster","implementation":"CJR","iqr_ns":11.03227283131153,"median_ns":216.41107804989701,"n":256,"q1_ns":213.25246051728084,"q3_ns":224.28473334859237,"samples":21,"workload":"selective"},{"distribution":"cluster","implementation":"Flat","iqr_ns":16.365300984206897,"median_ns":342.50400549324786,"n":256,"q1_ns":330.9224078736553,"q3_ns":347.2877088578622,"samples":21,"workload":"selective"},{"distribution":"cluster","implementation":"Native","iqr_ns":10.345616845960166,"median_ns":237.5371938658732,"n":256,"q1_ns":233.30281528953995,"q3_ns":243.64843213550012,"samples":21,"workload":"selective"},{"distribution":"cluster","implementation":"CJR","iqr_ns":67.3828125,"median_ns":2806.640625,"n":256,"q1_ns":2774.4140625,"q3_ns":2841.796875,"samples":21,"workload":"whole"},{"distribution":"cluster","implementation":"Flat","iqr_ns":63.4765625,"median_ns":1368.1640625,"n":256,"q1_ns":1347.65625,"q3_ns":1411.1328125,"samples":21,"workload":"whole"},{"distribution":"cluster","implementation":"Native","iqr_ns":51.7578125,"median_ns":2987.3046875,"n":256,"q1_ns":2969.7265625,"q3_ns":3021.484375,"samples":21,"workload":"whole"},{"distribution":"cluster","implementation":"CJR","iqr_ns":3280.7017543859656,"median_ns":28228.070175438595,"n":4096,"q1_ns":26789.473684210527,"q3_ns":30070.175438596492,"samples":21,"workload":"broad"},{"distribution":"cluster","implementation":"Flat","iqr_ns":1254.3859649122805,"median_ns":14736.842105263158,"n":4096,"q1_ns":13956.140350877193,"q3_ns":15210.526315789473,"samples":21,"workload":"broad"},{"distribution":"cluster","implementation":"Native","iqr_ns":5377.1929824561375,"median_ns":37333.333333333336,"n":4096,"q1_ns":34026.31578947369,"q3_ns":39403.508771929824,"samples":21,"workload":"broad"},{"distribution":"cluster","implementation":"CJR","iqr_ns":34.778594970703125,"median_ns":151.27182006835938,"n":4096,"q1_ns":148.14376831054688,"q3_ns":182.92236328125,"samples":21,"workload":"build"},{"distribution":"cluster","implementation":"Flat","iqr_ns":46.19598388671875,"median_ns":52.379608154296875,"n":4096,"q1_ns":49.793243408203125,"q3_ns":95.98922729492188,"samples":21,"workload":"build"},{"distribution":"cluster","implementation":"Native","iqr_ns":97.9156494140625,"median_ns":184.54742431640625,"n":4096,"q1_ns":180.16815185546875,"q3_ns":278.08380126953125,"samples":21,"workload":"build"},{"distribution":"cluster","implementation":"CJR","iqr_ns":4.364013671875,"median_ns":6.2103271484375,"n":4096,"q1_ns":5.92041015625,"q3_ns":10.284423828125,"samples":21,"workload":"empty"},{"distribution":"cluster","implementation":"Flat","iqr_ns":251.953125,"median_ns":5210.693359375,"n":4096,"q1_ns":5147.705078125,"q3_ns":5399.658203125,"samples":21,"workload":"empty"},{"distribution":"cluster","implementation":"Native","iqr_ns":1.6326904296875,"median_ns":6.1492919921875,"n":4096,"q1_ns":4.913330078125,"q3_ns":6.5460205078125,"samples":21,"workload":"empty"},{"distribution":"cluster","implementation":"CJR","iqr_ns":12.561798095703125,"median_ns":127.12860107421875,"n":4096,"q1_ns":116.02401733398438,"q3_ns":128.5858154296875,"samples":21,"workload":"hits"},{"distribution":"cluster","implementation":"Flat","iqr_ns":1.8787384033203125,"median_ns":13.089179992675781,"n":4096,"q1_ns":12.555122375488281,"q3_ns":14.433860778808594,"samples":21,"workload":"hits"},{"distribution":"cluster","implementation":"Native","iqr_ns":8.2550048828125,"median_ns":119.74334716796875,"n":4096,"q1_ns":113.81149291992188,"q3_ns":122.06649780273438,"samples":21,"workload":"hits"},{"distribution":"cluster","implementation":"CJR","iqr_ns":0.09119510650634766,"median_ns":2.923250198364258,"n":4096,"q1_ns":2.843618392944336,"q3_ns":2.9348134994506836,"samples":21,"workload":"misses"},{"distribution":"cluster","implementation":"Flat","iqr_ns":4.801750183105469,"median_ns":35.755157470703125,"n":4096,"q1_ns":33.25366973876953,"q3_ns":38.055419921875,"samples":21,"workload":"misses"},{"distribution":"cluster","implementation":"Native","iqr_ns":0.13387203216552734,"median_ns":2.987980842590332,"n":4096,"q1_ns":2.884030342102051,"q3_ns":3.017902374267578,"samples":21,"workload":"misses"},{"distribution":"cluster","implementation":"CJR","iqr_ns":102.72373540856029,"median_ns":811.4137483787289,"n":4096,"q1_ns":752.5291828793775,"q3_ns":855.2529182879377,"samples":21,"workload":"selective"},{"distribution":"cluster","implementation":"Flat","iqr_ns":437.0946822308688,"median_ns":5816.342412451362,"n":4096,"q1_ns":5529.70168612192,"q3_ns":5966.796368352789,"samples":21,"workload":"selective"},{"distribution":"cluster","implementation":"Native","iqr_ns":83.78728923476012,"median_ns":865.3696498054475,"n":4096,"q1_ns":829.3125810635538,"q3_ns":913.0998702983139,"samples":21,"workload":"selective"},{"distribution":"cluster","implementation":"CJR","iqr_ns":3593.75,"median_ns":53203.125,"n":4096,"q1_ns":50796.875,"q3_ns":54390.625,"samples":21,"workload":"whole"},{"distribution":"cluster","implementation":"Flat","iqr_ns":843.75,"median_ns":22593.75,"n":4096,"q1_ns":22171.875,"q3_ns":23015.625,"samples":21,"workload":"whole"},{"distribution":"cluster","implementation":"Native","iqr_ns":4578.125,"median_ns":66968.75,"n":4096,"q1_ns":65953.125,"q3_ns":70531.25,"samples":21,"workload":"whole"},{"distribution":"prefix","implementation":"CJR","iqr_ns":22214.28571428571,"median_ns":87821.42857142857,"n":16384,"q1_ns":75892.85714285714,"q3_ns":98107.14285714286,"samples":21,"workload":"broad"},{"distribution":"prefix","implementation":"Flat","iqr_ns":13857.142857142862,"median_ns":52821.42857142857,"n":16384,"q1_ns":49357.142857142855,"q3_ns":63214.28571428572,"samples":21,"workload":"broad"},{"distribution":"prefix","implementation":"Native","iqr_ns":22821.428571428565,"median_ns":100357.14285714286,"n":16384,"q1_ns":86500,"q3_ns":109321.42857142857,"samples":21,"workload":"broad"},{"distribution":"prefix","implementation":"CJR","iqr_ns":21.148681640625,"median_ns":124.93515014648438,"n":16384,"q1_ns":119.13681030273438,"q3_ns":140.28549194335938,"samples":21,"workload":"build"},{"distribution":"prefix","implementation":"Flat","iqr_ns":60.84442138671875,"median_ns":313.201904296875,"n":16384,"q1_ns":286.23199462890625,"q3_ns":347.076416015625,"samples":21,"workload":"build"},{"distribution":"prefix","implementation":"Native","iqr_ns":35.25543212890625,"median_ns":128.0059814453125,"n":16384,"q1_ns":118.38531494140625,"q3_ns":153.6407470703125,"samples":21,"workload":"build"},{"distribution":"prefix","implementation":"CJR","iqr_ns":1.220703125,"median_ns":5.67626953125,"n":16384,"q1_ns":4.8675537109375,"q3_ns":6.0882568359375,"samples":21,"workload":"empty"},{"distribution":"prefix","implementation":"Flat","iqr_ns":352.5390625,"median_ns":20880.859375,"n":16384,"q1_ns":20731.4453125,"q3_ns":21083.984375,"samples":21,"workload":"empty"},{"distribution":"prefix","implementation":"Native","iqr_ns":1.0986328125,"median_ns":5.218505859375,"n":16384,"q1_ns":4.791259765625,"q3_ns":5.889892578125,"samples":21,"workload":"empty"},{"distribution":"prefix","implementation":"CJR","iqr_ns":12.989044189453125,"median_ns":112.29705810546875,"n":16384,"q1_ns":107.1319580078125,"q3_ns":120.12100219726562,"samples":21,"workload":"hits"},{"distribution":"prefix","implementation":"Flat","iqr_ns":23.548126220703125,"median_ns":147.83096313476562,"n":16384,"q1_ns":136.44027709960938,"q3_ns":159.9884033203125,"samples":21,"workload":"hits"},{"distribution":"prefix","implementation":"Native","iqr_ns":23.044586181640625,"median_ns":98.2666015625,"n":16384,"q1_ns":91.86172485351562,"q3_ns":114.90631103515625,"samples":21,"workload":"hits"},{"distribution":"prefix","implementation":"CJR","iqr_ns":0.08678436279296875,"median_ns":2.965211868286133,"n":16384,"q1_ns":2.939939498901367,"q3_ns":3.026723861694336,"samples":21,"workload":"misses"},{"distribution":"prefix","implementation":"Flat","iqr_ns":14.48822021484375,"median_ns":315.7196044921875,"n":16384,"q1_ns":307.18994140625,"q3_ns":321.67816162109375,"samples":21,"workload":"misses"},{"distribution":"prefix","implementation":"Native","iqr_ns":0.07069110870361328,"median_ns":3.011941909790039,"n":16384,"q1_ns":2.9757022857666016,"q3_ns":3.046393394470215,"samples":21,"workload":"misses"},{"distribution":"prefix","implementation":"CJR","iqr_ns":336.9140625,"median_ns":2236.328125,"n":16384,"q1_ns":1966.796875,"q3_ns":2303.7109375,"samples":21,"workload":"selective"},{"distribution":"prefix","implementation":"Flat","iqr_ns":647.4609375,"median_ns":22239.2578125,"n":16384,"q1_ns":22081.0546875,"q3_ns":22728.515625,"samples":21,"workload":"selective"},{"distribution":"prefix","implementation":"Native","iqr_ns":378.90625,"median_ns":2263.671875,"n":16384,"q1_ns":1928.7109375,"q3_ns":2307.6171875,"samples":21,"workload":"selective"},{"distribution":"prefix","implementation":"CJR","iqr_ns":19875,"median_ns":171187.5,"n":16384,"q1_ns":160062.5,"q3_ns":179937.5,"samples":21,"workload":"whole"},{"distribution":"prefix","implementation":"Flat","iqr_ns":7500,"median_ns":94875,"n":16384,"q1_ns":91437.5,"q3_ns":98937.5,"samples":21,"workload":"whole"},{"distribution":"prefix","implementation":"Native","iqr_ns":37437.5,"median_ns":188937.5,"n":16384,"q1_ns":180437.5,"q3_ns":217875,"samples":21,"workload":"whole"},{"distribution":"prefix","implementation":"CJR","iqr_ns":58.60805860805863,"median_ns":1912.0879120879122,"n":256,"q1_ns":1882.7838827838827,"q3_ns":1941.3919413919414,"samples":21,"workload":"broad"},{"distribution":"prefix","implementation":"Flat","iqr_ns":73.9926739926741,"median_ns":1147.2527472527472,"n":256,"q1_ns":1113.5531135531135,"q3_ns":1187.5457875457876,"samples":21,"workload":"broad"},{"distribution":"prefix","implementation":"Native","iqr_ns":42.4908424908424,"median_ns":1942.857142857143,"n":256,"q1_ns":1915.7509157509157,"q3_ns":1958.2417582417581,"samples":21,"workload":"broad"},{"distribution":"prefix","implementation":"CJR","iqr_ns":30.033111572265625,"median_ns":134.53292846679688,"n":256,"q1_ns":129.65774536132812,"q3_ns":159.69085693359375,"samples":21,"workload":"build"},{"distribution":"prefix","implementation":"Flat","iqr_ns":1.018524169921875,"median_ns":27.545928955078125,"n":256,"q1_ns":26.798248291015625,"q3_ns":27.8167724609375,"samples":21,"workload":"build"},{"distribution":"prefix","implementation":"Native","iqr_ns":39.417266845703125,"median_ns":183.97903442382812,"n":256,"q1_ns":150.5126953125,"q3_ns":189.92996215820312,"samples":21,"workload":"build"},{"distribution":"prefix","implementation":"CJR","iqr_ns":0.9613037109375,"median_ns":5.9051513671875,"n":256,"q1_ns":5.4779052734375,"q3_ns":6.439208984375,"samples":21,"workload":"empty"},{"distribution":"prefix","implementation":"Flat","iqr_ns":2.838134765625,"median_ns":336.5020751953125,"n":256,"q1_ns":335.601806640625,"q3_ns":338.43994140625,"samples":21,"workload":"empty"},{"distribution":"prefix","implementation":"Native","iqr_ns":0.8392333984375,"median_ns":5.8746337890625,"n":256,"q1_ns":5.523681640625,"q3_ns":6.3629150390625,"samples":21,"workload":"empty"},{"distribution":"prefix","implementation":"CJR","iqr_ns":7.88116455078125,"median_ns":112.091064453125,"n":256,"q1_ns":105.0567626953125,"q3_ns":112.93792724609375,"samples":21,"workload":"hits"},{"distribution":"prefix","implementation":"Flat","iqr_ns":0.2243518829345703,"median_ns":6.153106689453125,"n":256,"q1_ns":6.068706512451172,"q3_ns":6.293058395385742,"samples":21,"workload":"hits"},{"distribution":"prefix","implementation":"Native","iqr_ns":6.069183349609375,"median_ns":96.63772583007812,"n":256,"q1_ns":92.3004150390625,"q3_ns":98.36959838867188,"samples":21,"workload":"hits"},{"distribution":"prefix","implementation":"CJR","iqr_ns":0.09429454803466797,"median_ns":2.9935836791992188,"n":256,"q1_ns":2.980828285217285,"q3_ns":3.075122833251953,"samples":21,"workload":"misses"},{"distribution":"prefix","implementation":"Flat","iqr_ns":0.08034706115722656,"median_ns":9.189367294311523,"n":256,"q1_ns":9.13858413696289,"q3_ns":9.218931198120117,"samples":21,"workload":"misses"},{"distribution":"prefix","implementation":"Native","iqr_ns":0.028252601623535156,"median_ns":3.047347068786621,"n":256,"q1_ns":3.032088279724121,"q3_ns":3.0603408813476562,"samples":21,"workload":"misses"},{"distribution":"prefix","implementation":"CJR","iqr_ns":9.521484375,"median_ns":430.419921875,"n":256,"q1_ns":425.6591796875,"q3_ns":435.1806640625,"samples":21,"workload":"selective"},{"distribution":"prefix","implementation":"Flat","iqr_ns":17.7001953125,"median_ns":456.9091796875,"n":256,"q1_ns":451.5380859375,"q3_ns":469.23828125,"samples":21,"workload":"selective"},{"distribution":"prefix","implementation":"Native","iqr_ns":23.4375,"median_ns":438.3544921875,"n":256,"q1_ns":436.03515625,"q3_ns":459.47265625,"samples":21,"workload":"selective"},{"distribution":"prefix","implementation":"CJR","iqr_ns":88.8671875,"median_ns":2557.6171875,"n":256,"q1_ns":2544.921875,"q3_ns":2633.7890625,"samples":21,"workload":"whole"},{"distribution":"prefix","implementation":"Flat","iqr_ns":65.4296875,"median_ns":1442.3828125,"n":256,"q1_ns":1410.15625,"q3_ns":1475.5859375,"samples":21,"workload":"whole"},{"distribution":"prefix","implementation":"Native","iqr_ns":113.28125,"median_ns":2701.171875,"n":256,"q1_ns":2659.1796875,"q3_ns":2772.4609375,"samples":21,"workload":"whole"},{"distribution":"prefix","implementation":"CJR","iqr_ns":2082.352941176472,"median_ns":28847.058823529413,"n":4096,"q1_ns":27105.882352941175,"q3_ns":29188.235294117647,"samples":21,"workload":"broad"},{"distribution":"prefix","implementation":"Flat","iqr_ns":1011.7647058823532,"median_ns":19011.764705882353,"n":4096,"q1_ns":18482.352941176472,"q3_ns":19494.117647058825,"samples":21,"workload":"broad"},{"distribution":"prefix","implementation":"Native","iqr_ns":2964.7058823529405,"median_ns":33341.17647058824,"n":4096,"q1_ns":30635.29411764706,"q3_ns":33600,"samples":21,"workload":"broad"},{"distribution":"prefix","implementation":"CJR","iqr_ns":7.671356201171875,"median_ns":122.6348876953125,"n":4096,"q1_ns":116.9281005859375,"q3_ns":124.59945678710938,"samples":21,"workload":"build"},{"distribution":"prefix","implementation":"Flat","iqr_ns":10.2386474609375,"median_ns":306.7779541015625,"n":4096,"q1_ns":300.9033203125,"q3_ns":311.1419677734375,"samples":21,"workload":"build"},{"distribution":"prefix","implementation":"Native","iqr_ns":10.99395751953125,"median_ns":120.1934814453125,"n":4096,"q1_ns":116.32537841796875,"q3_ns":127.3193359375,"samples":21,"workload":"build"},{"distribution":"prefix","implementation":"CJR","iqr_ns":1.3275146484375,"median_ns":5.1116943359375,"n":4096,"q1_ns":4.730224609375,"q3_ns":6.0577392578125,"samples":21,"workload":"empty"},{"distribution":"prefix","implementation":"Flat","iqr_ns":363.037109375,"median_ns":5158.203125,"n":4096,"q1_ns":4857.177734375,"q3_ns":5220.21484375,"samples":21,"workload":"empty"},{"distribution":"prefix","implementation":"Native","iqr_ns":1.068115234375,"median_ns":5.3558349609375,"n":4096,"q1_ns":4.730224609375,"q3_ns":5.79833984375,"samples":21,"workload":"empty"},{"distribution":"prefix","implementation":"CJR","iqr_ns":10.43701171875,"median_ns":111.55319213867188,"n":4096,"q1_ns":102.63442993164062,"q3_ns":113.07144165039062,"samples":21,"workload":"hits"},{"distribution":"prefix","implementation":"Flat","iqr_ns":13.51165771484375,"median_ns":149.07073974609375,"n":4096,"q1_ns":136.34872436523438,"q3_ns":149.86038208007812,"samples":21,"workload":"hits"},{"distribution":"prefix","implementation":"Native","iqr_ns":7.312774658203125,"median_ns":96.58050537109375,"n":4096,"q1_ns":90.10696411132812,"q3_ns":97.41973876953125,"samples":21,"workload":"hits"},{"distribution":"prefix","implementation":"CJR","iqr_ns":0.1424551010131836,"median_ns":2.924680709838867,"n":4096,"q1_ns":2.7965307235717773,"q3_ns":2.938985824584961,"samples":21,"workload":"misses"},{"distribution":"prefix","implementation":"Flat","iqr_ns":33.355712890625,"median_ns":313.94195556640625,"n":4096,"q1_ns":283.0047607421875,"q3_ns":316.3604736328125,"samples":21,"workload":"misses"},{"distribution":"prefix","implementation":"Native","iqr_ns":0.13887882232666016,"median_ns":2.9141902923583984,"n":4096,"q1_ns":2.858281135559082,"q3_ns":2.997159957885742,"samples":21,"workload":"misses"},{"distribution":"prefix","implementation":"CJR","iqr_ns":90.8203125,"median_ns":2199.21875,"n":4096,"q1_ns":2138.671875,"q3_ns":2229.4921875,"samples":21,"workload":"selective"},{"distribution":"prefix","implementation":"Flat","iqr_ns":520.5078125,"median_ns":6438.4765625,"n":4096,"q1_ns":6002.9296875,"q3_ns":6523.4375,"samples":21,"workload":"selective"},{"distribution":"prefix","implementation":"Native","iqr_ns":120.1171875,"median_ns":2291.9921875,"n":4096,"q1_ns":2222.65625,"q3_ns":2342.7734375,"samples":21,"workload":"selective"},{"distribution":"prefix","implementation":"CJR","iqr_ns":2062.5,"median_ns":37281.25,"n":4096,"q1_ns":36468.75,"q3_ns":38531.25,"samples":21,"workload":"whole"},{"distribution":"prefix","implementation":"Flat","iqr_ns":1343.75,"median_ns":22906.25,"n":4096,"q1_ns":22562.5,"q3_ns":23906.25,"samples":21,"workload":"whole"},{"distribution":"prefix","implementation":"Native","iqr_ns":2359.375,"median_ns":42406.25,"n":4096,"q1_ns":41484.375,"q3_ns":43843.75,"samples":21,"workload":"whole"},{"distribution":"uniform","implementation":"CJR","iqr_ns":19142.857142857145,"median_ns":130785.71428571429,"n":16384,"q1_ns":126142.85714285714,"q3_ns":145285.7142857143,"samples":21,"workload":"broad"},{"distribution":"uniform","implementation":"Flat","iqr_ns":10214.285714285717,"median_ns":60857.142857142855,"n":16384,"q1_ns":52357.142857142855,"q3_ns":62571.42857142857,"samples":21,"workload":"broad"},{"distribution":"uniform","implementation":"Native","iqr_ns":45607.14285714284,"median_ns":200428.57142857142,"n":16384,"q1_ns":186607.14285714287,"q3_ns":232214.2857142857,"samples":21,"workload":"broad"},{"distribution":"uniform","implementation":"CJR","iqr_ns":93.60122680664062,"median_ns":82.14569091796875,"n":16384,"q1_ns":74.15771484375,"q3_ns":167.75894165039062,"samples":21,"workload":"build"},{"distribution":"uniform","implementation":"Flat","iqr_ns":7.442474365234375,"median_ns":30.704498291015625,"n":16384,"q1_ns":30.216217041015625,"q3_ns":37.65869140625,"samples":21,"workload":"build"},{"distribution":"uniform","implementation":"Native","iqr_ns":110.076904296875,"median_ns":146.575927734375,"n":16384,"q1_ns":124.3896484375,"q3_ns":234.466552734375,"samples":21,"workload":"build"},{"distribution":"uniform","implementation":"CJR","iqr_ns":2.166748046875,"median_ns":5.9661865234375,"n":16384,"q1_ns":5.2337646484375,"q3_ns":7.4005126953125,"samples":21,"workload":"empty"},{"distribution":"uniform","implementation":"Flat","iqr_ns":1622.0703125,"median_ns":20668.9453125,"n":16384,"q1_ns":19374.0234375,"q3_ns":20996.09375,"samples":21,"workload":"empty"},{"distribution":"uniform","implementation":"Native","iqr_ns":0.8544921875,"median_ns":6.134033203125,"n":16384,"q1_ns":5.8441162109375,"q3_ns":6.6986083984375,"samples":21,"workload":"empty"},{"distribution":"uniform","implementation":"CJR","iqr_ns":2.742767333984375,"median_ns":47.86109924316406,"n":16384,"q1_ns":46.352386474609375,"q3_ns":49.09515380859375,"samples":21,"workload":"hits"},{"distribution":"uniform","implementation":"Flat","iqr_ns":0.4329681396484375,"median_ns":6.046533584594727,"n":16384,"q1_ns":5.898714065551758,"q3_ns":6.331682205200195,"samples":21,"workload":"hits"},{"distribution":"uniform","implementation":"Native","iqr_ns":3.1757354736328125,"median_ns":51.15509033203125,"n":16384,"q1_ns":49.22294616699219,"q3_ns":52.398681640625,"samples":21,"workload":"hits"},{"distribution":"uniform","implementation":"CJR","iqr_ns":5.171775817871094,"median_ns":40.363311767578125,"n":16384,"q1_ns":37.28961944580078,"q3_ns":42.461395263671875,"samples":21,"workload":"misses"},{"distribution":"uniform","implementation":"Flat","iqr_ns":0.8544921875,"median_ns":8.529901504516602,"n":16384,"q1_ns":8.029937744140625,"q3_ns":8.884429931640625,"samples":21,"workload":"misses"},{"distribution":"uniform","implementation":"Native","iqr_ns":4.3697357177734375,"median_ns":45.80116271972656,"n":16384,"q1_ns":43.41888427734375,"q3_ns":47.78861999511719,"samples":21,"workload":"misses"},{"distribution":"uniform","implementation":"CJR","iqr_ns":316.73306772908336,"median_ns":2858.565737051793,"n":16384,"q1_ns":2718.1274900398407,"q3_ns":3034.860557768924,"samples":21,"workload":"selective"},{"distribution":"uniform","implementation":"Flat","iqr_ns":1788.8446215139447,"median_ns":23373.505976095617,"n":16384,"q1_ns":22422.31075697211,"q3_ns":24211.155378486055,"samples":21,"workload":"selective"},{"distribution":"uniform","implementation":"Native","iqr_ns":418.3266932270917,"median_ns":3236.0557768924305,"n":16384,"q1_ns":2891.434262948207,"q3_ns":3309.760956175299,"samples":21,"workload":"selective"},{"distribution":"uniform","implementation":"CJR","iqr_ns":50125,"median_ns":317625,"n":16384,"q1_ns":291812.5,"q3_ns":341937.5,"samples":21,"workload":"whole"},{"distribution":"uniform","implementation":"Flat","iqr_ns":4375,"median_ns":92312.5,"n":16384,"q1_ns":89750,"q3_ns":94125,"samples":21,"workload":"whole"},{"distribution":"uniform","implementation":"Native","iqr_ns":61000,"median_ns":470375,"n":16384,"q1_ns":430562.5,"q3_ns":491562.5,"samples":21,"workload":"whole"},{"distribution":"uniform","implementation":"CJR","iqr_ns":260.4408352668213,"median_ns":1582.9466357308584,"n":256,"q1_ns":1417.0533642691416,"q3_ns":1677.494199535963,"samples":21,"workload":"broad"},{"distribution":"uniform","implementation":"Flat","iqr_ns":120.64965197215781,"median_ns":945.475638051044,"n":256,"q1_ns":903.1322505800464,"q3_ns":1023.7819025522042,"samples":21,"workload":"broad"},{"distribution":"uniform","implementation":"Native","iqr_ns":172.8538283062644,"median_ns":1656.6125290023201,"n":256,"q1_ns":1593.9675174013921,"q3_ns":1766.8213457076565,"samples":21,"workload":"broad"},{"distribution":"uniform","implementation":"CJR","iqr_ns":3.459930419921875,"median_ns":45.09735107421875,"n":256,"q1_ns":42.179107666015625,"q3_ns":45.6390380859375,"samples":21,"workload":"build"},{"distribution":"uniform","implementation":"Flat","iqr_ns":3.726959228515625,"median_ns":24.8870849609375,"n":256,"q1_ns":23.56719970703125,"q3_ns":27.294158935546875,"samples":21,"workload":"build"},{"distribution":"uniform","implementation":"Native","iqr_ns":65.8111572265625,"median_ns":111.52267456054688,"n":256,"q1_ns":78.06396484375,"q3_ns":143.8751220703125,"samples":21,"workload":"build"},{"distribution":"uniform","implementation":"CJR","iqr_ns":0.8392333984375,"median_ns":5.859375,"n":256,"q1_ns":5.6304931640625,"q3_ns":6.4697265625,"samples":21,"workload":"empty"},{"distribution":"uniform","implementation":"Flat","iqr_ns":19.6533203125,"median_ns":325.6988525390625,"n":256,"q1_ns":315.1397705078125,"q3_ns":334.7930908203125,"samples":21,"workload":"empty"},{"distribution":"uniform","implementation":"Native","iqr_ns":0.701904296875,"median_ns":5.79833984375,"n":256,"q1_ns":5.5389404296875,"q3_ns":6.2408447265625,"samples":21,"workload":"empty"},{"distribution":"uniform","implementation":"CJR","iqr_ns":0.6947517395019531,"median_ns":12.033462524414062,"n":256,"q1_ns":11.473655700683594,"q3_ns":12.168407440185547,"samples":21,"workload":"hits"},{"distribution":"uniform","implementation":"Flat","iqr_ns":0.28526782989501953,"median_ns":4.186153411865234,"n":256,"q1_ns":4.065275192260742,"q3_ns":4.350543022155762,"samples":21,"workload":"hits"},{"distribution":"uniform","implementation":"Native","iqr_ns":2.9997825622558594,"median_ns":10.225296020507812,"n":256,"q1_ns":9.854316711425781,"q3_ns":12.85409927368164,"samples":21,"workload":"hits"},{"distribution":"uniform","implementation":"CJR","iqr_ns":0.5087852478027344,"median_ns":8.947372436523438,"n":256,"q1_ns":8.579254150390625,"q3_ns":9.08803939819336,"samples":21,"workload":"misses"},{"distribution":"uniform","implementation":"Flat","iqr_ns":0.31697750091552734,"median_ns":4.395008087158203,"n":256,"q1_ns":4.348516464233398,"q3_ns":4.665493965148926,"samples":21,"workload":"misses"},{"distribution":"uniform","implementation":"Native","iqr_ns":0.4475116729736328,"median_ns":7.833957672119141,"n":256,"q1_ns":7.620334625244141,"q3_ns":8.067846298217773,"samples":21,"workload":"misses"},{"distribution":"uniform","implementation":"CJR","iqr_ns":6.8359375,"median_ns":64.1632080078125,"n":256,"q1_ns":60.0433349609375,"q3_ns":66.8792724609375,"samples":21,"workload":"selective"},{"distribution":"uniform","implementation":"Flat","iqr_ns":27.6031494140625,"median_ns":338.6688232421875,"n":256,"q1_ns":318.328857421875,"q3_ns":345.9320068359375,"samples":21,"workload":"selective"},{"distribution":"uniform","implementation":"Native","iqr_ns":6.4239501953125,"median_ns":62.6983642578125,"n":256,"q1_ns":58.1817626953125,"q3_ns":64.605712890625,"samples":21,"workload":"selective"},{"distribution":"uniform","implementation":"CJR","iqr_ns":148.4375,"median_ns":2666.9921875,"n":256,"q1_ns":2627.9296875,"q3_ns":2776.3671875,"samples":21,"workload":"whole"},{"distribution":"uniform","implementation":"Flat","iqr_ns":61.5234375,"median_ns":1370.1171875,"n":256,"q1_ns":1352.5390625,"q3_ns":1414.0625,"samples":21,"workload":"whole"},{"distribution":"uniform","implementation":"Native","iqr_ns":88.8671875,"median_ns":2847.65625,"n":256,"q1_ns":2811.5234375,"q3_ns":2900.390625,"samples":21,"workload":"whole"},{"distribution":"uniform","implementation":"CJR","iqr_ns":2578.9473684210534,"median_ns":27807.01754385965,"n":4096,"q1_ns":26482.456140350878,"q3_ns":29061.40350877193,"samples":21,"workload":"broad"},{"distribution":"uniform","implementation":"Flat","iqr_ns":3921.0526315789484,"median_ns":14026.315789473685,"n":4096,"q1_ns":10956.140350877193,"q3_ns":14877.192982456141,"samples":21,"workload":"broad"},{"distribution":"uniform","implementation":"Native","iqr_ns":5552.6315789473665,"median_ns":37710.52631578947,"n":4096,"q1_ns":35017.54385964912,"q3_ns":40570.17543859649,"samples":21,"workload":"broad"},{"distribution":"uniform","implementation":"CJR","iqr_ns":49.69024658203125,"median_ns":70.21331787109375,"n":4096,"q1_ns":65.765380859375,"q3_ns":115.45562744140625,"samples":21,"workload":"build"},{"distribution":"uniform","implementation":"Flat","iqr_ns":45.7305908203125,"median_ns":29.54864501953125,"n":4096,"q1_ns":29.125213623046875,"q3_ns":74.85580444335938,"samples":21,"workload":"build"},{"distribution":"uniform","implementation":"Native","iqr_ns":63.732147216796875,"median_ns":152.8472900390625,"n":4096,"q1_ns":96.19140625,"q3_ns":159.92355346679688,"samples":21,"workload":"build"},{"distribution":"uniform","implementation":"CJR","iqr_ns":1.4495849609375,"median_ns":5.9051513671875,"n":4096,"q1_ns":5.096435546875,"q3_ns":6.5460205078125,"samples":21,"workload":"empty"},{"distribution":"uniform","implementation":"Flat","iqr_ns":397.8271484375,"median_ns":4935.546875,"n":4096,"q1_ns":4815.3076171875,"q3_ns":5213.134765625,"samples":21,"workload":"empty"},{"distribution":"uniform","implementation":"Native","iqr_ns":1.251220703125,"median_ns":5.706787109375,"n":4096,"q1_ns":4.7760009765625,"q3_ns":6.0272216796875,"samples":21,"workload":"empty"},{"distribution":"uniform","implementation":"CJR","iqr_ns":3.9997100830078125,"median_ns":28.76567840576172,"n":4096,"q1_ns":27.04906463623047,"q3_ns":31.04877471923828,"samples":21,"workload":"hits"},{"distribution":"uniform","implementation":"Flat","iqr_ns":0.2224445343017578,"median_ns":5.059719085693359,"n":4096,"q1_ns":4.954099655151367,"q3_ns":5.176544189453125,"samples":21,"workload":"hits"},{"distribution":"uniform","implementation":"Native","iqr_ns":6.1893463134765625,"median_ns":34.073829650878906,"n":4096,"q1_ns":31.475067138671875,"q3_ns":37.66441345214844,"samples":21,"workload":"hits"},{"distribution":"uniform","implementation":"CJR","iqr_ns":1.5416145324707031,"median_ns":18.851280212402344,"n":4096,"q1_ns":18.06020736694336,"q3_ns":19.601821899414062,"samples":21,"workload":"misses"},{"distribution":"uniform","implementation":"Flat","iqr_ns":0.8227825164794922,"median_ns":6.210088729858398,"n":4096,"q1_ns":5.986928939819336,"q3_ns":6.809711456298828,"samples":21,"workload":"misses"},{"distribution":"uniform","implementation":"Native","iqr_ns":5.756378173828125,"median_ns":29.122352600097656,"n":4096,"q1_ns":25.758743286132812,"q3_ns":31.515121459960938,"samples":21,"workload":"misses"},{"distribution":"uniform","implementation":"CJR","iqr_ns":76.9230769230769,"median_ns":735.1648351648352,"n":4096,"q1_ns":714.5604395604396,"q3_ns":791.4835164835165,"samples":21,"workload":"selective"},{"distribution":"uniform","implementation":"Flat","iqr_ns":367.8571428571422,"median_ns":5745.32967032967,"n":4096,"q1_ns":5508.791208791209,"q3_ns":5876.648351648351,"samples":21,"workload":"selective"},{"distribution":"uniform","implementation":"Native","iqr_ns":107.96703296703299,"median_ns":789.2857142857143,"n":4096,"q1_ns":737.9120879120879,"q3_ns":845.8791208791209,"samples":21,"workload":"selective"},{"distribution":"uniform","implementation":"CJR","iqr_ns":1781.25,"median_ns":53515.625,"n":4096,"q1_ns":52703.125,"q3_ns":54484.375,"samples":21,"workload":"whole"},{"distribution":"uniform","implementation":"Flat","iqr_ns":1718.75,"median_ns":22671.875,"n":4096,"q1_ns":22015.625,"q3_ns":23734.375,"samples":21,"workload":"whole"},{"distribution":"uniform","implementation":"Native","iqr_ns":3390.625,"median_ns":70640.625,"n":4096,"q1_ns":69156.25,"q3_ns":72546.875,"samples":21,"workload":"whole"}]</a:t>
            </a:r>
          </a:p>
          <a:p xmlns:a="http://schemas.openxmlformats.org/drawingml/2006/main">
            <a:r>
              <a:t>Compiler: Cangjie Compiler: 1.0.5 (cjnative)</a:t>
            </a:r>
          </a:p>
          <a:p xmlns:a="http://schemas.openxmlformats.org/drawingml/2006/main">
            <a:r>
              <a:t>Target: aarch64-apple-darwin</a:t>
            </a:r>
          </a:p>
          <a:p xmlns:a="http://schemas.openxmlformats.org/drawingml/2006/main">
            <a:r>
              <a:t>Machine: {"machine":"arm64","node":"Dans-Mac-mini.local","processor":"arm","release":"25.6.0","system":"Darwin","version":"Darwin Kernel Version 25.6.0: Fri Jul 31 19:11:03 PDT 2026; root:xnu-12377.161.14~5/RELEASE_ARM64_T8132"}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side is the actual declaration from the reversal source, with line wrapping adjusted and its enclosing typeclass context described in the notes. The right side is a screenshot of the existing Rocq-readable page. The tool parses source through coq-lsp and renders the concrete AST without the proof script. It retains binders, assumptions, scope and logical distinctions, and links resolved declarations. It does not unfold every predicate or reconstruct a complete compilable program. English explanations are visibly labelled AI-generated.</a:t>
            </a:r>
          </a:p>
          <a:p xmlns:a="http://schemas.openxmlformats.org/drawingml/2006/main">
            <a:r>
              <a:t/>
            </a:r>
          </a:p>
          <a:p xmlns:a="http://schemas.openxmlformats.org/drawingml/2006/main">
            <a:r>
              <a:t>Sources</a:t>
            </a:r>
          </a:p>
          <a:p xmlns:a="http://schemas.openxmlformats.org/drawingml/2006/main">
            <a:r>
              <a:t>Repository source: example/list_rev/rocq/list_rev.v</a:t>
            </a:r>
          </a:p>
          <a:p xmlns:a="http://schemas.openxmlformats.org/drawingml/2006/main">
            <a:r>
              <a:t>Repository source: example/list_rev/docs/rocq/rocq/list_rev.html</a:t>
            </a:r>
          </a:p>
          <a:p xmlns:a="http://schemas.openxmlformats.org/drawingml/2006/main">
            <a:r>
              <a:t>Repository source: tools/rocq_readable/README.md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the existing dependency homepage. The hierarchy and offline graph link to declarations and their dependencies. Dependency discovery is not a complete proof-term dependency analysis: fresh .glob data improves resolution, but implicitly discovered tactic dependencies can remain incomplete. The renderer’s output and English descriptions are not formally verified translations. Cached explanations may be reused offline. No new model-generated explanations are needed to build this deck.</a:t>
            </a:r>
          </a:p>
          <a:p xmlns:a="http://schemas.openxmlformats.org/drawingml/2006/main">
            <a:r>
              <a:t/>
            </a:r>
          </a:p>
          <a:p xmlns:a="http://schemas.openxmlformats.org/drawingml/2006/main">
            <a:r>
              <a:t>Sources</a:t>
            </a:r>
          </a:p>
          <a:p xmlns:a="http://schemas.openxmlformats.org/drawingml/2006/main">
            <a:r>
              <a:t>Repository source: example/list_rev/docs/rocq/index.html</a:t>
            </a:r>
          </a:p>
          <a:p xmlns:a="http://schemas.openxmlformats.org/drawingml/2006/main">
            <a:r>
              <a:t>Repository source: tools/rocq_readable/README.md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770d20e08a47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918517b05341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500739b3b34a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d04d7d375d4e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e68b92850243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8ab3bd2bc94a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96F4CD-065D-4F21-BAFB-BB23E1A02B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082A29-F482-46C9-B86D-8AE208924EC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D33EC1-EBDC-43EC-8F10-9A9EA2EBFE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B6415A-1628-4199-BF43-B71C98FB83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0C02EE-3075-4751-BE71-03B5BE2C9C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6B049F-043C-42F4-BE5F-AB4EC5B9B3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88E63C-1AC0-496F-8453-2BCA19B012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752061-A06E-4B69-A9D5-E20ADD378C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CCFC93-84EF-42AC-A9CD-17B8C6C4F1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2DB03F-0054-412C-A42C-86F41237F9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7c8652cbed45d5" /><Relationship Type="http://schemas.openxmlformats.org/officeDocument/2006/relationships/slideLayout" Target="/ppt/slideLayouts/slideLayout1.xml" Id="R8e2a5697d2a04b44" /><Relationship Type="http://schemas.openxmlformats.org/officeDocument/2006/relationships/slideLayout" Target="/ppt/slideLayouts/slideLayout2.xml" Id="R83fd24eb1a9f44fb" /><Relationship Type="http://schemas.openxmlformats.org/officeDocument/2006/relationships/slideLayout" Target="/ppt/slideLayouts/slideLayout3.xml" Id="R81ebd56011444fd3" /><Relationship Type="http://schemas.openxmlformats.org/officeDocument/2006/relationships/slideLayout" Target="/ppt/slideLayouts/slideLayout4.xml" Id="Rbdc5d4acc641447a" /><Relationship Type="http://schemas.openxmlformats.org/officeDocument/2006/relationships/slideLayout" Target="/ppt/slideLayouts/slideLayout5.xml" Id="R6db892a3c2c64f4c" /><Relationship Type="http://schemas.openxmlformats.org/officeDocument/2006/relationships/slideLayout" Target="/ppt/slideLayouts/slideLayout6.xml" Id="R328cf5a38b804a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2a5697d2a04b44"/>
    <p:sldLayoutId xmlns:r="http://schemas.openxmlformats.org/officeDocument/2006/relationships" id="2147483650" r:id="R83fd24eb1a9f44fb"/>
    <p:sldLayoutId xmlns:r="http://schemas.openxmlformats.org/officeDocument/2006/relationships" id="2147483651" r:id="R81ebd56011444fd3"/>
    <p:sldLayoutId xmlns:r="http://schemas.openxmlformats.org/officeDocument/2006/relationships" id="2147483652" r:id="Rbdc5d4acc641447a"/>
    <p:sldLayoutId xmlns:r="http://schemas.openxmlformats.org/officeDocument/2006/relationships" id="2147483653" r:id="R6db892a3c2c64f4c"/>
    <p:sldLayoutId xmlns:r="http://schemas.openxmlformats.org/officeDocument/2006/relationships" id="2147483654" r:id="R328cf5a38b804a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8099931f28418f" /><Relationship Type="http://schemas.openxmlformats.org/officeDocument/2006/relationships/notesSlide" Target="/ppt/notesSlides/notesSlide1.xml" Id="R329e95304cdc4e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1dd59c2783e4ed1" /><Relationship Type="http://schemas.openxmlformats.org/officeDocument/2006/relationships/notesSlide" Target="/ppt/notesSlides/notesSlide2.xml" Id="R4aab640976454a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1c54d05bc684208" /><Relationship Type="http://schemas.openxmlformats.org/officeDocument/2006/relationships/notesSlide" Target="/ppt/notesSlides/notesSlide3.xml" Id="Rf564f44b722c42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3d3ee856054ed4" /><Relationship Type="http://schemas.openxmlformats.org/officeDocument/2006/relationships/notesSlide" Target="/ppt/notesSlides/notesSlide4.xml" Id="R7616c4cd38724a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c67e7f590d54771" /><Relationship Type="http://schemas.openxmlformats.org/officeDocument/2006/relationships/notesSlide" Target="/ppt/notesSlides/notesSlide5.xml" Id="R09717bd25a4f49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a10b7fdd62246b8" /><Relationship Type="http://schemas.openxmlformats.org/officeDocument/2006/relationships/notesSlide" Target="/ppt/notesSlides/notesSlide6.xml" Id="R0671258d9a2240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d78b65a7fa435e" /><Relationship Type="http://schemas.openxmlformats.org/officeDocument/2006/relationships/notesSlide" Target="/ppt/notesSlides/notesSlide7.xml" Id="R74b0af923f844a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05335181e7d4fe9" /><Relationship Type="http://schemas.openxmlformats.org/officeDocument/2006/relationships/notesSlide" Target="/ppt/notesSlides/notesSlide8.xml" Id="R9df1bd2577ea4f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8932a55656340d4" /><Relationship Type="http://schemas.openxmlformats.org/officeDocument/2006/relationships/notesSlide" Target="/ppt/notesSlides/notesSlide9.xml" Id="R94335b70f98a49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77414634d34d28" /><Relationship Type="http://schemas.openxmlformats.org/officeDocument/2006/relationships/notesSlide" Target="/ppt/notesSlides/notesSlide10.xml" Id="R9563770b79ab4b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a2135de9d64f8c" /><Relationship Type="http://schemas.openxmlformats.org/officeDocument/2006/relationships/notesSlide" Target="/ppt/notesSlides/notesSlide11.xml" Id="Rae30278c4a964c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77df0f1d031481d" /><Relationship Type="http://schemas.openxmlformats.org/officeDocument/2006/relationships/notesSlide" Target="/ppt/notesSlides/notesSlide12.xml" Id="Rba391448edca49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e4d7c9697f649d9" /><Relationship Type="http://schemas.openxmlformats.org/officeDocument/2006/relationships/notesSlide" Target="/ppt/notesSlides/notesSlide13.xml" Id="Re3cde6cf19ac4f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52adecf77934f0d" /><Relationship Type="http://schemas.openxmlformats.org/officeDocument/2006/relationships/notesSlide" Target="/ppt/notesSlides/notesSlide14.xml" Id="R2ed01b33edfe48e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a0756d2ed094d8f" /><Relationship Type="http://schemas.openxmlformats.org/officeDocument/2006/relationships/notesSlide" Target="/ppt/notesSlides/notesSlide15.xml" Id="R2b73a76c359b4e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90cf7d399ad448e" /><Relationship Type="http://schemas.openxmlformats.org/officeDocument/2006/relationships/notesSlide" Target="/ppt/notesSlides/notesSlide16.xml" Id="R84246fc9e97e44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c27aaa930a34b34" /><Relationship Type="http://schemas.openxmlformats.org/officeDocument/2006/relationships/notesSlide" Target="/ppt/notesSlides/notesSlide17.xml" Id="R8f8a317c5572433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884f5a259454836" /><Relationship Type="http://schemas.openxmlformats.org/officeDocument/2006/relationships/notesSlide" Target="/ppt/notesSlides/notesSlide18.xml" Id="R8f52cd3b84c740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f5d3feb585d453d" /><Relationship Type="http://schemas.openxmlformats.org/officeDocument/2006/relationships/notesSlide" Target="/ppt/notesSlides/notesSlide19.xml" Id="R5723c2f7744a46b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d29d1a563f34e7a" /><Relationship Type="http://schemas.openxmlformats.org/officeDocument/2006/relationships/chart" Target="/ppt/slides/charts/chart1.xml" Id="Rd99e88cd8da340fc" /><Relationship Type="http://schemas.openxmlformats.org/officeDocument/2006/relationships/chart" Target="/ppt/slides/charts/chart2.xml" Id="R7e8f35752b234695" /><Relationship Type="http://schemas.openxmlformats.org/officeDocument/2006/relationships/notesSlide" Target="/ppt/notesSlides/notesSlide20.xml" Id="Rb1a86c3c2c5146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88b5f6ab4b64a2e" /><Relationship Type="http://schemas.openxmlformats.org/officeDocument/2006/relationships/notesSlide" Target="/ppt/notesSlides/notesSlide21.xml" Id="R94e568f40f6644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680b3ab2fce403b" /><Relationship Type="http://schemas.openxmlformats.org/officeDocument/2006/relationships/chart" Target="/ppt/slides/charts/chart3.xml" Id="R976cb8f14683465a" /><Relationship Type="http://schemas.openxmlformats.org/officeDocument/2006/relationships/notesSlide" Target="/ppt/notesSlides/notesSlide22.xml" Id="R3507821930ed456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0d1f931505844f6" /><Relationship Type="http://schemas.openxmlformats.org/officeDocument/2006/relationships/notesSlide" Target="/ppt/notesSlides/notesSlide23.xml" Id="R5a8973ec0c744eb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efdba97cb054580" /><Relationship Type="http://schemas.openxmlformats.org/officeDocument/2006/relationships/chart" Target="/ppt/slides/charts/chart4.xml" Id="Rcb65e24a05274ce8" /><Relationship Type="http://schemas.openxmlformats.org/officeDocument/2006/relationships/chart" Target="/ppt/slides/charts/chart5.xml" Id="R45e29fa7fb60473a" /><Relationship Type="http://schemas.openxmlformats.org/officeDocument/2006/relationships/notesSlide" Target="/ppt/notesSlides/notesSlide24.xml" Id="R8bb3d5acc18247e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32cd56442ad46fa" /><Relationship Type="http://schemas.openxmlformats.org/officeDocument/2006/relationships/notesSlide" Target="/ppt/notesSlides/notesSlide25.xml" Id="R1d1ea859360e43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20f7ef7538c48a1" /><Relationship Type="http://schemas.openxmlformats.org/officeDocument/2006/relationships/chart" Target="/ppt/slides/charts/chart6.xml" Id="R001dd7f420c645d4" /><Relationship Type="http://schemas.openxmlformats.org/officeDocument/2006/relationships/notesSlide" Target="/ppt/notesSlides/notesSlide26.xml" Id="R14c33693b07941c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1cabe96fc2a4fc3" /><Relationship Type="http://schemas.openxmlformats.org/officeDocument/2006/relationships/image" Target="/ppt/media/image.png" Id="R2fa8efd02ba249f6" /><Relationship Type="http://schemas.openxmlformats.org/officeDocument/2006/relationships/notesSlide" Target="/ppt/notesSlides/notesSlide27.xml" Id="R73de5935efe14b5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b6177fcce234d2c" /><Relationship Type="http://schemas.openxmlformats.org/officeDocument/2006/relationships/image" Target="/ppt/media/image2.png" Id="Ra7ee17ee0fbe4deb" /><Relationship Type="http://schemas.openxmlformats.org/officeDocument/2006/relationships/notesSlide" Target="/ppt/notesSlides/notesSlide28.xml" Id="R61e6890f31c8400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53345"/>
                </a:solidFill>
                <a:latin typeface="Arial"/>
                <a:ea typeface="Arial"/>
                <a:cs typeface="Arial"/>
              </a:rPr>
              <a:t>Traversal</a:t>
            </a:r>
          </a:p>
        </c:rich>
      </c:tx>
      <c:overlay val="0"/>
      <c:txPr>
        <a:bodyPr xmlns:a="http://schemas.openxmlformats.org/drawingml/2006/main" anchorCtr="1"/>
        <a:lstStyle xmlns:a="http://schemas.openxmlformats.org/drawingml/2006/main"/>
        <a:p xmlns:a="http://schemas.openxmlformats.org/drawingml/2006/main">
          <a:pPr>
            <a:defRPr sz="1800" b="1">
              <a:solidFill>
                <a:srgbClr val="253345"/>
              </a:solidFill>
              <a:latin typeface="Arial"/>
              <a:ea typeface="Arial"/>
              <a:cs typeface="Arial"/>
            </a:defRPr>
          </a:pPr>
        </a:p>
      </c:txPr>
    </c:title>
    <c:plotArea>
      <c:barChart>
        <c:barDir val="col"/>
        <c:grouping val="clustered"/>
        <c:varyColors val="0"/>
        <c:ser>
          <c:idx val="0"/>
          <c:order val="0"/>
          <c:tx>
            <c:v>CJR</c:v>
          </c:tx>
          <c:spPr>
            <a:solidFill xmlns:a="http://schemas.openxmlformats.org/drawingml/2006/main">
              <a:srgbClr val="245C9D"/>
            </a:solidFill>
          </c:spPr>
          <c:cat>
            <c:numRef>
              <c:f>'Chart Data'!$A$2:$A$4</c:f>
              <c:numCache>
                <c:formatCode>General</c:formatCode>
                <c:ptCount val="3"/>
                <c:pt idx="0">
                  <c:v>256</c:v>
                </c:pt>
                <c:pt idx="1">
                  <c:v>4096</c:v>
                </c:pt>
                <c:pt idx="2">
                  <c:v>16384</c:v>
                </c:pt>
              </c:numCache>
            </c:numRef>
          </c:cat>
          <c:val>
            <c:numRef>
              <c:f>'Chart Data'!$B$2:$B$4</c:f>
              <c:numCache>
                <c:formatCode>0.0</c:formatCode>
                <c:ptCount val="3"/>
                <c:pt idx="0">
                  <c:v>1.85710191727</c:v>
                </c:pt>
                <c:pt idx="1">
                  <c:v>1.89810991287</c:v>
                </c:pt>
                <c:pt idx="2">
                  <c:v>1.88887119293</c:v>
                </c:pt>
              </c:numCache>
            </c:numRef>
          </c:val>
        </c:ser>
        <c:ser>
          <c:idx val="1"/>
          <c:order val="1"/>
          <c:tx>
            <c:v>Std LinkedList</c:v>
          </c:tx>
          <c:spPr>
            <a:solidFill xmlns:a="http://schemas.openxmlformats.org/drawingml/2006/main">
              <a:srgbClr val="6F889E"/>
            </a:solidFill>
          </c:spPr>
          <c:cat>
            <c:numRef>
              <c:f>'Chart Data'!$C$2:$C$4</c:f>
              <c:numCache>
                <c:formatCode>General</c:formatCode>
                <c:ptCount val="3"/>
                <c:pt idx="0">
                  <c:v>256</c:v>
                </c:pt>
                <c:pt idx="1">
                  <c:v>4096</c:v>
                </c:pt>
                <c:pt idx="2">
                  <c:v>16384</c:v>
                </c:pt>
              </c:numCache>
            </c:numRef>
          </c:cat>
          <c:val>
            <c:numRef>
              <c:f>'Chart Data'!$D$2:$D$4</c:f>
              <c:numCache>
                <c:formatCode>0.0</c:formatCode>
                <c:ptCount val="3"/>
                <c:pt idx="0">
                  <c:v>2.26849317551</c:v>
                </c:pt>
                <c:pt idx="1">
                  <c:v>2.27773189545</c:v>
                </c:pt>
                <c:pt idx="2">
                  <c:v>2.25657224655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EABBA"/>
            </a:solidFill>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FE5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ns / element</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53345"/>
                </a:solidFill>
                <a:latin typeface="Arial"/>
                <a:ea typeface="Arial"/>
                <a:cs typeface="Arial"/>
              </a:rPr>
              <a:t>Build and scan</a:t>
            </a:r>
          </a:p>
        </c:rich>
      </c:tx>
      <c:overlay val="0"/>
      <c:txPr>
        <a:bodyPr xmlns:a="http://schemas.openxmlformats.org/drawingml/2006/main" anchorCtr="1"/>
        <a:lstStyle xmlns:a="http://schemas.openxmlformats.org/drawingml/2006/main"/>
        <a:p xmlns:a="http://schemas.openxmlformats.org/drawingml/2006/main">
          <a:pPr>
            <a:defRPr sz="1800" b="1">
              <a:solidFill>
                <a:srgbClr val="253345"/>
              </a:solidFill>
              <a:latin typeface="Arial"/>
              <a:ea typeface="Arial"/>
              <a:cs typeface="Arial"/>
            </a:defRPr>
          </a:pPr>
        </a:p>
      </c:txPr>
    </c:title>
    <c:plotArea>
      <c:barChart>
        <c:barDir val="col"/>
        <c:grouping val="clustered"/>
        <c:varyColors val="0"/>
        <c:ser>
          <c:idx val="0"/>
          <c:order val="0"/>
          <c:tx>
            <c:v>CJR</c:v>
          </c:tx>
          <c:spPr>
            <a:solidFill xmlns:a="http://schemas.openxmlformats.org/drawingml/2006/main">
              <a:srgbClr val="245C9D"/>
            </a:solidFill>
          </c:spPr>
          <c:cat>
            <c:numRef>
              <c:f>'Chart Data'!$A$2:$A$4</c:f>
              <c:numCache>
                <c:formatCode>General</c:formatCode>
                <c:ptCount val="3"/>
                <c:pt idx="0">
                  <c:v>256</c:v>
                </c:pt>
                <c:pt idx="1">
                  <c:v>4096</c:v>
                </c:pt>
                <c:pt idx="2">
                  <c:v>16384</c:v>
                </c:pt>
              </c:numCache>
            </c:numRef>
          </c:cat>
          <c:val>
            <c:numRef>
              <c:f>'Chart Data'!$B$2:$B$4</c:f>
              <c:numCache>
                <c:formatCode>0.0</c:formatCode>
                <c:ptCount val="3"/>
                <c:pt idx="0">
                  <c:v>4.5166015625</c:v>
                </c:pt>
                <c:pt idx="1">
                  <c:v>4.68063354492</c:v>
                </c:pt>
                <c:pt idx="2">
                  <c:v>4.78363037109</c:v>
                </c:pt>
              </c:numCache>
            </c:numRef>
          </c:val>
        </c:ser>
        <c:ser>
          <c:idx val="1"/>
          <c:order val="1"/>
          <c:tx>
            <c:v>Std LinkedList</c:v>
          </c:tx>
          <c:spPr>
            <a:solidFill xmlns:a="http://schemas.openxmlformats.org/drawingml/2006/main">
              <a:srgbClr val="6F889E"/>
            </a:solidFill>
          </c:spPr>
          <c:cat>
            <c:numRef>
              <c:f>'Chart Data'!$C$2:$C$4</c:f>
              <c:numCache>
                <c:formatCode>General</c:formatCode>
                <c:ptCount val="3"/>
                <c:pt idx="0">
                  <c:v>256</c:v>
                </c:pt>
                <c:pt idx="1">
                  <c:v>4096</c:v>
                </c:pt>
                <c:pt idx="2">
                  <c:v>16384</c:v>
                </c:pt>
              </c:numCache>
            </c:numRef>
          </c:cat>
          <c:val>
            <c:numRef>
              <c:f>'Chart Data'!$D$2:$D$4</c:f>
              <c:numCache>
                <c:formatCode>0.0</c:formatCode>
                <c:ptCount val="3"/>
                <c:pt idx="0">
                  <c:v>15.7089233398</c:v>
                </c:pt>
                <c:pt idx="1">
                  <c:v>16.0484313965</c:v>
                </c:pt>
                <c:pt idx="2">
                  <c:v>15.7890319824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EABBA"/>
            </a:solidFill>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FE5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ns / element</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53345"/>
                </a:solidFill>
                <a:latin typeface="Arial"/>
                <a:ea typeface="Arial"/>
                <a:cs typeface="Arial"/>
              </a:rPr>
              <a:t>Median time per full reversal</a:t>
            </a:r>
          </a:p>
        </c:rich>
      </c:tx>
      <c:overlay val="0"/>
      <c:txPr>
        <a:bodyPr xmlns:a="http://schemas.openxmlformats.org/drawingml/2006/main" anchorCtr="1"/>
        <a:lstStyle xmlns:a="http://schemas.openxmlformats.org/drawingml/2006/main"/>
        <a:p xmlns:a="http://schemas.openxmlformats.org/drawingml/2006/main">
          <a:pPr>
            <a:defRPr sz="1800" b="1">
              <a:solidFill>
                <a:srgbClr val="253345"/>
              </a:solidFill>
              <a:latin typeface="Arial"/>
              <a:ea typeface="Arial"/>
              <a:cs typeface="Arial"/>
            </a:defRPr>
          </a:pPr>
        </a:p>
      </c:txPr>
    </c:title>
    <c:plotArea>
      <c:barChart>
        <c:barDir val="col"/>
        <c:grouping val="clustered"/>
        <c:varyColors val="0"/>
        <c:ser>
          <c:idx val="0"/>
          <c:order val="0"/>
          <c:tx>
            <c:v>CJR</c:v>
          </c:tx>
          <c:spPr>
            <a:solidFill xmlns:a="http://schemas.openxmlformats.org/drawingml/2006/main">
              <a:srgbClr val="245C9D"/>
            </a:solidFill>
          </c:spPr>
          <c:cat>
            <c:numRef>
              <c:f>'Chart Data'!$A$2:$A$4</c:f>
              <c:numCache>
                <c:formatCode>General</c:formatCode>
                <c:ptCount val="3"/>
                <c:pt idx="0">
                  <c:v>256</c:v>
                </c:pt>
                <c:pt idx="1">
                  <c:v>4096</c:v>
                </c:pt>
                <c:pt idx="2">
                  <c:v>16384</c:v>
                </c:pt>
              </c:numCache>
            </c:numRef>
          </c:cat>
          <c:val>
            <c:numRef>
              <c:f>'Chart Data'!$B$2:$B$4</c:f>
              <c:numCache>
                <c:formatCode>0.0</c:formatCode>
                <c:ptCount val="3"/>
                <c:pt idx="0">
                  <c:v>0.443710327148</c:v>
                </c:pt>
                <c:pt idx="1">
                  <c:v>7.86450195313</c:v>
                </c:pt>
                <c:pt idx="2">
                  <c:v>28.451171875</c:v>
                </c:pt>
              </c:numCache>
            </c:numRef>
          </c:val>
        </c:ser>
        <c:ser>
          <c:idx val="1"/>
          <c:order val="1"/>
          <c:tx>
            <c:v>Native</c:v>
          </c:tx>
          <c:spPr>
            <a:solidFill xmlns:a="http://schemas.openxmlformats.org/drawingml/2006/main">
              <a:srgbClr val="6F889E"/>
            </a:solidFill>
          </c:spPr>
          <c:cat>
            <c:numRef>
              <c:f>'Chart Data'!$C$2:$C$4</c:f>
              <c:numCache>
                <c:formatCode>General</c:formatCode>
                <c:ptCount val="3"/>
                <c:pt idx="0">
                  <c:v>256</c:v>
                </c:pt>
                <c:pt idx="1">
                  <c:v>4096</c:v>
                </c:pt>
                <c:pt idx="2">
                  <c:v>16384</c:v>
                </c:pt>
              </c:numCache>
            </c:numRef>
          </c:cat>
          <c:val>
            <c:numRef>
              <c:f>'Chart Data'!$D$2:$D$4</c:f>
              <c:numCache>
                <c:formatCode>0.0</c:formatCode>
                <c:ptCount val="3"/>
                <c:pt idx="0">
                  <c:v>0.192924499512</c:v>
                </c:pt>
                <c:pt idx="1">
                  <c:v>4.318359375</c:v>
                </c:pt>
                <c:pt idx="2">
                  <c:v>18.2021484375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EABBA"/>
            </a:solidFill>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FE5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µs / reversal</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53345"/>
                </a:solidFill>
                <a:latin typeface="Arial"/>
                <a:ea typeface="Arial"/>
                <a:cs typeface="Arial"/>
              </a:rPr>
              <a:t>Regular lookups, n = 16,384</a:t>
            </a:r>
          </a:p>
        </c:rich>
      </c:tx>
      <c:overlay val="0"/>
      <c:txPr>
        <a:bodyPr xmlns:a="http://schemas.openxmlformats.org/drawingml/2006/main" anchorCtr="1"/>
        <a:lstStyle xmlns:a="http://schemas.openxmlformats.org/drawingml/2006/main"/>
        <a:p xmlns:a="http://schemas.openxmlformats.org/drawingml/2006/main">
          <a:pPr>
            <a:defRPr sz="1800" b="1">
              <a:solidFill>
                <a:srgbClr val="253345"/>
              </a:solidFill>
              <a:latin typeface="Arial"/>
              <a:ea typeface="Arial"/>
              <a:cs typeface="Arial"/>
            </a:defRPr>
          </a:pPr>
        </a:p>
      </c:txPr>
    </c:title>
    <c:plotArea>
      <c:barChart>
        <c:barDir val="col"/>
        <c:grouping val="clustered"/>
        <c:varyColors val="0"/>
        <c:ser>
          <c:idx val="0"/>
          <c:order val="0"/>
          <c:tx>
            <c:v>CJR</c:v>
          </c:tx>
          <c:spPr>
            <a:solidFill xmlns:a="http://schemas.openxmlformats.org/drawingml/2006/main">
              <a:srgbClr val="245C9D"/>
            </a:solidFill>
          </c:spPr>
          <c:cat>
            <c:strRef>
              <c:f>'Chart Data'!$A$2:$A$3</c:f>
              <c:strCache>
                <c:ptCount val="2"/>
                <c:pt idx="0">
                  <c:v>Hit</c:v>
                </c:pt>
                <c:pt idx="1">
                  <c:v>Miss</c:v>
                </c:pt>
              </c:strCache>
            </c:strRef>
          </c:cat>
          <c:val>
            <c:numRef>
              <c:f>'Chart Data'!$B$2:$B$3</c:f>
              <c:numCache>
                <c:formatCode>0.0</c:formatCode>
                <c:ptCount val="2"/>
                <c:pt idx="0">
                  <c:v>4.53615188599</c:v>
                </c:pt>
                <c:pt idx="1">
                  <c:v>3.29029560089</c:v>
                </c:pt>
              </c:numCache>
            </c:numRef>
          </c:val>
        </c:ser>
        <c:ser>
          <c:idx val="1"/>
          <c:order val="1"/>
          <c:tx>
            <c:v>Std HashMap</c:v>
          </c:tx>
          <c:spPr>
            <a:solidFill xmlns:a="http://schemas.openxmlformats.org/drawingml/2006/main">
              <a:srgbClr val="6F889E"/>
            </a:solidFill>
          </c:spPr>
          <c:cat>
            <c:strRef>
              <c:f>'Chart Data'!$C$2:$C$3</c:f>
              <c:strCache>
                <c:ptCount val="2"/>
                <c:pt idx="0">
                  <c:v>Hit</c:v>
                </c:pt>
                <c:pt idx="1">
                  <c:v>Miss</c:v>
                </c:pt>
              </c:strCache>
            </c:strRef>
          </c:cat>
          <c:val>
            <c:numRef>
              <c:f>'Chart Data'!$D$2:$D$3</c:f>
              <c:numCache>
                <c:formatCode>0.0</c:formatCode>
                <c:ptCount val="2"/>
                <c:pt idx="0">
                  <c:v>2.38639116287</c:v>
                </c:pt>
                <c:pt idx="1">
                  <c:v>1.75225734711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EABBA"/>
            </a:solidFill>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FE5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ns / lookup</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53345"/>
                </a:solidFill>
                <a:latin typeface="Arial"/>
                <a:ea typeface="Arial"/>
                <a:cs typeface="Arial"/>
              </a:rPr>
              <a:t>Colliding hits, n = 4,096</a:t>
            </a:r>
          </a:p>
        </c:rich>
      </c:tx>
      <c:overlay val="0"/>
      <c:txPr>
        <a:bodyPr xmlns:a="http://schemas.openxmlformats.org/drawingml/2006/main" anchorCtr="1"/>
        <a:lstStyle xmlns:a="http://schemas.openxmlformats.org/drawingml/2006/main"/>
        <a:p xmlns:a="http://schemas.openxmlformats.org/drawingml/2006/main">
          <a:pPr>
            <a:defRPr sz="1800" b="1">
              <a:solidFill>
                <a:srgbClr val="253345"/>
              </a:solidFill>
              <a:latin typeface="Arial"/>
              <a:ea typeface="Arial"/>
              <a:cs typeface="Arial"/>
            </a:defRPr>
          </a:pPr>
        </a:p>
      </c:txPr>
    </c:title>
    <c:plotArea>
      <c:barChart>
        <c:barDir val="col"/>
        <c:grouping val="clustered"/>
        <c:varyColors val="0"/>
        <c:ser>
          <c:idx val="0"/>
          <c:order val="0"/>
          <c:tx>
            <c:v>CJR</c:v>
          </c:tx>
          <c:spPr>
            <a:solidFill xmlns:a="http://schemas.openxmlformats.org/drawingml/2006/main">
              <a:srgbClr val="245C9D"/>
            </a:solidFill>
          </c:spPr>
          <c:cat>
            <c:strRef>
              <c:f>'Chart Data'!$A$2:$A$2</c:f>
              <c:strCache>
                <c:ptCount val="1"/>
                <c:pt idx="0">
                  <c:v>Colliding keys</c:v>
                </c:pt>
              </c:strCache>
            </c:strRef>
          </c:cat>
          <c:val>
            <c:numRef>
              <c:f>'Chart Data'!$B$2:$B$2</c:f>
              <c:numCache>
                <c:formatCode>0.0</c:formatCode>
                <c:ptCount val="1"/>
                <c:pt idx="0">
                  <c:v>3617.43164063</c:v>
                </c:pt>
              </c:numCache>
            </c:numRef>
          </c:val>
        </c:ser>
        <c:ser>
          <c:idx val="1"/>
          <c:order val="1"/>
          <c:tx>
            <c:v>Std HashMap</c:v>
          </c:tx>
          <c:spPr>
            <a:solidFill xmlns:a="http://schemas.openxmlformats.org/drawingml/2006/main">
              <a:srgbClr val="6F889E"/>
            </a:solidFill>
          </c:spPr>
          <c:cat>
            <c:strRef>
              <c:f>'Chart Data'!$C$2:$C$2</c:f>
              <c:strCache>
                <c:ptCount val="1"/>
                <c:pt idx="0">
                  <c:v>Colliding keys</c:v>
                </c:pt>
              </c:strCache>
            </c:strRef>
          </c:cat>
          <c:val>
            <c:numRef>
              <c:f>'Chart Data'!$D$2:$D$2</c:f>
              <c:numCache>
                <c:formatCode>0.0</c:formatCode>
                <c:ptCount val="1"/>
                <c:pt idx="0">
                  <c:v>1050.96435547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EABBA"/>
            </a:solidFill>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FE5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ns / lookup</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53345"/>
                </a:solidFill>
                <a:latin typeface="Arial"/>
                <a:ea typeface="Arial"/>
                <a:cs typeface="Arial"/>
              </a:rPr>
              <a:t>Selective range queries, n = 16,384</a:t>
            </a:r>
          </a:p>
        </c:rich>
      </c:tx>
      <c:overlay val="0"/>
      <c:txPr>
        <a:bodyPr xmlns:a="http://schemas.openxmlformats.org/drawingml/2006/main" anchorCtr="1"/>
        <a:lstStyle xmlns:a="http://schemas.openxmlformats.org/drawingml/2006/main"/>
        <a:p xmlns:a="http://schemas.openxmlformats.org/drawingml/2006/main">
          <a:pPr>
            <a:defRPr sz="1800" b="1">
              <a:solidFill>
                <a:srgbClr val="253345"/>
              </a:solidFill>
              <a:latin typeface="Arial"/>
              <a:ea typeface="Arial"/>
              <a:cs typeface="Arial"/>
            </a:defRPr>
          </a:pPr>
        </a:p>
      </c:txPr>
    </c:title>
    <c:plotArea>
      <c:barChart>
        <c:barDir val="col"/>
        <c:grouping val="clustered"/>
        <c:varyColors val="0"/>
        <c:ser>
          <c:idx val="0"/>
          <c:order val="0"/>
          <c:tx>
            <c:v>CJR</c:v>
          </c:tx>
          <c:spPr>
            <a:solidFill xmlns:a="http://schemas.openxmlformats.org/drawingml/2006/main">
              <a:srgbClr val="245C9D"/>
            </a:solidFill>
          </c:spPr>
          <c:cat>
            <c:strRef>
              <c:f>'Chart Data'!$A$2:$A$4</c:f>
              <c:strCache>
                <c:ptCount val="3"/>
                <c:pt idx="0">
                  <c:v>Uniform</c:v>
                </c:pt>
                <c:pt idx="1">
                  <c:v>Clustered</c:v>
                </c:pt>
                <c:pt idx="2">
                  <c:v>Shared prefix</c:v>
                </c:pt>
              </c:strCache>
            </c:strRef>
          </c:cat>
          <c:val>
            <c:numRef>
              <c:f>'Chart Data'!$B$2:$B$4</c:f>
              <c:numCache>
                <c:formatCode>0.0</c:formatCode>
                <c:ptCount val="3"/>
                <c:pt idx="0">
                  <c:v>2.85856573705</c:v>
                </c:pt>
                <c:pt idx="1">
                  <c:v>2.37112403101</c:v>
                </c:pt>
                <c:pt idx="2">
                  <c:v>2.236328125</c:v>
                </c:pt>
              </c:numCache>
            </c:numRef>
          </c:val>
        </c:ser>
        <c:ser>
          <c:idx val="1"/>
          <c:order val="1"/>
          <c:tx>
            <c:v>Native</c:v>
          </c:tx>
          <c:spPr>
            <a:solidFill xmlns:a="http://schemas.openxmlformats.org/drawingml/2006/main">
              <a:srgbClr val="6F889E"/>
            </a:solidFill>
          </c:spPr>
          <c:cat>
            <c:strRef>
              <c:f>'Chart Data'!$C$2:$C$4</c:f>
              <c:strCache>
                <c:ptCount val="3"/>
                <c:pt idx="0">
                  <c:v>Uniform</c:v>
                </c:pt>
                <c:pt idx="1">
                  <c:v>Clustered</c:v>
                </c:pt>
                <c:pt idx="2">
                  <c:v>Shared prefix</c:v>
                </c:pt>
              </c:strCache>
            </c:strRef>
          </c:cat>
          <c:val>
            <c:numRef>
              <c:f>'Chart Data'!$D$2:$D$4</c:f>
              <c:numCache>
                <c:formatCode>0.0</c:formatCode>
                <c:ptCount val="3"/>
                <c:pt idx="0">
                  <c:v>3.23605577689</c:v>
                </c:pt>
                <c:pt idx="1">
                  <c:v>2.7015503876</c:v>
                </c:pt>
                <c:pt idx="2">
                  <c:v>2.263671875</c:v>
                </c:pt>
              </c:numCache>
            </c:numRef>
          </c:val>
        </c:ser>
        <c:ser>
          <c:idx val="2"/>
          <c:order val="2"/>
          <c:tx>
            <c:v>Flat</c:v>
          </c:tx>
          <c:spPr>
            <a:solidFill xmlns:a="http://schemas.openxmlformats.org/drawingml/2006/main">
              <a:srgbClr val="C18438"/>
            </a:solidFill>
          </c:spPr>
          <c:cat>
            <c:strRef>
              <c:f>'Chart Data'!$E$2:$E$4</c:f>
              <c:strCache>
                <c:ptCount val="3"/>
                <c:pt idx="0">
                  <c:v>Uniform</c:v>
                </c:pt>
                <c:pt idx="1">
                  <c:v>Clustered</c:v>
                </c:pt>
                <c:pt idx="2">
                  <c:v>Shared prefix</c:v>
                </c:pt>
              </c:strCache>
            </c:strRef>
          </c:cat>
          <c:val>
            <c:numRef>
              <c:f>'Chart Data'!$F$2:$F$4</c:f>
              <c:numCache>
                <c:formatCode>0.0</c:formatCode>
                <c:ptCount val="3"/>
                <c:pt idx="0">
                  <c:v>23.3735059761</c:v>
                </c:pt>
                <c:pt idx="1">
                  <c:v>23.7265625</c:v>
                </c:pt>
                <c:pt idx="2">
                  <c:v>22.2392578125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EABBA"/>
            </a:solidFill>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FE5ED"/>
              </a:solidFill>
            </a:ln>
          </c:spPr>
        </c:majorGridlines>
        <c:title>
          <c:tx>
            <c:rich>
              <a:bodyPr xmlns:a="http://schemas.openxmlformats.org/drawingml/2006/main"/>
              <a:lstStyle xmlns:a="http://schemas.openxmlformats.org/drawingml/2006/main"/>
              <a:p xmlns:a="http://schemas.openxmlformats.org/drawingml/2006/main">
                <a:r>
                  <a:rPr sz="1500">
                    <a:latin typeface="Arial"/>
                    <a:ea typeface="Arial"/>
                    <a:cs typeface="Arial"/>
                  </a:rPr>
                  <a:t>µs / query</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ECC2CC-C8AE-4FC7-BC4D-3A000DB3D954}"/>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Trusting agent-generated code</a:t>
            </a:r>
          </a:p>
        </p:txBody>
      </p:sp>
      <p:sp>
        <p:nvSpPr>
          <p:cNvPr id="2" name="">
            <a:extLst xmlns:a="http://schemas.openxmlformats.org/drawingml/2006/main">
              <a:ext uri="{FF2B5EF4-FFF2-40B4-BE49-F238E27FC236}">
                <a16:creationId xmlns:a16="http://schemas.microsoft.com/office/drawing/2014/main" id="{236FFB93-81AB-4ED5-87C2-614EE2D1F187}"/>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7DFB0B2-80F2-4797-A34F-4733B7FF7D18}"/>
              </a:ext>
            </a:extLst>
          </p:cNvPr>
          <p:cNvSpPr>
            <a:spLocks xmlns:a="http://schemas.openxmlformats.org/drawingml/2006/main" noGrp="1"/>
          </p:cNvSpPr>
          <p:nvPr/>
        </p:nvSpPr>
        <p:spPr>
          <a:xfrm xmlns:a="http://schemas.openxmlformats.org/drawingml/2006/main">
            <a:off x="609600" y="215265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253345"/>
                </a:solidFill>
                <a:latin typeface="Arial"/>
                <a:ea typeface="Arial"/>
                <a:cs typeface="Arial"/>
              </a:defRPr>
            </a:defPPr>
          </a:lstStyle>
          <a:p xmlns:a="http://schemas.openxmlformats.org/drawingml/2006/main">
            <a:pPr>
              <a:defRPr sz="3600" b="1">
                <a:solidFill>
                  <a:srgbClr val="253345"/>
                </a:solidFill>
                <a:latin typeface="Arial"/>
                <a:ea typeface="Arial"/>
                <a:cs typeface="Arial"/>
              </a:defRPr>
            </a:pPr>
            <a:r>
              <a:rPr sz="3600" b="1">
                <a:solidFill>
                  <a:srgbClr val="253345"/>
                </a:solidFill>
                <a:latin typeface="Arial"/>
                <a:ea typeface="Arial"/>
                <a:cs typeface="Arial"/>
              </a:rPr>
              <a:t>CJR: executable algorithms with checked correctness proofs</a:t>
            </a:r>
          </a:p>
        </p:txBody>
      </p:sp>
      <p:sp>
        <p:nvSpPr>
          <p:cNvPr id="4" name="">
            <a:extLst xmlns:a="http://schemas.openxmlformats.org/drawingml/2006/main">
              <a:ext uri="{FF2B5EF4-FFF2-40B4-BE49-F238E27FC236}">
                <a16:creationId xmlns:a16="http://schemas.microsoft.com/office/drawing/2014/main" id="{AAACB9FC-6CEB-416A-80C3-7C890C499365}"/>
              </a:ext>
            </a:extLst>
          </p:cNvPr>
          <p:cNvSpPr>
            <a:spLocks xmlns:a="http://schemas.openxmlformats.org/drawingml/2006/main" noGrp="1"/>
          </p:cNvSpPr>
          <p:nvPr/>
        </p:nvSpPr>
        <p:spPr>
          <a:xfrm xmlns:a="http://schemas.openxmlformats.org/drawingml/2006/main">
            <a:off x="609600" y="4238625"/>
            <a:ext cx="942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245C9D"/>
                </a:solidFill>
                <a:latin typeface="Arial"/>
                <a:ea typeface="Arial"/>
                <a:cs typeface="Arial"/>
              </a:defRPr>
            </a:defPPr>
          </a:lstStyle>
          <a:p xmlns:a="http://schemas.openxmlformats.org/drawingml/2006/main">
            <a:pPr>
              <a:defRPr sz="2550" b="0">
                <a:solidFill>
                  <a:srgbClr val="245C9D"/>
                </a:solidFill>
                <a:latin typeface="Arial"/>
                <a:ea typeface="Arial"/>
                <a:cs typeface="Arial"/>
              </a:defRPr>
            </a:pPr>
            <a:r>
              <a:rPr sz="2550" b="0">
                <a:solidFill>
                  <a:srgbClr val="245C9D"/>
                </a:solidFill>
                <a:latin typeface="Arial"/>
                <a:ea typeface="Arial"/>
                <a:cs typeface="Arial"/>
              </a:rPr>
              <a:t>How can we review the guarantee as carefully as the code?</a:t>
            </a:r>
          </a:p>
        </p:txBody>
      </p:sp>
    </p:spTree>
    <p:extLst>
      <p:ext uri="{BB962C8B-B14F-4D97-AF65-F5344CB8AC3E}">
        <p14:creationId xmlns:p14="http://schemas.microsoft.com/office/powerpoint/2010/main" val="17363084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A26EDF-9906-434A-9E28-397F5BE94B28}"/>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Trust and review are a bottleneck</a:t>
            </a:r>
          </a:p>
        </p:txBody>
      </p:sp>
      <p:sp>
        <p:nvSpPr>
          <p:cNvPr id="2" name="">
            <a:extLst xmlns:a="http://schemas.openxmlformats.org/drawingml/2006/main">
              <a:ext uri="{FF2B5EF4-FFF2-40B4-BE49-F238E27FC236}">
                <a16:creationId xmlns:a16="http://schemas.microsoft.com/office/drawing/2014/main" id="{295ACD76-631C-45B5-8CD9-886747C926B9}"/>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A15EDF6-FC63-42B8-BBAF-93FE64924E38}"/>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Code generation</a:t>
            </a:r>
          </a:p>
        </p:txBody>
      </p:sp>
      <p:sp>
        <p:nvSpPr>
          <p:cNvPr id="4" name="">
            <a:extLst xmlns:a="http://schemas.openxmlformats.org/drawingml/2006/main">
              <a:ext uri="{FF2B5EF4-FFF2-40B4-BE49-F238E27FC236}">
                <a16:creationId xmlns:a16="http://schemas.microsoft.com/office/drawing/2014/main" id="{E570CEE5-C1A4-4218-83AC-439B2140B627}"/>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Acceptance</a:t>
            </a:r>
          </a:p>
        </p:txBody>
      </p:sp>
      <p:sp>
        <p:nvSpPr>
          <p:cNvPr id="5" name="">
            <a:extLst xmlns:a="http://schemas.openxmlformats.org/drawingml/2006/main">
              <a:ext uri="{FF2B5EF4-FFF2-40B4-BE49-F238E27FC236}">
                <a16:creationId xmlns:a16="http://schemas.microsoft.com/office/drawing/2014/main" id="{026EDE0C-E84D-405B-A785-1E7CC539D189}"/>
              </a:ext>
            </a:extLst>
          </p:cNvPr>
          <p:cNvSpPr>
            <a:spLocks xmlns:a="http://schemas.openxmlformats.org/drawingml/2006/main" noGrp="1"/>
          </p:cNvSpPr>
          <p:nvPr/>
        </p:nvSpPr>
        <p:spPr>
          <a:xfrm xmlns:a="http://schemas.openxmlformats.org/drawingml/2006/main">
            <a:off x="6096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An agent can produce code faster than a person can inspect it.</a:t>
            </a:r>
          </a:p>
        </p:txBody>
      </p:sp>
      <p:sp>
        <p:nvSpPr>
          <p:cNvPr id="6" name="">
            <a:extLst xmlns:a="http://schemas.openxmlformats.org/drawingml/2006/main">
              <a:ext uri="{FF2B5EF4-FFF2-40B4-BE49-F238E27FC236}">
                <a16:creationId xmlns:a16="http://schemas.microsoft.com/office/drawing/2014/main" id="{57F018A2-D2EF-4596-A557-EA7DAE5902FA}"/>
              </a:ext>
            </a:extLst>
          </p:cNvPr>
          <p:cNvSpPr>
            <a:spLocks xmlns:a="http://schemas.openxmlformats.org/drawingml/2006/main" noGrp="1"/>
          </p:cNvSpPr>
          <p:nvPr/>
        </p:nvSpPr>
        <p:spPr>
          <a:xfrm xmlns:a="http://schemas.openxmlformats.org/drawingml/2006/main">
            <a:off x="6096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Tests expose failures on the inputs they exercise.</a:t>
            </a:r>
          </a:p>
        </p:txBody>
      </p:sp>
      <p:sp>
        <p:nvSpPr>
          <p:cNvPr id="7" name="">
            <a:extLst xmlns:a="http://schemas.openxmlformats.org/drawingml/2006/main">
              <a:ext uri="{FF2B5EF4-FFF2-40B4-BE49-F238E27FC236}">
                <a16:creationId xmlns:a16="http://schemas.microsoft.com/office/drawing/2014/main" id="{0D6F6404-8CA0-404A-AEF9-B6AC60D28C91}"/>
              </a:ext>
            </a:extLst>
          </p:cNvPr>
          <p:cNvSpPr>
            <a:spLocks xmlns:a="http://schemas.openxmlformats.org/drawingml/2006/main" noGrp="1"/>
          </p:cNvSpPr>
          <p:nvPr/>
        </p:nvSpPr>
        <p:spPr>
          <a:xfrm xmlns:a="http://schemas.openxmlformats.org/drawingml/2006/main">
            <a:off x="64008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Review must cover the intended behaviour and its assumptions.</a:t>
            </a:r>
          </a:p>
        </p:txBody>
      </p:sp>
      <p:sp>
        <p:nvSpPr>
          <p:cNvPr id="8" name="">
            <a:extLst xmlns:a="http://schemas.openxmlformats.org/drawingml/2006/main">
              <a:ext uri="{FF2B5EF4-FFF2-40B4-BE49-F238E27FC236}">
                <a16:creationId xmlns:a16="http://schemas.microsoft.com/office/drawing/2014/main" id="{FCBFD550-C008-47AA-B650-A891B4DDB344}"/>
              </a:ext>
            </a:extLst>
          </p:cNvPr>
          <p:cNvSpPr>
            <a:spLocks xmlns:a="http://schemas.openxmlformats.org/drawingml/2006/main" noGrp="1"/>
          </p:cNvSpPr>
          <p:nvPr/>
        </p:nvSpPr>
        <p:spPr>
          <a:xfrm xmlns:a="http://schemas.openxmlformats.org/drawingml/2006/main">
            <a:off x="64008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As generated changes grow, that reasoning must compose across modules.</a:t>
            </a:r>
          </a:p>
        </p:txBody>
      </p:sp>
      <p:sp>
        <p:nvSpPr>
          <p:cNvPr id="9" name="">
            <a:extLst xmlns:a="http://schemas.openxmlformats.org/drawingml/2006/main">
              <a:ext uri="{FF2B5EF4-FFF2-40B4-BE49-F238E27FC236}">
                <a16:creationId xmlns:a16="http://schemas.microsoft.com/office/drawing/2014/main" id="{CE415104-C585-4721-8082-B5BC49A74E5B}"/>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The proposed bottleneck is justified trust in behaviour.</a:t>
            </a:r>
          </a:p>
        </p:txBody>
      </p:sp>
    </p:spTree>
    <p:extLst>
      <p:ext uri="{BB962C8B-B14F-4D97-AF65-F5344CB8AC3E}">
        <p14:creationId xmlns:p14="http://schemas.microsoft.com/office/powerpoint/2010/main" val="11505004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5CA18D6-8C88-4E0C-9A7A-50A3B8E28242}"/>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Two routes to verified programs</a:t>
            </a:r>
          </a:p>
        </p:txBody>
      </p:sp>
      <p:sp>
        <p:nvSpPr>
          <p:cNvPr id="2" name="">
            <a:extLst xmlns:a="http://schemas.openxmlformats.org/drawingml/2006/main">
              <a:ext uri="{FF2B5EF4-FFF2-40B4-BE49-F238E27FC236}">
                <a16:creationId xmlns:a16="http://schemas.microsoft.com/office/drawing/2014/main" id="{3CDED5ED-8AC1-4EB0-834C-DD164BE16D05}"/>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1BC8488-771D-41DC-9887-61124BE76D31}"/>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Verify after generation</a:t>
            </a:r>
          </a:p>
        </p:txBody>
      </p:sp>
      <p:sp>
        <p:nvSpPr>
          <p:cNvPr id="4" name="">
            <a:extLst xmlns:a="http://schemas.openxmlformats.org/drawingml/2006/main">
              <a:ext uri="{FF2B5EF4-FFF2-40B4-BE49-F238E27FC236}">
                <a16:creationId xmlns:a16="http://schemas.microsoft.com/office/drawing/2014/main" id="{EB66D353-2DDB-4F0B-B6FB-B72FC84745BA}"/>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Construct, prove, then extract</a:t>
            </a:r>
          </a:p>
        </p:txBody>
      </p:sp>
      <p:sp>
        <p:nvSpPr>
          <p:cNvPr id="5" name="">
            <a:extLst xmlns:a="http://schemas.openxmlformats.org/drawingml/2006/main">
              <a:ext uri="{FF2B5EF4-FFF2-40B4-BE49-F238E27FC236}">
                <a16:creationId xmlns:a16="http://schemas.microsoft.com/office/drawing/2014/main" id="{982E0130-C794-497B-A9D0-CAB6ECFE4F3E}"/>
              </a:ext>
            </a:extLst>
          </p:cNvPr>
          <p:cNvSpPr>
            <a:spLocks xmlns:a="http://schemas.openxmlformats.org/drawingml/2006/main" noGrp="1"/>
          </p:cNvSpPr>
          <p:nvPr/>
        </p:nvSpPr>
        <p:spPr>
          <a:xfrm xmlns:a="http://schemas.openxmlformats.org/drawingml/2006/main">
            <a:off x="6096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Generate a program.</a:t>
            </a:r>
          </a:p>
        </p:txBody>
      </p:sp>
      <p:sp>
        <p:nvSpPr>
          <p:cNvPr id="6" name="">
            <a:extLst xmlns:a="http://schemas.openxmlformats.org/drawingml/2006/main">
              <a:ext uri="{FF2B5EF4-FFF2-40B4-BE49-F238E27FC236}">
                <a16:creationId xmlns:a16="http://schemas.microsoft.com/office/drawing/2014/main" id="{F926BAB3-CE83-4112-94E7-1177CE32E9B3}"/>
              </a:ext>
            </a:extLst>
          </p:cNvPr>
          <p:cNvSpPr>
            <a:spLocks xmlns:a="http://schemas.openxmlformats.org/drawingml/2006/main" noGrp="1"/>
          </p:cNvSpPr>
          <p:nvPr/>
        </p:nvSpPr>
        <p:spPr>
          <a:xfrm xmlns:a="http://schemas.openxmlformats.org/drawingml/2006/main">
            <a:off x="609600" y="31242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State contracts and prove that the program satisfies them.</a:t>
            </a:r>
          </a:p>
        </p:txBody>
      </p:sp>
      <p:sp>
        <p:nvSpPr>
          <p:cNvPr id="7" name="">
            <a:extLst xmlns:a="http://schemas.openxmlformats.org/drawingml/2006/main">
              <a:ext uri="{FF2B5EF4-FFF2-40B4-BE49-F238E27FC236}">
                <a16:creationId xmlns:a16="http://schemas.microsoft.com/office/drawing/2014/main" id="{11504A64-BDD0-46D3-9E4B-1D1296C88750}"/>
              </a:ext>
            </a:extLst>
          </p:cNvPr>
          <p:cNvSpPr>
            <a:spLocks xmlns:a="http://schemas.openxmlformats.org/drawingml/2006/main" noGrp="1"/>
          </p:cNvSpPr>
          <p:nvPr/>
        </p:nvSpPr>
        <p:spPr>
          <a:xfrm xmlns:a="http://schemas.openxmlformats.org/drawingml/2006/main">
            <a:off x="609600" y="40100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The verification system must model the generated language.</a:t>
            </a:r>
          </a:p>
        </p:txBody>
      </p:sp>
      <p:sp>
        <p:nvSpPr>
          <p:cNvPr id="8" name="">
            <a:extLst xmlns:a="http://schemas.openxmlformats.org/drawingml/2006/main">
              <a:ext uri="{FF2B5EF4-FFF2-40B4-BE49-F238E27FC236}">
                <a16:creationId xmlns:a16="http://schemas.microsoft.com/office/drawing/2014/main" id="{F26CAA07-942A-40E4-BDCE-ACAAD0353399}"/>
              </a:ext>
            </a:extLst>
          </p:cNvPr>
          <p:cNvSpPr>
            <a:spLocks xmlns:a="http://schemas.openxmlformats.org/drawingml/2006/main" noGrp="1"/>
          </p:cNvSpPr>
          <p:nvPr/>
        </p:nvSpPr>
        <p:spPr>
          <a:xfrm xmlns:a="http://schemas.openxmlformats.org/drawingml/2006/main">
            <a:off x="64008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Define an executable algorithm inside a proof environment.</a:t>
            </a:r>
          </a:p>
        </p:txBody>
      </p:sp>
      <p:sp>
        <p:nvSpPr>
          <p:cNvPr id="9" name="">
            <a:extLst xmlns:a="http://schemas.openxmlformats.org/drawingml/2006/main">
              <a:ext uri="{FF2B5EF4-FFF2-40B4-BE49-F238E27FC236}">
                <a16:creationId xmlns:a16="http://schemas.microsoft.com/office/drawing/2014/main" id="{890B44E6-B678-42AA-86CC-32F2183E2249}"/>
              </a:ext>
            </a:extLst>
          </p:cNvPr>
          <p:cNvSpPr>
            <a:spLocks xmlns:a="http://schemas.openxmlformats.org/drawingml/2006/main" noGrp="1"/>
          </p:cNvSpPr>
          <p:nvPr/>
        </p:nvSpPr>
        <p:spPr>
          <a:xfrm xmlns:a="http://schemas.openxmlformats.org/drawingml/2006/main">
            <a:off x="64008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Prove its correctness against an explicit model.</a:t>
            </a:r>
          </a:p>
        </p:txBody>
      </p:sp>
      <p:sp>
        <p:nvSpPr>
          <p:cNvPr id="10" name="">
            <a:extLst xmlns:a="http://schemas.openxmlformats.org/drawingml/2006/main">
              <a:ext uri="{FF2B5EF4-FFF2-40B4-BE49-F238E27FC236}">
                <a16:creationId xmlns:a16="http://schemas.microsoft.com/office/drawing/2014/main" id="{882A5958-CEDF-4147-90E2-2F739D61CE08}"/>
              </a:ext>
            </a:extLst>
          </p:cNvPr>
          <p:cNvSpPr>
            <a:spLocks xmlns:a="http://schemas.openxmlformats.org/drawingml/2006/main" noGrp="1"/>
          </p:cNvSpPr>
          <p:nvPr/>
        </p:nvSpPr>
        <p:spPr>
          <a:xfrm xmlns:a="http://schemas.openxmlformats.org/drawingml/2006/main">
            <a:off x="6400800" y="40576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Extract or emit code from that definition.</a:t>
            </a:r>
          </a:p>
        </p:txBody>
      </p:sp>
      <p:sp>
        <p:nvSpPr>
          <p:cNvPr id="11" name="">
            <a:extLst xmlns:a="http://schemas.openxmlformats.org/drawingml/2006/main">
              <a:ext uri="{FF2B5EF4-FFF2-40B4-BE49-F238E27FC236}">
                <a16:creationId xmlns:a16="http://schemas.microsoft.com/office/drawing/2014/main" id="{5B0538F0-1992-4570-8944-80A6C4EE2C77}"/>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Both routes require a reviewed specification and a trusted connection to execution.</a:t>
            </a:r>
          </a:p>
        </p:txBody>
      </p:sp>
    </p:spTree>
    <p:extLst>
      <p:ext uri="{BB962C8B-B14F-4D97-AF65-F5344CB8AC3E}">
        <p14:creationId xmlns:p14="http://schemas.microsoft.com/office/powerpoint/2010/main" val="14225249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F23435-D6D0-4E59-9BF9-3DA4F97284D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CompCert: a major success</a:t>
            </a:r>
          </a:p>
        </p:txBody>
      </p:sp>
      <p:sp>
        <p:nvSpPr>
          <p:cNvPr id="2" name="">
            <a:extLst xmlns:a="http://schemas.openxmlformats.org/drawingml/2006/main">
              <a:ext uri="{FF2B5EF4-FFF2-40B4-BE49-F238E27FC236}">
                <a16:creationId xmlns:a16="http://schemas.microsoft.com/office/drawing/2014/main" id="{86399BB1-174B-4FD1-A6CA-9382C03A1438}"/>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748E019-C8F5-472A-81D3-E4536FF6D0AD}"/>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The compiler implementation</a:t>
            </a:r>
          </a:p>
        </p:txBody>
      </p:sp>
      <p:sp>
        <p:nvSpPr>
          <p:cNvPr id="4" name="">
            <a:extLst xmlns:a="http://schemas.openxmlformats.org/drawingml/2006/main">
              <a:ext uri="{FF2B5EF4-FFF2-40B4-BE49-F238E27FC236}">
                <a16:creationId xmlns:a16="http://schemas.microsoft.com/office/drawing/2014/main" id="{22672D25-09BB-40D5-8F27-75D69FB826CD}"/>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The correctness result</a:t>
            </a:r>
          </a:p>
        </p:txBody>
      </p:sp>
      <p:sp>
        <p:nvSpPr>
          <p:cNvPr id="5" name="">
            <a:extLst xmlns:a="http://schemas.openxmlformats.org/drawingml/2006/main">
              <a:ext uri="{FF2B5EF4-FFF2-40B4-BE49-F238E27FC236}">
                <a16:creationId xmlns:a16="http://schemas.microsoft.com/office/drawing/2014/main" id="{A5F040A7-72BF-400D-B805-4E55AEC5FC01}"/>
              </a:ext>
            </a:extLst>
          </p:cNvPr>
          <p:cNvSpPr>
            <a:spLocks xmlns:a="http://schemas.openxmlformats.org/drawingml/2006/main" noGrp="1"/>
          </p:cNvSpPr>
          <p:nvPr/>
        </p:nvSpPr>
        <p:spPr>
          <a:xfrm xmlns:a="http://schemas.openxmlformats.org/drawingml/2006/main">
            <a:off x="6096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Most of the compiler is programmed in Coq’s functional language.</a:t>
            </a:r>
          </a:p>
        </p:txBody>
      </p:sp>
      <p:sp>
        <p:nvSpPr>
          <p:cNvPr id="6" name="">
            <a:extLst xmlns:a="http://schemas.openxmlformats.org/drawingml/2006/main">
              <a:ext uri="{FF2B5EF4-FFF2-40B4-BE49-F238E27FC236}">
                <a16:creationId xmlns:a16="http://schemas.microsoft.com/office/drawing/2014/main" id="{DADA1B66-36A8-49CF-A531-E675F9636898}"/>
              </a:ext>
            </a:extLst>
          </p:cNvPr>
          <p:cNvSpPr>
            <a:spLocks xmlns:a="http://schemas.openxmlformats.org/drawingml/2006/main" noGrp="1"/>
          </p:cNvSpPr>
          <p:nvPr/>
        </p:nvSpPr>
        <p:spPr>
          <a:xfrm xmlns:a="http://schemas.openxmlformats.org/drawingml/2006/main">
            <a:off x="6096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Coq extraction produces executable OCaml code.</a:t>
            </a:r>
          </a:p>
        </p:txBody>
      </p:sp>
      <p:sp>
        <p:nvSpPr>
          <p:cNvPr id="7" name="">
            <a:extLst xmlns:a="http://schemas.openxmlformats.org/drawingml/2006/main">
              <a:ext uri="{FF2B5EF4-FFF2-40B4-BE49-F238E27FC236}">
                <a16:creationId xmlns:a16="http://schemas.microsoft.com/office/drawing/2014/main" id="{A59DE2CE-FB18-47A2-89AA-DF0423D7850C}"/>
              </a:ext>
            </a:extLst>
          </p:cNvPr>
          <p:cNvSpPr>
            <a:spLocks xmlns:a="http://schemas.openxmlformats.org/drawingml/2006/main" noGrp="1"/>
          </p:cNvSpPr>
          <p:nvPr/>
        </p:nvSpPr>
        <p:spPr>
          <a:xfrm xmlns:a="http://schemas.openxmlformats.org/drawingml/2006/main">
            <a:off x="6400800" y="2286000"/>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Machine-checked proofs establish semantic preservation for verified compiler passes.</a:t>
            </a:r>
          </a:p>
        </p:txBody>
      </p:sp>
      <p:sp>
        <p:nvSpPr>
          <p:cNvPr id="8" name="">
            <a:extLst xmlns:a="http://schemas.openxmlformats.org/drawingml/2006/main">
              <a:ext uri="{FF2B5EF4-FFF2-40B4-BE49-F238E27FC236}">
                <a16:creationId xmlns:a16="http://schemas.microsoft.com/office/drawing/2014/main" id="{8E96C7C8-EB80-4787-872D-8EB060BDABDD}"/>
              </a:ext>
            </a:extLst>
          </p:cNvPr>
          <p:cNvSpPr>
            <a:spLocks xmlns:a="http://schemas.openxmlformats.org/drawingml/2006/main" noGrp="1"/>
          </p:cNvSpPr>
          <p:nvPr/>
        </p:nvSpPr>
        <p:spPr>
          <a:xfrm xmlns:a="http://schemas.openxmlformats.org/drawingml/2006/main">
            <a:off x="6400800" y="35052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The executable compiler compiles C into assembly.</a:t>
            </a:r>
          </a:p>
        </p:txBody>
      </p:sp>
      <p:sp>
        <p:nvSpPr>
          <p:cNvPr id="9" name="">
            <a:extLst xmlns:a="http://schemas.openxmlformats.org/drawingml/2006/main">
              <a:ext uri="{FF2B5EF4-FFF2-40B4-BE49-F238E27FC236}">
                <a16:creationId xmlns:a16="http://schemas.microsoft.com/office/drawing/2014/main" id="{1DBFE9D9-6D16-4897-9D3D-C3B1E61D8302}"/>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Extraction produces the compiler. The theorem establishes compilation correctness.</a:t>
            </a:r>
          </a:p>
        </p:txBody>
      </p:sp>
    </p:spTree>
    <p:extLst>
      <p:ext uri="{BB962C8B-B14F-4D97-AF65-F5344CB8AC3E}">
        <p14:creationId xmlns:p14="http://schemas.microsoft.com/office/powerpoint/2010/main" val="8926707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5A8498C-86B3-4992-977D-AE8CC20F6D4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CJR: a realistic algorithmic core</a:t>
            </a:r>
          </a:p>
        </p:txBody>
      </p:sp>
      <p:sp>
        <p:nvSpPr>
          <p:cNvPr id="2" name="">
            <a:extLst xmlns:a="http://schemas.openxmlformats.org/drawingml/2006/main">
              <a:ext uri="{FF2B5EF4-FFF2-40B4-BE49-F238E27FC236}">
                <a16:creationId xmlns:a16="http://schemas.microsoft.com/office/drawing/2014/main" id="{1AF766C2-6533-43A4-B5CF-99A1991097D9}"/>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2D391F3-E361-483F-BA31-67071A8B5433}"/>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Enough to express the algorithm</a:t>
            </a:r>
          </a:p>
        </p:txBody>
      </p:sp>
      <p:sp>
        <p:nvSpPr>
          <p:cNvPr id="4" name="">
            <a:extLst xmlns:a="http://schemas.openxmlformats.org/drawingml/2006/main">
              <a:ext uri="{FF2B5EF4-FFF2-40B4-BE49-F238E27FC236}">
                <a16:creationId xmlns:a16="http://schemas.microsoft.com/office/drawing/2014/main" id="{F4F38E1B-4754-4BCD-A565-B0255458A13E}"/>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Small enough to model explicitly</a:t>
            </a:r>
          </a:p>
        </p:txBody>
      </p:sp>
      <p:sp>
        <p:nvSpPr>
          <p:cNvPr id="5" name="">
            <a:extLst xmlns:a="http://schemas.openxmlformats.org/drawingml/2006/main">
              <a:ext uri="{FF2B5EF4-FFF2-40B4-BE49-F238E27FC236}">
                <a16:creationId xmlns:a16="http://schemas.microsoft.com/office/drawing/2014/main" id="{30C054AE-36C9-4773-8F45-29A3554A4510}"/>
              </a:ext>
            </a:extLst>
          </p:cNvPr>
          <p:cNvSpPr>
            <a:spLocks xmlns:a="http://schemas.openxmlformats.org/drawingml/2006/main" noGrp="1"/>
          </p:cNvSpPr>
          <p:nvPr/>
        </p:nvSpPr>
        <p:spPr>
          <a:xfrm xmlns:a="http://schemas.openxmlformats.org/drawingml/2006/main">
            <a:off x="6096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Mutable nodes, arrays and raw memory.</a:t>
            </a:r>
          </a:p>
        </p:txBody>
      </p:sp>
      <p:sp>
        <p:nvSpPr>
          <p:cNvPr id="6" name="">
            <a:extLst xmlns:a="http://schemas.openxmlformats.org/drawingml/2006/main">
              <a:ext uri="{FF2B5EF4-FFF2-40B4-BE49-F238E27FC236}">
                <a16:creationId xmlns:a16="http://schemas.microsoft.com/office/drawing/2014/main" id="{BBB69FAA-357C-44E4-8DF5-D02678A67CA8}"/>
              </a:ext>
            </a:extLst>
          </p:cNvPr>
          <p:cNvSpPr>
            <a:spLocks xmlns:a="http://schemas.openxmlformats.org/drawingml/2006/main" noGrp="1"/>
          </p:cNvSpPr>
          <p:nvPr/>
        </p:nvSpPr>
        <p:spPr>
          <a:xfrm xmlns:a="http://schemas.openxmlformats.org/drawingml/2006/main">
            <a:off x="609600" y="31242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Loops, calls, structs and final classes.</a:t>
            </a:r>
          </a:p>
        </p:txBody>
      </p:sp>
      <p:sp>
        <p:nvSpPr>
          <p:cNvPr id="7" name="">
            <a:extLst xmlns:a="http://schemas.openxmlformats.org/drawingml/2006/main">
              <a:ext uri="{FF2B5EF4-FFF2-40B4-BE49-F238E27FC236}">
                <a16:creationId xmlns:a16="http://schemas.microsoft.com/office/drawing/2014/main" id="{B20846D8-4C90-4EE6-874F-B3F18227E161}"/>
              </a:ext>
            </a:extLst>
          </p:cNvPr>
          <p:cNvSpPr>
            <a:spLocks xmlns:a="http://schemas.openxmlformats.org/drawingml/2006/main" noGrp="1"/>
          </p:cNvSpPr>
          <p:nvPr/>
        </p:nvSpPr>
        <p:spPr>
          <a:xfrm xmlns:a="http://schemas.openxmlformats.org/drawingml/2006/main">
            <a:off x="609600" y="39624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List reversal, open-addressed maps and spatial trees.</a:t>
            </a:r>
          </a:p>
        </p:txBody>
      </p:sp>
      <p:sp>
        <p:nvSpPr>
          <p:cNvPr id="8" name="">
            <a:extLst xmlns:a="http://schemas.openxmlformats.org/drawingml/2006/main">
              <a:ext uri="{FF2B5EF4-FFF2-40B4-BE49-F238E27FC236}">
                <a16:creationId xmlns:a16="http://schemas.microsoft.com/office/drawing/2014/main" id="{EF1FE25C-F5A4-4269-B3D8-7CD664A5BFC9}"/>
              </a:ext>
            </a:extLst>
          </p:cNvPr>
          <p:cNvSpPr>
            <a:spLocks xmlns:a="http://schemas.openxmlformats.org/drawingml/2006/main" noGrp="1"/>
          </p:cNvSpPr>
          <p:nvPr/>
        </p:nvSpPr>
        <p:spPr>
          <a:xfrm xmlns:a="http://schemas.openxmlformats.org/drawingml/2006/main">
            <a:off x="64008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 compact Cangjie fragment with small-step semantics.</a:t>
            </a:r>
          </a:p>
        </p:txBody>
      </p:sp>
      <p:sp>
        <p:nvSpPr>
          <p:cNvPr id="9" name="">
            <a:extLst xmlns:a="http://schemas.openxmlformats.org/drawingml/2006/main">
              <a:ext uri="{FF2B5EF4-FFF2-40B4-BE49-F238E27FC236}">
                <a16:creationId xmlns:a16="http://schemas.microsoft.com/office/drawing/2014/main" id="{6CBA282B-3BDE-4A63-B744-823C62DC216D}"/>
              </a:ext>
            </a:extLst>
          </p:cNvPr>
          <p:cNvSpPr>
            <a:spLocks xmlns:a="http://schemas.openxmlformats.org/drawingml/2006/main" noGrp="1"/>
          </p:cNvSpPr>
          <p:nvPr/>
        </p:nvSpPr>
        <p:spPr>
          <a:xfrm xmlns:a="http://schemas.openxmlformats.org/drawingml/2006/main">
            <a:off x="64008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Each memory operation has a corresponding ownership rule.</a:t>
            </a:r>
          </a:p>
        </p:txBody>
      </p:sp>
      <p:sp>
        <p:nvSpPr>
          <p:cNvPr id="10" name="">
            <a:extLst xmlns:a="http://schemas.openxmlformats.org/drawingml/2006/main">
              <a:ext uri="{FF2B5EF4-FFF2-40B4-BE49-F238E27FC236}">
                <a16:creationId xmlns:a16="http://schemas.microsoft.com/office/drawing/2014/main" id="{EBA41357-AA3C-4F99-B7ED-DAF1B3E46B9C}"/>
              </a:ext>
            </a:extLst>
          </p:cNvPr>
          <p:cNvSpPr>
            <a:spLocks xmlns:a="http://schemas.openxmlformats.org/drawingml/2006/main" noGrp="1"/>
          </p:cNvSpPr>
          <p:nvPr/>
        </p:nvSpPr>
        <p:spPr>
          <a:xfrm xmlns:a="http://schemas.openxmlformats.org/drawingml/2006/main">
            <a:off x="6400800" y="405765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Algorithms stay visible in the executable definitions.</a:t>
            </a:r>
          </a:p>
        </p:txBody>
      </p:sp>
      <p:sp>
        <p:nvSpPr>
          <p:cNvPr id="11" name="">
            <a:extLst xmlns:a="http://schemas.openxmlformats.org/drawingml/2006/main">
              <a:ext uri="{FF2B5EF4-FFF2-40B4-BE49-F238E27FC236}">
                <a16:creationId xmlns:a16="http://schemas.microsoft.com/office/drawing/2014/main" id="{4F8010BD-D143-4401-92A5-D4AECDB22BBF}"/>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Minimize language machinery while retaining the algorithm’s time and space behaviour.</a:t>
            </a:r>
          </a:p>
        </p:txBody>
      </p:sp>
    </p:spTree>
    <p:extLst>
      <p:ext uri="{BB962C8B-B14F-4D97-AF65-F5344CB8AC3E}">
        <p14:creationId xmlns:p14="http://schemas.microsoft.com/office/powerpoint/2010/main" val="792846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1EB652E-11E6-42AC-8664-A8B3DD2BDDB5}"/>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Features and deliberate omissions</a:t>
            </a:r>
          </a:p>
        </p:txBody>
      </p:sp>
      <p:sp>
        <p:nvSpPr>
          <p:cNvPr id="2" name="">
            <a:extLst xmlns:a="http://schemas.openxmlformats.org/drawingml/2006/main">
              <a:ext uri="{FF2B5EF4-FFF2-40B4-BE49-F238E27FC236}">
                <a16:creationId xmlns:a16="http://schemas.microsoft.com/office/drawing/2014/main" id="{0CC137CB-586A-40E5-AB9C-2061E19167BC}"/>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9AFD4370-0C34-4B6E-8AB9-546CEDCF26B5}"/>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In the core</a:t>
            </a:r>
          </a:p>
        </p:txBody>
      </p:sp>
      <p:sp>
        <p:nvSpPr>
          <p:cNvPr id="4" name="">
            <a:extLst xmlns:a="http://schemas.openxmlformats.org/drawingml/2006/main">
              <a:ext uri="{FF2B5EF4-FFF2-40B4-BE49-F238E27FC236}">
                <a16:creationId xmlns:a16="http://schemas.microsoft.com/office/drawing/2014/main" id="{52F62B99-380C-42AF-90C2-88521BC10265}"/>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Outside this development</a:t>
            </a:r>
          </a:p>
        </p:txBody>
      </p:sp>
      <p:sp>
        <p:nvSpPr>
          <p:cNvPr id="5" name="">
            <a:extLst xmlns:a="http://schemas.openxmlformats.org/drawingml/2006/main">
              <a:ext uri="{FF2B5EF4-FFF2-40B4-BE49-F238E27FC236}">
                <a16:creationId xmlns:a16="http://schemas.microsoft.com/office/drawing/2014/main" id="{6E16AFA2-54F9-4CA1-B0B5-A56D1E766D62}"/>
              </a:ext>
            </a:extLst>
          </p:cNvPr>
          <p:cNvSpPr>
            <a:spLocks xmlns:a="http://schemas.openxmlformats.org/drawingml/2006/main" noGrp="1"/>
          </p:cNvSpPr>
          <p:nvPr/>
        </p:nvSpPr>
        <p:spPr>
          <a:xfrm xmlns:a="http://schemas.openxmlformats.org/drawingml/2006/main">
            <a:off x="6096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Intended scalar types and aggregate layouts.</a:t>
            </a:r>
          </a:p>
        </p:txBody>
      </p:sp>
      <p:sp>
        <p:nvSpPr>
          <p:cNvPr id="6" name="">
            <a:extLst xmlns:a="http://schemas.openxmlformats.org/drawingml/2006/main">
              <a:ext uri="{FF2B5EF4-FFF2-40B4-BE49-F238E27FC236}">
                <a16:creationId xmlns:a16="http://schemas.microsoft.com/office/drawing/2014/main" id="{A07A69D3-5081-4F69-99E5-667BD57AAFB5}"/>
              </a:ext>
            </a:extLst>
          </p:cNvPr>
          <p:cNvSpPr>
            <a:spLocks xmlns:a="http://schemas.openxmlformats.org/drawingml/2006/main" noGrp="1"/>
          </p:cNvSpPr>
          <p:nvPr/>
        </p:nvSpPr>
        <p:spPr>
          <a:xfrm xmlns:a="http://schemas.openxmlformats.org/drawingml/2006/main">
            <a:off x="6096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Immutable let bindings and mutable stack slots.</a:t>
            </a:r>
          </a:p>
        </p:txBody>
      </p:sp>
      <p:sp>
        <p:nvSpPr>
          <p:cNvPr id="7" name="">
            <a:extLst xmlns:a="http://schemas.openxmlformats.org/drawingml/2006/main">
              <a:ext uri="{FF2B5EF4-FFF2-40B4-BE49-F238E27FC236}">
                <a16:creationId xmlns:a16="http://schemas.microsoft.com/office/drawing/2014/main" id="{6474BC39-4C55-4F19-8395-D123C5056509}"/>
              </a:ext>
            </a:extLst>
          </p:cNvPr>
          <p:cNvSpPr>
            <a:spLocks xmlns:a="http://schemas.openxmlformats.org/drawingml/2006/main" noGrp="1"/>
          </p:cNvSpPr>
          <p:nvPr/>
        </p:nvSpPr>
        <p:spPr>
          <a:xfrm xmlns:a="http://schemas.openxmlformats.org/drawingml/2006/main">
            <a:off x="609600" y="405765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Conditionals, loops, recursion and code pointers.</a:t>
            </a:r>
          </a:p>
        </p:txBody>
      </p:sp>
      <p:sp>
        <p:nvSpPr>
          <p:cNvPr id="8" name="">
            <a:extLst xmlns:a="http://schemas.openxmlformats.org/drawingml/2006/main">
              <a:ext uri="{FF2B5EF4-FFF2-40B4-BE49-F238E27FC236}">
                <a16:creationId xmlns:a16="http://schemas.microsoft.com/office/drawing/2014/main" id="{241F8455-728E-46A3-8294-DB64E167EC55}"/>
              </a:ext>
            </a:extLst>
          </p:cNvPr>
          <p:cNvSpPr>
            <a:spLocks xmlns:a="http://schemas.openxmlformats.org/drawingml/2006/main" noGrp="1"/>
          </p:cNvSpPr>
          <p:nvPr/>
        </p:nvSpPr>
        <p:spPr>
          <a:xfrm xmlns:a="http://schemas.openxmlformats.org/drawingml/2006/main">
            <a:off x="609600" y="49434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Raw blocks and mutable object fields.</a:t>
            </a:r>
          </a:p>
        </p:txBody>
      </p:sp>
      <p:sp>
        <p:nvSpPr>
          <p:cNvPr id="9" name="">
            <a:extLst xmlns:a="http://schemas.openxmlformats.org/drawingml/2006/main">
              <a:ext uri="{FF2B5EF4-FFF2-40B4-BE49-F238E27FC236}">
                <a16:creationId xmlns:a16="http://schemas.microsoft.com/office/drawing/2014/main" id="{35F00285-BA55-4054-AABB-BE50163E1144}"/>
              </a:ext>
            </a:extLst>
          </p:cNvPr>
          <p:cNvSpPr>
            <a:spLocks xmlns:a="http://schemas.openxmlformats.org/drawingml/2006/main" noGrp="1"/>
          </p:cNvSpPr>
          <p:nvPr/>
        </p:nvSpPr>
        <p:spPr>
          <a:xfrm xmlns:a="http://schemas.openxmlformats.org/drawingml/2006/main">
            <a:off x="64008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Generics, inheritance and enum/match.</a:t>
            </a:r>
          </a:p>
        </p:txBody>
      </p:sp>
      <p:sp>
        <p:nvSpPr>
          <p:cNvPr id="10" name="">
            <a:extLst xmlns:a="http://schemas.openxmlformats.org/drawingml/2006/main">
              <a:ext uri="{FF2B5EF4-FFF2-40B4-BE49-F238E27FC236}">
                <a16:creationId xmlns:a16="http://schemas.microsoft.com/office/drawing/2014/main" id="{B21C3CFA-EB59-488B-B83F-8031C190DCA3}"/>
              </a:ext>
            </a:extLst>
          </p:cNvPr>
          <p:cNvSpPr>
            <a:spLocks xmlns:a="http://schemas.openxmlformats.org/drawingml/2006/main" noGrp="1"/>
          </p:cNvSpPr>
          <p:nvPr/>
        </p:nvSpPr>
        <p:spPr>
          <a:xfrm xmlns:a="http://schemas.openxmlformats.org/drawingml/2006/main">
            <a:off x="6400800" y="31242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Concurrency and resumable effects.</a:t>
            </a:r>
          </a:p>
        </p:txBody>
      </p:sp>
      <p:sp>
        <p:nvSpPr>
          <p:cNvPr id="11" name="">
            <a:extLst xmlns:a="http://schemas.openxmlformats.org/drawingml/2006/main">
              <a:ext uri="{FF2B5EF4-FFF2-40B4-BE49-F238E27FC236}">
                <a16:creationId xmlns:a16="http://schemas.microsoft.com/office/drawing/2014/main" id="{320CE010-675B-421C-925C-691036EF2DD1}"/>
              </a:ext>
            </a:extLst>
          </p:cNvPr>
          <p:cNvSpPr>
            <a:spLocks xmlns:a="http://schemas.openxmlformats.org/drawingml/2006/main" noGrp="1"/>
          </p:cNvSpPr>
          <p:nvPr/>
        </p:nvSpPr>
        <p:spPr>
          <a:xfrm xmlns:a="http://schemas.openxmlformats.org/drawingml/2006/main">
            <a:off x="6400800" y="39624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 formal garbage collector and byte-level layout.</a:t>
            </a:r>
          </a:p>
        </p:txBody>
      </p:sp>
      <p:sp>
        <p:nvSpPr>
          <p:cNvPr id="12" name="">
            <a:extLst xmlns:a="http://schemas.openxmlformats.org/drawingml/2006/main">
              <a:ext uri="{FF2B5EF4-FFF2-40B4-BE49-F238E27FC236}">
                <a16:creationId xmlns:a16="http://schemas.microsoft.com/office/drawing/2014/main" id="{D925AD0C-5AE5-4F16-AE8F-F8B4031A608A}"/>
              </a:ext>
            </a:extLst>
          </p:cNvPr>
          <p:cNvSpPr>
            <a:spLocks xmlns:a="http://schemas.openxmlformats.org/drawingml/2006/main" noGrp="1"/>
          </p:cNvSpPr>
          <p:nvPr/>
        </p:nvSpPr>
        <p:spPr>
          <a:xfrm xmlns:a="http://schemas.openxmlformats.org/drawingml/2006/main">
            <a:off x="6400800" y="48482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 verified general source-language lowering.</a:t>
            </a:r>
          </a:p>
        </p:txBody>
      </p:sp>
      <p:sp>
        <p:nvSpPr>
          <p:cNvPr id="13" name="">
            <a:extLst xmlns:a="http://schemas.openxmlformats.org/drawingml/2006/main">
              <a:ext uri="{FF2B5EF4-FFF2-40B4-BE49-F238E27FC236}">
                <a16:creationId xmlns:a16="http://schemas.microsoft.com/office/drawing/2014/main" id="{7D2A6EB3-9CC7-493F-A539-EB7ECFF541A4}"/>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The operational semantics is untyped. Safety comes from the proved contracts.</a:t>
            </a:r>
          </a:p>
        </p:txBody>
      </p:sp>
    </p:spTree>
    <p:extLst>
      <p:ext uri="{BB962C8B-B14F-4D97-AF65-F5344CB8AC3E}">
        <p14:creationId xmlns:p14="http://schemas.microsoft.com/office/powerpoint/2010/main" val="14468643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F4151D-487D-449F-B09F-BCB71C087CA3}"/>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CJR syntax</a:t>
            </a:r>
          </a:p>
        </p:txBody>
      </p:sp>
      <p:sp>
        <p:nvSpPr>
          <p:cNvPr id="2" name="">
            <a:extLst xmlns:a="http://schemas.openxmlformats.org/drawingml/2006/main">
              <a:ext uri="{FF2B5EF4-FFF2-40B4-BE49-F238E27FC236}">
                <a16:creationId xmlns:a16="http://schemas.microsoft.com/office/drawing/2014/main" id="{243DC3AA-FC3A-49B5-A33D-F4496EDB6199}"/>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90CCA71-9797-4116-AB5A-DA619865D561}"/>
              </a:ext>
            </a:extLst>
          </p:cNvPr>
          <p:cNvSpPr>
            <a:spLocks xmlns:a="http://schemas.openxmlformats.org/drawingml/2006/main" noGrp="1"/>
          </p:cNvSpPr>
          <p:nvPr/>
        </p:nvSpPr>
        <p:spPr>
          <a:xfrm xmlns:a="http://schemas.openxmlformats.org/drawingml/2006/main">
            <a:off x="609600" y="1809750"/>
            <a:ext cx="5524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345"/>
                </a:solidFill>
                <a:latin typeface="Menlo"/>
                <a:ea typeface="Menlo"/>
                <a:cs typeface="Menlo"/>
              </a:defRPr>
            </a:defPPr>
          </a:lstStyle>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let frozen = 1</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var n = 3</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while (0 &lt; n) {</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    n = n - 1</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if (n &lt;= 0) { 0 } else { n }</a:t>
            </a:r>
          </a:p>
        </p:txBody>
      </p:sp>
      <p:sp>
        <p:nvSpPr>
          <p:cNvPr id="4" name="">
            <a:extLst xmlns:a="http://schemas.openxmlformats.org/drawingml/2006/main">
              <a:ext uri="{FF2B5EF4-FFF2-40B4-BE49-F238E27FC236}">
                <a16:creationId xmlns:a16="http://schemas.microsoft.com/office/drawing/2014/main" id="{E5FEE62B-DD86-4CC0-9AF1-22CB96D1E116}"/>
              </a:ext>
            </a:extLst>
          </p:cNvPr>
          <p:cNvSpPr>
            <a:spLocks xmlns:a="http://schemas.openxmlformats.org/drawingml/2006/main" noGrp="1"/>
          </p:cNvSpPr>
          <p:nvPr/>
        </p:nvSpPr>
        <p:spPr>
          <a:xfrm xmlns:a="http://schemas.openxmlformats.org/drawingml/2006/main">
            <a:off x="6705600" y="17145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Two kinds of binding</a:t>
            </a:r>
          </a:p>
        </p:txBody>
      </p:sp>
      <p:sp>
        <p:nvSpPr>
          <p:cNvPr id="5" name="">
            <a:extLst xmlns:a="http://schemas.openxmlformats.org/drawingml/2006/main">
              <a:ext uri="{FF2B5EF4-FFF2-40B4-BE49-F238E27FC236}">
                <a16:creationId xmlns:a16="http://schemas.microsoft.com/office/drawing/2014/main" id="{932D7FD3-4366-410E-95B2-801391F0ECA7}"/>
              </a:ext>
            </a:extLst>
          </p:cNvPr>
          <p:cNvSpPr>
            <a:spLocks xmlns:a="http://schemas.openxmlformats.org/drawingml/2006/main" noGrp="1"/>
          </p:cNvSpPr>
          <p:nvPr/>
        </p:nvSpPr>
        <p:spPr>
          <a:xfrm xmlns:a="http://schemas.openxmlformats.org/drawingml/2006/main">
            <a:off x="6705600" y="2381250"/>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let substitutes an immutable value.</a:t>
            </a:r>
          </a:p>
        </p:txBody>
      </p:sp>
      <p:sp>
        <p:nvSpPr>
          <p:cNvPr id="6" name="">
            <a:extLst xmlns:a="http://schemas.openxmlformats.org/drawingml/2006/main">
              <a:ext uri="{FF2B5EF4-FFF2-40B4-BE49-F238E27FC236}">
                <a16:creationId xmlns:a16="http://schemas.microsoft.com/office/drawing/2014/main" id="{E0DE3258-F292-4EF1-B049-A310D912B92D}"/>
              </a:ext>
            </a:extLst>
          </p:cNvPr>
          <p:cNvSpPr>
            <a:spLocks xmlns:a="http://schemas.openxmlformats.org/drawingml/2006/main" noGrp="1"/>
          </p:cNvSpPr>
          <p:nvPr/>
        </p:nvSpPr>
        <p:spPr>
          <a:xfrm xmlns:a="http://schemas.openxmlformats.org/drawingml/2006/main">
            <a:off x="6705600" y="319087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var owns a mutable stack slot.</a:t>
            </a:r>
          </a:p>
        </p:txBody>
      </p:sp>
      <p:sp>
        <p:nvSpPr>
          <p:cNvPr id="7" name="">
            <a:extLst xmlns:a="http://schemas.openxmlformats.org/drawingml/2006/main">
              <a:ext uri="{FF2B5EF4-FFF2-40B4-BE49-F238E27FC236}">
                <a16:creationId xmlns:a16="http://schemas.microsoft.com/office/drawing/2014/main" id="{596BE7B6-6A04-4BE0-BB7E-670A5B681391}"/>
              </a:ext>
            </a:extLst>
          </p:cNvPr>
          <p:cNvSpPr>
            <a:spLocks xmlns:a="http://schemas.openxmlformats.org/drawingml/2006/main" noGrp="1"/>
          </p:cNvSpPr>
          <p:nvPr/>
        </p:nvSpPr>
        <p:spPr>
          <a:xfrm xmlns:a="http://schemas.openxmlformats.org/drawingml/2006/main">
            <a:off x="6705600" y="4000500"/>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A block’s last expression supplies its result.</a:t>
            </a:r>
          </a:p>
        </p:txBody>
      </p:sp>
      <p:sp>
        <p:nvSpPr>
          <p:cNvPr id="8" name="">
            <a:extLst xmlns:a="http://schemas.openxmlformats.org/drawingml/2006/main">
              <a:ext uri="{FF2B5EF4-FFF2-40B4-BE49-F238E27FC236}">
                <a16:creationId xmlns:a16="http://schemas.microsoft.com/office/drawing/2014/main" id="{4AFD3B5F-8DEF-4FED-ACE2-43F8A1894DC6}"/>
              </a:ext>
            </a:extLst>
          </p:cNvPr>
          <p:cNvSpPr>
            <a:spLocks xmlns:a="http://schemas.openxmlformats.org/drawingml/2006/main" noGrp="1"/>
          </p:cNvSpPr>
          <p:nvPr/>
        </p:nvSpPr>
        <p:spPr>
          <a:xfrm xmlns:a="http://schemas.openxmlformats.org/drawingml/2006/main">
            <a:off x="6705600" y="4857750"/>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Surface constructs become CJR expression trees.</a:t>
            </a:r>
          </a:p>
        </p:txBody>
      </p:sp>
    </p:spTree>
    <p:extLst>
      <p:ext uri="{BB962C8B-B14F-4D97-AF65-F5344CB8AC3E}">
        <p14:creationId xmlns:p14="http://schemas.microsoft.com/office/powerpoint/2010/main" val="17670434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346491-961A-4130-921A-3AC53D90B75F}"/>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Machine state and small-step semantics</a:t>
            </a:r>
          </a:p>
        </p:txBody>
      </p:sp>
      <p:sp>
        <p:nvSpPr>
          <p:cNvPr id="2" name="">
            <a:extLst xmlns:a="http://schemas.openxmlformats.org/drawingml/2006/main">
              <a:ext uri="{FF2B5EF4-FFF2-40B4-BE49-F238E27FC236}">
                <a16:creationId xmlns:a16="http://schemas.microsoft.com/office/drawing/2014/main" id="{92EF26B3-213E-4BEF-B805-25E49579DBC9}"/>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C4A91A8-6FFF-421A-8011-9A9784983973}"/>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Three memory regions</a:t>
            </a:r>
          </a:p>
        </p:txBody>
      </p:sp>
      <p:sp>
        <p:nvSpPr>
          <p:cNvPr id="4" name="">
            <a:extLst xmlns:a="http://schemas.openxmlformats.org/drawingml/2006/main">
              <a:ext uri="{FF2B5EF4-FFF2-40B4-BE49-F238E27FC236}">
                <a16:creationId xmlns:a16="http://schemas.microsoft.com/office/drawing/2014/main" id="{3354BDA3-A2DC-4D09-8C3F-94C76DE8369E}"/>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One step at a time</a:t>
            </a:r>
          </a:p>
        </p:txBody>
      </p:sp>
      <p:sp>
        <p:nvSpPr>
          <p:cNvPr id="5" name="">
            <a:extLst xmlns:a="http://schemas.openxmlformats.org/drawingml/2006/main">
              <a:ext uri="{FF2B5EF4-FFF2-40B4-BE49-F238E27FC236}">
                <a16:creationId xmlns:a16="http://schemas.microsoft.com/office/drawing/2014/main" id="{3AF60283-20A4-4497-BE57-21382C98B54A}"/>
              </a:ext>
            </a:extLst>
          </p:cNvPr>
          <p:cNvSpPr>
            <a:spLocks xmlns:a="http://schemas.openxmlformats.org/drawingml/2006/main" noGrp="1"/>
          </p:cNvSpPr>
          <p:nvPr/>
        </p:nvSpPr>
        <p:spPr>
          <a:xfrm xmlns:a="http://schemas.openxmlformats.org/drawingml/2006/main">
            <a:off x="6096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Stack map: mutable locals and unboxed structs.</a:t>
            </a:r>
          </a:p>
        </p:txBody>
      </p:sp>
      <p:sp>
        <p:nvSpPr>
          <p:cNvPr id="6" name="">
            <a:extLst xmlns:a="http://schemas.openxmlformats.org/drawingml/2006/main">
              <a:ext uri="{FF2B5EF4-FFF2-40B4-BE49-F238E27FC236}">
                <a16:creationId xmlns:a16="http://schemas.microsoft.com/office/drawing/2014/main" id="{0ECD90B7-B7F3-4DA7-A7A3-DFB1A2AA0175}"/>
              </a:ext>
            </a:extLst>
          </p:cNvPr>
          <p:cNvSpPr>
            <a:spLocks xmlns:a="http://schemas.openxmlformats.org/drawingml/2006/main" noGrp="1"/>
          </p:cNvSpPr>
          <p:nvPr/>
        </p:nvSpPr>
        <p:spPr>
          <a:xfrm xmlns:a="http://schemas.openxmlformats.org/drawingml/2006/main">
            <a:off x="6096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Raw map and block-length map: allocated words.</a:t>
            </a:r>
          </a:p>
        </p:txBody>
      </p:sp>
      <p:sp>
        <p:nvSpPr>
          <p:cNvPr id="7" name="">
            <a:extLst xmlns:a="http://schemas.openxmlformats.org/drawingml/2006/main">
              <a:ext uri="{FF2B5EF4-FFF2-40B4-BE49-F238E27FC236}">
                <a16:creationId xmlns:a16="http://schemas.microsoft.com/office/drawing/2014/main" id="{60A3D436-A486-445B-8878-3C87EC0C926F}"/>
              </a:ext>
            </a:extLst>
          </p:cNvPr>
          <p:cNvSpPr>
            <a:spLocks xmlns:a="http://schemas.openxmlformats.org/drawingml/2006/main" noGrp="1"/>
          </p:cNvSpPr>
          <p:nvPr/>
        </p:nvSpPr>
        <p:spPr>
          <a:xfrm xmlns:a="http://schemas.openxmlformats.org/drawingml/2006/main">
            <a:off x="609600" y="405765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Object map: fields indexed by object and field number.</a:t>
            </a:r>
          </a:p>
        </p:txBody>
      </p:sp>
      <p:sp>
        <p:nvSpPr>
          <p:cNvPr id="8" name="">
            <a:extLst xmlns:a="http://schemas.openxmlformats.org/drawingml/2006/main">
              <a:ext uri="{FF2B5EF4-FFF2-40B4-BE49-F238E27FC236}">
                <a16:creationId xmlns:a16="http://schemas.microsoft.com/office/drawing/2014/main" id="{0DF1A864-2008-4BFC-8F95-BB8289F5068B}"/>
              </a:ext>
            </a:extLst>
          </p:cNvPr>
          <p:cNvSpPr>
            <a:spLocks xmlns:a="http://schemas.openxmlformats.org/drawingml/2006/main" noGrp="1"/>
          </p:cNvSpPr>
          <p:nvPr/>
        </p:nvSpPr>
        <p:spPr>
          <a:xfrm xmlns:a="http://schemas.openxmlformats.org/drawingml/2006/main">
            <a:off x="64008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 fresh-address counter serves all regions.</a:t>
            </a:r>
          </a:p>
        </p:txBody>
      </p:sp>
      <p:sp>
        <p:nvSpPr>
          <p:cNvPr id="9" name="">
            <a:extLst xmlns:a="http://schemas.openxmlformats.org/drawingml/2006/main">
              <a:ext uri="{FF2B5EF4-FFF2-40B4-BE49-F238E27FC236}">
                <a16:creationId xmlns:a16="http://schemas.microsoft.com/office/drawing/2014/main" id="{98CAFCD4-6AA9-451E-A45A-52A47D0CB354}"/>
              </a:ext>
            </a:extLst>
          </p:cNvPr>
          <p:cNvSpPr>
            <a:spLocks xmlns:a="http://schemas.openxmlformats.org/drawingml/2006/main" noGrp="1"/>
          </p:cNvSpPr>
          <p:nvPr/>
        </p:nvSpPr>
        <p:spPr>
          <a:xfrm xmlns:a="http://schemas.openxmlformats.org/drawingml/2006/main">
            <a:off x="6400800" y="31242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Head rules define primitive reductions.</a:t>
            </a:r>
          </a:p>
        </p:txBody>
      </p:sp>
      <p:sp>
        <p:nvSpPr>
          <p:cNvPr id="10" name="">
            <a:extLst xmlns:a="http://schemas.openxmlformats.org/drawingml/2006/main">
              <a:ext uri="{FF2B5EF4-FFF2-40B4-BE49-F238E27FC236}">
                <a16:creationId xmlns:a16="http://schemas.microsoft.com/office/drawing/2014/main" id="{E3EBA614-57D9-4F45-8ED3-9D38DFABA0AC}"/>
              </a:ext>
            </a:extLst>
          </p:cNvPr>
          <p:cNvSpPr>
            <a:spLocks xmlns:a="http://schemas.openxmlformats.org/drawingml/2006/main" noGrp="1"/>
          </p:cNvSpPr>
          <p:nvPr/>
        </p:nvSpPr>
        <p:spPr>
          <a:xfrm xmlns:a="http://schemas.openxmlformats.org/drawingml/2006/main">
            <a:off x="6400800" y="39624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Evaluation contexts select the next subexpression.</a:t>
            </a:r>
          </a:p>
        </p:txBody>
      </p:sp>
      <p:sp>
        <p:nvSpPr>
          <p:cNvPr id="11" name="">
            <a:extLst xmlns:a="http://schemas.openxmlformats.org/drawingml/2006/main">
              <a:ext uri="{FF2B5EF4-FFF2-40B4-BE49-F238E27FC236}">
                <a16:creationId xmlns:a16="http://schemas.microsoft.com/office/drawing/2014/main" id="{26FDAE02-0C39-463C-8F91-654FDD4F163F}"/>
              </a:ext>
            </a:extLst>
          </p:cNvPr>
          <p:cNvSpPr>
            <a:spLocks xmlns:a="http://schemas.openxmlformats.org/drawingml/2006/main" noGrp="1"/>
          </p:cNvSpPr>
          <p:nvPr/>
        </p:nvSpPr>
        <p:spPr>
          <a:xfrm xmlns:a="http://schemas.openxmlformats.org/drawingml/2006/main">
            <a:off x="6400800" y="48482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Invalid memory lookups have no reduction rule.</a:t>
            </a:r>
          </a:p>
        </p:txBody>
      </p:sp>
      <p:sp>
        <p:nvSpPr>
          <p:cNvPr id="12" name="">
            <a:extLst xmlns:a="http://schemas.openxmlformats.org/drawingml/2006/main">
              <a:ext uri="{FF2B5EF4-FFF2-40B4-BE49-F238E27FC236}">
                <a16:creationId xmlns:a16="http://schemas.microsoft.com/office/drawing/2014/main" id="{F24380E1-2186-4E88-8798-1386789B01EE}"/>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Safety means every reachable configuration can step or is already a value.</a:t>
            </a:r>
          </a:p>
        </p:txBody>
      </p:sp>
    </p:spTree>
    <p:extLst>
      <p:ext uri="{BB962C8B-B14F-4D97-AF65-F5344CB8AC3E}">
        <p14:creationId xmlns:p14="http://schemas.microsoft.com/office/powerpoint/2010/main" val="16034784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CB840D-E912-4DF1-9C3C-76B8EA18E0AA}"/>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Rocq: proofs as checked terms</a:t>
            </a:r>
          </a:p>
        </p:txBody>
      </p:sp>
      <p:sp>
        <p:nvSpPr>
          <p:cNvPr id="2" name="">
            <a:extLst xmlns:a="http://schemas.openxmlformats.org/drawingml/2006/main">
              <a:ext uri="{FF2B5EF4-FFF2-40B4-BE49-F238E27FC236}">
                <a16:creationId xmlns:a16="http://schemas.microsoft.com/office/drawing/2014/main" id="{1412FDE7-8C5A-42A0-9777-2EB08B13C968}"/>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2F7F7C0-8722-42EB-9F04-E7A3908A1BBB}"/>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Writing the proof</a:t>
            </a:r>
          </a:p>
        </p:txBody>
      </p:sp>
      <p:sp>
        <p:nvSpPr>
          <p:cNvPr id="4" name="">
            <a:extLst xmlns:a="http://schemas.openxmlformats.org/drawingml/2006/main">
              <a:ext uri="{FF2B5EF4-FFF2-40B4-BE49-F238E27FC236}">
                <a16:creationId xmlns:a16="http://schemas.microsoft.com/office/drawing/2014/main" id="{207A6754-8743-43C0-9D7D-A1EAA6FB2DB2}"/>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Checking the proof</a:t>
            </a:r>
          </a:p>
        </p:txBody>
      </p:sp>
      <p:sp>
        <p:nvSpPr>
          <p:cNvPr id="5" name="">
            <a:extLst xmlns:a="http://schemas.openxmlformats.org/drawingml/2006/main">
              <a:ext uri="{FF2B5EF4-FFF2-40B4-BE49-F238E27FC236}">
                <a16:creationId xmlns:a16="http://schemas.microsoft.com/office/drawing/2014/main" id="{C48CDA9A-2590-4D6E-B512-7E3112B862B5}"/>
              </a:ext>
            </a:extLst>
          </p:cNvPr>
          <p:cNvSpPr>
            <a:spLocks xmlns:a="http://schemas.openxmlformats.org/drawingml/2006/main" noGrp="1"/>
          </p:cNvSpPr>
          <p:nvPr/>
        </p:nvSpPr>
        <p:spPr>
          <a:xfrm xmlns:a="http://schemas.openxmlformats.org/drawingml/2006/main">
            <a:off x="6096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Definitions describe programs and mathematical models.</a:t>
            </a:r>
          </a:p>
        </p:txBody>
      </p:sp>
      <p:sp>
        <p:nvSpPr>
          <p:cNvPr id="6" name="">
            <a:extLst xmlns:a="http://schemas.openxmlformats.org/drawingml/2006/main">
              <a:ext uri="{FF2B5EF4-FFF2-40B4-BE49-F238E27FC236}">
                <a16:creationId xmlns:a16="http://schemas.microsoft.com/office/drawing/2014/main" id="{2CBEBFBF-BC42-4162-AA97-31D28305694F}"/>
              </a:ext>
            </a:extLst>
          </p:cNvPr>
          <p:cNvSpPr>
            <a:spLocks xmlns:a="http://schemas.openxmlformats.org/drawingml/2006/main" noGrp="1"/>
          </p:cNvSpPr>
          <p:nvPr/>
        </p:nvSpPr>
        <p:spPr>
          <a:xfrm xmlns:a="http://schemas.openxmlformats.org/drawingml/2006/main">
            <a:off x="609600" y="31718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 theorem statement is a type.</a:t>
            </a:r>
          </a:p>
        </p:txBody>
      </p:sp>
      <p:sp>
        <p:nvSpPr>
          <p:cNvPr id="7" name="">
            <a:extLst xmlns:a="http://schemas.openxmlformats.org/drawingml/2006/main">
              <a:ext uri="{FF2B5EF4-FFF2-40B4-BE49-F238E27FC236}">
                <a16:creationId xmlns:a16="http://schemas.microsoft.com/office/drawing/2014/main" id="{74CC87CD-1805-4213-9847-BC70BD713F1C}"/>
              </a:ext>
            </a:extLst>
          </p:cNvPr>
          <p:cNvSpPr>
            <a:spLocks xmlns:a="http://schemas.openxmlformats.org/drawingml/2006/main" noGrp="1"/>
          </p:cNvSpPr>
          <p:nvPr/>
        </p:nvSpPr>
        <p:spPr>
          <a:xfrm xmlns:a="http://schemas.openxmlformats.org/drawingml/2006/main">
            <a:off x="609600" y="40100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Tactics help construct a term of that type.</a:t>
            </a:r>
          </a:p>
        </p:txBody>
      </p:sp>
      <p:sp>
        <p:nvSpPr>
          <p:cNvPr id="8" name="">
            <a:extLst xmlns:a="http://schemas.openxmlformats.org/drawingml/2006/main">
              <a:ext uri="{FF2B5EF4-FFF2-40B4-BE49-F238E27FC236}">
                <a16:creationId xmlns:a16="http://schemas.microsoft.com/office/drawing/2014/main" id="{42E2F823-DE58-46C4-B90E-DE40FFE6DD13}"/>
              </a:ext>
            </a:extLst>
          </p:cNvPr>
          <p:cNvSpPr>
            <a:spLocks xmlns:a="http://schemas.openxmlformats.org/drawingml/2006/main" noGrp="1"/>
          </p:cNvSpPr>
          <p:nvPr/>
        </p:nvSpPr>
        <p:spPr>
          <a:xfrm xmlns:a="http://schemas.openxmlformats.org/drawingml/2006/main">
            <a:off x="64008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The kernel checks the resulting term.</a:t>
            </a:r>
          </a:p>
        </p:txBody>
      </p:sp>
      <p:sp>
        <p:nvSpPr>
          <p:cNvPr id="9" name="">
            <a:extLst xmlns:a="http://schemas.openxmlformats.org/drawingml/2006/main">
              <a:ext uri="{FF2B5EF4-FFF2-40B4-BE49-F238E27FC236}">
                <a16:creationId xmlns:a16="http://schemas.microsoft.com/office/drawing/2014/main" id="{2E725E8B-5EEB-4DCF-84FA-48CC326CA5DC}"/>
              </a:ext>
            </a:extLst>
          </p:cNvPr>
          <p:cNvSpPr>
            <a:spLocks xmlns:a="http://schemas.openxmlformats.org/drawingml/2006/main" noGrp="1"/>
          </p:cNvSpPr>
          <p:nvPr/>
        </p:nvSpPr>
        <p:spPr>
          <a:xfrm xmlns:a="http://schemas.openxmlformats.org/drawingml/2006/main">
            <a:off x="6400800" y="31242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 tactic can fail or generate an invalid candidate.</a:t>
            </a:r>
          </a:p>
        </p:txBody>
      </p:sp>
      <p:sp>
        <p:nvSpPr>
          <p:cNvPr id="10" name="">
            <a:extLst xmlns:a="http://schemas.openxmlformats.org/drawingml/2006/main">
              <a:ext uri="{FF2B5EF4-FFF2-40B4-BE49-F238E27FC236}">
                <a16:creationId xmlns:a16="http://schemas.microsoft.com/office/drawing/2014/main" id="{62B97AA6-2227-4958-A1E7-7DCFBE7F4A64}"/>
              </a:ext>
            </a:extLst>
          </p:cNvPr>
          <p:cNvSpPr>
            <a:spLocks xmlns:a="http://schemas.openxmlformats.org/drawingml/2006/main" noGrp="1"/>
          </p:cNvSpPr>
          <p:nvPr/>
        </p:nvSpPr>
        <p:spPr>
          <a:xfrm xmlns:a="http://schemas.openxmlformats.org/drawingml/2006/main">
            <a:off x="6400800" y="40100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Acceptance depends on checking the term in its declared environment.</a:t>
            </a:r>
          </a:p>
        </p:txBody>
      </p:sp>
      <p:sp>
        <p:nvSpPr>
          <p:cNvPr id="11" name="">
            <a:extLst xmlns:a="http://schemas.openxmlformats.org/drawingml/2006/main">
              <a:ext uri="{FF2B5EF4-FFF2-40B4-BE49-F238E27FC236}">
                <a16:creationId xmlns:a16="http://schemas.microsoft.com/office/drawing/2014/main" id="{F28B9613-0E6D-476A-B67B-D6EFC7D775E4}"/>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This repository uses Coq 8.20.1, from before the Rocq rename.</a:t>
            </a:r>
          </a:p>
        </p:txBody>
      </p:sp>
    </p:spTree>
    <p:extLst>
      <p:ext uri="{BB962C8B-B14F-4D97-AF65-F5344CB8AC3E}">
        <p14:creationId xmlns:p14="http://schemas.microsoft.com/office/powerpoint/2010/main" val="9449311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B72E78-5715-4307-8452-32B830CA6553}"/>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Rocq achievements</a:t>
            </a:r>
          </a:p>
        </p:txBody>
      </p:sp>
      <p:sp>
        <p:nvSpPr>
          <p:cNvPr id="2" name="">
            <a:extLst xmlns:a="http://schemas.openxmlformats.org/drawingml/2006/main">
              <a:ext uri="{FF2B5EF4-FFF2-40B4-BE49-F238E27FC236}">
                <a16:creationId xmlns:a16="http://schemas.microsoft.com/office/drawing/2014/main" id="{B9CF3F7F-8757-4D3C-A351-714E9DEA2E1B}"/>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C9F846F1-6C7D-445C-A4E7-76B47A23779D}"/>
              </a:ext>
            </a:extLst>
          </p:cNvPr>
          <p:cNvSpPr>
            <a:spLocks xmlns:a="http://schemas.openxmlformats.org/drawingml/2006/main" noGrp="1"/>
          </p:cNvSpPr>
          <p:nvPr/>
        </p:nvSpPr>
        <p:spPr>
          <a:xfrm xmlns:a="http://schemas.openxmlformats.org/drawingml/2006/main">
            <a:off x="609600" y="17621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45C9D"/>
                </a:solidFill>
                <a:latin typeface="Arial"/>
                <a:ea typeface="Arial"/>
                <a:cs typeface="Arial"/>
              </a:defRPr>
            </a:defPPr>
          </a:lstStyle>
          <a:p xmlns:a="http://schemas.openxmlformats.org/drawingml/2006/main">
            <a:pPr>
              <a:defRPr sz="2550" b="1">
                <a:solidFill>
                  <a:srgbClr val="245C9D"/>
                </a:solidFill>
                <a:latin typeface="Arial"/>
                <a:ea typeface="Arial"/>
                <a:cs typeface="Arial"/>
              </a:defRPr>
            </a:pPr>
            <a:r>
              <a:rPr sz="2550" b="1">
                <a:solidFill>
                  <a:srgbClr val="245C9D"/>
                </a:solidFill>
                <a:latin typeface="Arial"/>
                <a:ea typeface="Arial"/>
                <a:cs typeface="Arial"/>
              </a:rPr>
              <a:t>CompCert</a:t>
            </a:r>
          </a:p>
        </p:txBody>
      </p:sp>
      <p:sp>
        <p:nvSpPr>
          <p:cNvPr id="4" name="">
            <a:extLst xmlns:a="http://schemas.openxmlformats.org/drawingml/2006/main">
              <a:ext uri="{FF2B5EF4-FFF2-40B4-BE49-F238E27FC236}">
                <a16:creationId xmlns:a16="http://schemas.microsoft.com/office/drawing/2014/main" id="{5547E4B7-FCCF-494B-8DE2-610244650A56}"/>
              </a:ext>
            </a:extLst>
          </p:cNvPr>
          <p:cNvSpPr>
            <a:spLocks xmlns:a="http://schemas.openxmlformats.org/drawingml/2006/main" noGrp="1"/>
          </p:cNvSpPr>
          <p:nvPr/>
        </p:nvSpPr>
        <p:spPr>
          <a:xfrm xmlns:a="http://schemas.openxmlformats.org/drawingml/2006/main">
            <a:off x="4381500" y="1762125"/>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53345"/>
                </a:solidFill>
                <a:latin typeface="Arial"/>
                <a:ea typeface="Arial"/>
                <a:cs typeface="Arial"/>
              </a:defRPr>
            </a:defPPr>
          </a:lstStyle>
          <a:p xmlns:a="http://schemas.openxmlformats.org/drawingml/2006/main">
            <a:pPr>
              <a:defRPr sz="2400" b="0">
                <a:solidFill>
                  <a:srgbClr val="253345"/>
                </a:solidFill>
                <a:latin typeface="Arial"/>
                <a:ea typeface="Arial"/>
                <a:cs typeface="Arial"/>
              </a:defRPr>
            </a:pPr>
            <a:r>
              <a:rPr sz="2400" b="0">
                <a:solidFill>
                  <a:srgbClr val="253345"/>
                </a:solidFill>
                <a:latin typeface="Arial"/>
                <a:ea typeface="Arial"/>
                <a:cs typeface="Arial"/>
              </a:rPr>
              <a:t>A compiler with machine-checked semantic-preservation proofs.</a:t>
            </a:r>
          </a:p>
        </p:txBody>
      </p:sp>
      <p:sp>
        <p:nvSpPr>
          <p:cNvPr id="5" name="">
            <a:extLst xmlns:a="http://schemas.openxmlformats.org/drawingml/2006/main">
              <a:ext uri="{FF2B5EF4-FFF2-40B4-BE49-F238E27FC236}">
                <a16:creationId xmlns:a16="http://schemas.microsoft.com/office/drawing/2014/main" id="{34078755-CDF2-48B6-9DE7-D4B3C79057C3}"/>
              </a:ext>
            </a:extLst>
          </p:cNvPr>
          <p:cNvSpPr>
            <a:spLocks xmlns:a="http://schemas.openxmlformats.org/drawingml/2006/main" noGrp="1"/>
          </p:cNvSpPr>
          <p:nvPr/>
        </p:nvSpPr>
        <p:spPr>
          <a:xfrm xmlns:a="http://schemas.openxmlformats.org/drawingml/2006/main">
            <a:off x="609600" y="30956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45C9D"/>
                </a:solidFill>
                <a:latin typeface="Arial"/>
                <a:ea typeface="Arial"/>
                <a:cs typeface="Arial"/>
              </a:defRPr>
            </a:defPPr>
          </a:lstStyle>
          <a:p xmlns:a="http://schemas.openxmlformats.org/drawingml/2006/main">
            <a:pPr>
              <a:defRPr sz="2550" b="1">
                <a:solidFill>
                  <a:srgbClr val="245C9D"/>
                </a:solidFill>
                <a:latin typeface="Arial"/>
                <a:ea typeface="Arial"/>
                <a:cs typeface="Arial"/>
              </a:defRPr>
            </a:pPr>
            <a:r>
              <a:rPr sz="2550" b="1">
                <a:solidFill>
                  <a:srgbClr val="245C9D"/>
                </a:solidFill>
                <a:latin typeface="Arial"/>
                <a:ea typeface="Arial"/>
                <a:cs typeface="Arial"/>
              </a:rPr>
              <a:t>Four Colour Theorem</a:t>
            </a:r>
          </a:p>
        </p:txBody>
      </p:sp>
      <p:sp>
        <p:nvSpPr>
          <p:cNvPr id="6" name="">
            <a:extLst xmlns:a="http://schemas.openxmlformats.org/drawingml/2006/main">
              <a:ext uri="{FF2B5EF4-FFF2-40B4-BE49-F238E27FC236}">
                <a16:creationId xmlns:a16="http://schemas.microsoft.com/office/drawing/2014/main" id="{48ECF5A9-B473-41D1-9DD5-9D7C13A86F03}"/>
              </a:ext>
            </a:extLst>
          </p:cNvPr>
          <p:cNvSpPr>
            <a:spLocks xmlns:a="http://schemas.openxmlformats.org/drawingml/2006/main" noGrp="1"/>
          </p:cNvSpPr>
          <p:nvPr/>
        </p:nvSpPr>
        <p:spPr>
          <a:xfrm xmlns:a="http://schemas.openxmlformats.org/drawingml/2006/main">
            <a:off x="4381500" y="3095625"/>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53345"/>
                </a:solidFill>
                <a:latin typeface="Arial"/>
                <a:ea typeface="Arial"/>
                <a:cs typeface="Arial"/>
              </a:defRPr>
            </a:defPPr>
          </a:lstStyle>
          <a:p xmlns:a="http://schemas.openxmlformats.org/drawingml/2006/main">
            <a:pPr>
              <a:defRPr sz="2400" b="0">
                <a:solidFill>
                  <a:srgbClr val="253345"/>
                </a:solidFill>
                <a:latin typeface="Arial"/>
                <a:ea typeface="Arial"/>
                <a:cs typeface="Arial"/>
              </a:defRPr>
            </a:pPr>
            <a:r>
              <a:rPr sz="2400" b="0">
                <a:solidFill>
                  <a:srgbClr val="253345"/>
                </a:solidFill>
                <a:latin typeface="Arial"/>
                <a:ea typeface="Arial"/>
                <a:cs typeface="Arial"/>
              </a:rPr>
              <a:t>A formal proof that every planar map admits a four-colouring.</a:t>
            </a:r>
          </a:p>
        </p:txBody>
      </p:sp>
      <p:sp>
        <p:nvSpPr>
          <p:cNvPr id="7" name="">
            <a:extLst xmlns:a="http://schemas.openxmlformats.org/drawingml/2006/main">
              <a:ext uri="{FF2B5EF4-FFF2-40B4-BE49-F238E27FC236}">
                <a16:creationId xmlns:a16="http://schemas.microsoft.com/office/drawing/2014/main" id="{53653BD1-635E-4610-A133-BE96D1AA639B}"/>
              </a:ext>
            </a:extLst>
          </p:cNvPr>
          <p:cNvSpPr>
            <a:spLocks xmlns:a="http://schemas.openxmlformats.org/drawingml/2006/main" noGrp="1"/>
          </p:cNvSpPr>
          <p:nvPr/>
        </p:nvSpPr>
        <p:spPr>
          <a:xfrm xmlns:a="http://schemas.openxmlformats.org/drawingml/2006/main">
            <a:off x="609600" y="44291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245C9D"/>
                </a:solidFill>
                <a:latin typeface="Arial"/>
                <a:ea typeface="Arial"/>
                <a:cs typeface="Arial"/>
              </a:defRPr>
            </a:defPPr>
          </a:lstStyle>
          <a:p xmlns:a="http://schemas.openxmlformats.org/drawingml/2006/main">
            <a:pPr>
              <a:defRPr sz="2550" b="1">
                <a:solidFill>
                  <a:srgbClr val="245C9D"/>
                </a:solidFill>
                <a:latin typeface="Arial"/>
                <a:ea typeface="Arial"/>
                <a:cs typeface="Arial"/>
              </a:defRPr>
            </a:pPr>
            <a:r>
              <a:rPr sz="2550" b="1">
                <a:solidFill>
                  <a:srgbClr val="245C9D"/>
                </a:solidFill>
                <a:latin typeface="Arial"/>
                <a:ea typeface="Arial"/>
                <a:cs typeface="Arial"/>
              </a:rPr>
              <a:t>Feit–Thompson Theorem</a:t>
            </a:r>
          </a:p>
        </p:txBody>
      </p:sp>
      <p:sp>
        <p:nvSpPr>
          <p:cNvPr id="8" name="">
            <a:extLst xmlns:a="http://schemas.openxmlformats.org/drawingml/2006/main">
              <a:ext uri="{FF2B5EF4-FFF2-40B4-BE49-F238E27FC236}">
                <a16:creationId xmlns:a16="http://schemas.microsoft.com/office/drawing/2014/main" id="{2EC675D5-EA0F-45A7-8C21-89BBF9F34444}"/>
              </a:ext>
            </a:extLst>
          </p:cNvPr>
          <p:cNvSpPr>
            <a:spLocks xmlns:a="http://schemas.openxmlformats.org/drawingml/2006/main" noGrp="1"/>
          </p:cNvSpPr>
          <p:nvPr/>
        </p:nvSpPr>
        <p:spPr>
          <a:xfrm xmlns:a="http://schemas.openxmlformats.org/drawingml/2006/main">
            <a:off x="4381500" y="4429125"/>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53345"/>
                </a:solidFill>
                <a:latin typeface="Arial"/>
                <a:ea typeface="Arial"/>
                <a:cs typeface="Arial"/>
              </a:defRPr>
            </a:defPPr>
          </a:lstStyle>
          <a:p xmlns:a="http://schemas.openxmlformats.org/drawingml/2006/main">
            <a:pPr>
              <a:defRPr sz="2400" b="0">
                <a:solidFill>
                  <a:srgbClr val="253345"/>
                </a:solidFill>
                <a:latin typeface="Arial"/>
                <a:ea typeface="Arial"/>
                <a:cs typeface="Arial"/>
              </a:defRPr>
            </a:pPr>
            <a:r>
              <a:rPr sz="2400" b="0">
                <a:solidFill>
                  <a:srgbClr val="253345"/>
                </a:solidFill>
                <a:latin typeface="Arial"/>
                <a:ea typeface="Arial"/>
                <a:cs typeface="Arial"/>
              </a:rPr>
              <a:t>A formal proof that every finite group of odd order is solvable.</a:t>
            </a:r>
          </a:p>
        </p:txBody>
      </p:sp>
    </p:spTree>
    <p:extLst>
      <p:ext uri="{BB962C8B-B14F-4D97-AF65-F5344CB8AC3E}">
        <p14:creationId xmlns:p14="http://schemas.microsoft.com/office/powerpoint/2010/main" val="7218989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EE7E8DE-0B4B-4092-A9F4-2CC1B22CA99B}"/>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Proof checking and escape hatches</a:t>
            </a:r>
          </a:p>
        </p:txBody>
      </p:sp>
      <p:sp>
        <p:nvSpPr>
          <p:cNvPr id="2" name="">
            <a:extLst xmlns:a="http://schemas.openxmlformats.org/drawingml/2006/main">
              <a:ext uri="{FF2B5EF4-FFF2-40B4-BE49-F238E27FC236}">
                <a16:creationId xmlns:a16="http://schemas.microsoft.com/office/drawing/2014/main" id="{E0F9E853-17A9-4B64-8D83-DA02BB78DC4C}"/>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D2E6E323-CB46-43AB-9E1F-516E79A774F3}"/>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Kernel checking has a context</a:t>
            </a:r>
          </a:p>
        </p:txBody>
      </p:sp>
      <p:sp>
        <p:nvSpPr>
          <p:cNvPr id="4" name="">
            <a:extLst xmlns:a="http://schemas.openxmlformats.org/drawingml/2006/main">
              <a:ext uri="{FF2B5EF4-FFF2-40B4-BE49-F238E27FC236}">
                <a16:creationId xmlns:a16="http://schemas.microsoft.com/office/drawing/2014/main" id="{1B004997-3E7B-4C71-AC02-0F86084B3AEB}"/>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The repository audit</a:t>
            </a:r>
          </a:p>
        </p:txBody>
      </p:sp>
      <p:sp>
        <p:nvSpPr>
          <p:cNvPr id="5" name="">
            <a:extLst xmlns:a="http://schemas.openxmlformats.org/drawingml/2006/main">
              <a:ext uri="{FF2B5EF4-FFF2-40B4-BE49-F238E27FC236}">
                <a16:creationId xmlns:a16="http://schemas.microsoft.com/office/drawing/2014/main" id="{52816A72-4091-4FA9-AB8A-27BAB527741E}"/>
              </a:ext>
            </a:extLst>
          </p:cNvPr>
          <p:cNvSpPr>
            <a:spLocks xmlns:a="http://schemas.openxmlformats.org/drawingml/2006/main" noGrp="1"/>
          </p:cNvSpPr>
          <p:nvPr/>
        </p:nvSpPr>
        <p:spPr>
          <a:xfrm xmlns:a="http://schemas.openxmlformats.org/drawingml/2006/main">
            <a:off x="6096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Admitted leaves an unproved assumption.</a:t>
            </a:r>
          </a:p>
        </p:txBody>
      </p:sp>
      <p:sp>
        <p:nvSpPr>
          <p:cNvPr id="6" name="">
            <a:extLst xmlns:a="http://schemas.openxmlformats.org/drawingml/2006/main">
              <a:ext uri="{FF2B5EF4-FFF2-40B4-BE49-F238E27FC236}">
                <a16:creationId xmlns:a16="http://schemas.microsoft.com/office/drawing/2014/main" id="{189378B5-C426-43E1-A474-A4766B2529DE}"/>
              </a:ext>
            </a:extLst>
          </p:cNvPr>
          <p:cNvSpPr>
            <a:spLocks xmlns:a="http://schemas.openxmlformats.org/drawingml/2006/main" noGrp="1"/>
          </p:cNvSpPr>
          <p:nvPr/>
        </p:nvSpPr>
        <p:spPr>
          <a:xfrm xmlns:a="http://schemas.openxmlformats.org/drawingml/2006/main">
            <a:off x="609600" y="31242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Axiom declares an assumption explicitly.</a:t>
            </a:r>
          </a:p>
        </p:txBody>
      </p:sp>
      <p:sp>
        <p:nvSpPr>
          <p:cNvPr id="7" name="">
            <a:extLst xmlns:a="http://schemas.openxmlformats.org/drawingml/2006/main">
              <a:ext uri="{FF2B5EF4-FFF2-40B4-BE49-F238E27FC236}">
                <a16:creationId xmlns:a16="http://schemas.microsoft.com/office/drawing/2014/main" id="{34A428FB-D6F1-484C-A397-D40EB7160680}"/>
              </a:ext>
            </a:extLst>
          </p:cNvPr>
          <p:cNvSpPr>
            <a:spLocks xmlns:a="http://schemas.openxmlformats.org/drawingml/2006/main" noGrp="1"/>
          </p:cNvSpPr>
          <p:nvPr/>
        </p:nvSpPr>
        <p:spPr>
          <a:xfrm xmlns:a="http://schemas.openxmlformats.org/drawingml/2006/main">
            <a:off x="609600" y="39624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Dependencies can introduce assumptions indirectly.</a:t>
            </a:r>
          </a:p>
        </p:txBody>
      </p:sp>
      <p:sp>
        <p:nvSpPr>
          <p:cNvPr id="8" name="">
            <a:extLst xmlns:a="http://schemas.openxmlformats.org/drawingml/2006/main">
              <a:ext uri="{FF2B5EF4-FFF2-40B4-BE49-F238E27FC236}">
                <a16:creationId xmlns:a16="http://schemas.microsoft.com/office/drawing/2014/main" id="{8A4B346B-0DC0-41FF-AB9A-3178D8331157}"/>
              </a:ext>
            </a:extLst>
          </p:cNvPr>
          <p:cNvSpPr>
            <a:spLocks xmlns:a="http://schemas.openxmlformats.org/drawingml/2006/main" noGrp="1"/>
          </p:cNvSpPr>
          <p:nvPr/>
        </p:nvSpPr>
        <p:spPr>
          <a:xfrm xmlns:a="http://schemas.openxmlformats.org/drawingml/2006/main">
            <a:off x="64008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Scan source for admissions and suspicious declarations.</a:t>
            </a:r>
          </a:p>
        </p:txBody>
      </p:sp>
      <p:sp>
        <p:nvSpPr>
          <p:cNvPr id="9" name="">
            <a:extLst xmlns:a="http://schemas.openxmlformats.org/drawingml/2006/main">
              <a:ext uri="{FF2B5EF4-FFF2-40B4-BE49-F238E27FC236}">
                <a16:creationId xmlns:a16="http://schemas.microsoft.com/office/drawing/2014/main" id="{737B97DE-1B22-4110-AF73-A1E1E1C4F7A2}"/>
              </a:ext>
            </a:extLst>
          </p:cNvPr>
          <p:cNvSpPr>
            <a:spLocks xmlns:a="http://schemas.openxmlformats.org/drawingml/2006/main" noGrp="1"/>
          </p:cNvSpPr>
          <p:nvPr/>
        </p:nvSpPr>
        <p:spPr>
          <a:xfrm xmlns:a="http://schemas.openxmlformats.org/drawingml/2006/main">
            <a:off x="64008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Use coqchk to independently check compiled proof objects.</a:t>
            </a:r>
          </a:p>
        </p:txBody>
      </p:sp>
      <p:sp>
        <p:nvSpPr>
          <p:cNvPr id="10" name="">
            <a:extLst xmlns:a="http://schemas.openxmlformats.org/drawingml/2006/main">
              <a:ext uri="{FF2B5EF4-FFF2-40B4-BE49-F238E27FC236}">
                <a16:creationId xmlns:a16="http://schemas.microsoft.com/office/drawing/2014/main" id="{E0F0C344-364B-4D57-8474-64C5EE12DBF6}"/>
              </a:ext>
            </a:extLst>
          </p:cNvPr>
          <p:cNvSpPr>
            <a:spLocks xmlns:a="http://schemas.openxmlformats.org/drawingml/2006/main" noGrp="1"/>
          </p:cNvSpPr>
          <p:nvPr/>
        </p:nvSpPr>
        <p:spPr>
          <a:xfrm xmlns:a="http://schemas.openxmlformats.org/drawingml/2006/main">
            <a:off x="6400800" y="405765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Use Print Assumptions on representative contracts and adequacy.</a:t>
            </a:r>
          </a:p>
        </p:txBody>
      </p:sp>
      <p:sp>
        <p:nvSpPr>
          <p:cNvPr id="11" name="">
            <a:extLst xmlns:a="http://schemas.openxmlformats.org/drawingml/2006/main">
              <a:ext uri="{FF2B5EF4-FFF2-40B4-BE49-F238E27FC236}">
                <a16:creationId xmlns:a16="http://schemas.microsoft.com/office/drawing/2014/main" id="{4099E124-72C0-4374-B4B1-12F7C1D771D6}"/>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Review the audited theorem set and any accepted assumptions, as well as the proof.</a:t>
            </a:r>
          </a:p>
        </p:txBody>
      </p:sp>
    </p:spTree>
    <p:extLst>
      <p:ext uri="{BB962C8B-B14F-4D97-AF65-F5344CB8AC3E}">
        <p14:creationId xmlns:p14="http://schemas.microsoft.com/office/powerpoint/2010/main" val="19206435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712DE3-B823-4236-9EE7-6A3510E6BAEC}"/>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Separation logic: owning memory</a:t>
            </a:r>
          </a:p>
        </p:txBody>
      </p:sp>
      <p:sp>
        <p:nvSpPr>
          <p:cNvPr id="2" name="">
            <a:extLst xmlns:a="http://schemas.openxmlformats.org/drawingml/2006/main">
              <a:ext uri="{FF2B5EF4-FFF2-40B4-BE49-F238E27FC236}">
                <a16:creationId xmlns:a16="http://schemas.microsoft.com/office/drawing/2014/main" id="{3E9FA17F-D2AF-420A-ABF8-02E22BA5069F}"/>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57804696-01B6-4E31-97A9-54BBF0C9BC97}"/>
              </a:ext>
            </a:extLst>
          </p:cNvPr>
          <p:cNvSpPr>
            <a:spLocks xmlns:a="http://schemas.openxmlformats.org/drawingml/2006/main" noGrp="1"/>
          </p:cNvSpPr>
          <p:nvPr/>
        </p:nvSpPr>
        <p:spPr>
          <a:xfrm xmlns:a="http://schemas.openxmlformats.org/drawingml/2006/main">
            <a:off x="609600" y="15240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45C9D"/>
                </a:solidFill>
                <a:latin typeface="Arial"/>
                <a:ea typeface="Arial"/>
                <a:cs typeface="Arial"/>
              </a:defRPr>
            </a:defPPr>
          </a:lstStyle>
          <a:p xmlns:a="http://schemas.openxmlformats.org/drawingml/2006/main">
            <a:pPr>
              <a:defRPr sz="2850" b="1">
                <a:solidFill>
                  <a:srgbClr val="245C9D"/>
                </a:solidFill>
                <a:latin typeface="Arial"/>
                <a:ea typeface="Arial"/>
                <a:cs typeface="Arial"/>
              </a:defRPr>
            </a:pPr>
            <a:r>
              <a:rPr sz="2850" b="1">
                <a:solidFill>
                  <a:srgbClr val="245C9D"/>
                </a:solidFill>
                <a:latin typeface="Arial"/>
                <a:ea typeface="Arial"/>
                <a:cs typeface="Arial"/>
              </a:rPr>
              <a:t>p ↦ 7  ∗  q ↦ 9</a:t>
            </a:r>
          </a:p>
        </p:txBody>
      </p:sp>
      <p:sp>
        <p:nvSpPr>
          <p:cNvPr id="4" name="">
            <a:extLst xmlns:a="http://schemas.openxmlformats.org/drawingml/2006/main">
              <a:ext uri="{FF2B5EF4-FFF2-40B4-BE49-F238E27FC236}">
                <a16:creationId xmlns:a16="http://schemas.microsoft.com/office/drawing/2014/main" id="{449F5298-D55A-4D82-AFF7-9D021657A0FB}"/>
              </a:ext>
            </a:extLst>
          </p:cNvPr>
          <p:cNvSpPr>
            <a:spLocks xmlns:a="http://schemas.openxmlformats.org/drawingml/2006/main" noGrp="1"/>
          </p:cNvSpPr>
          <p:nvPr/>
        </p:nvSpPr>
        <p:spPr>
          <a:xfrm xmlns:a="http://schemas.openxmlformats.org/drawingml/2006/main">
            <a:off x="609600" y="28575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36376"/>
                </a:solidFill>
                <a:latin typeface="Arial"/>
                <a:ea typeface="Arial"/>
                <a:cs typeface="Arial"/>
              </a:defRPr>
            </a:defPPr>
          </a:lstStyle>
          <a:p xmlns:a="http://schemas.openxmlformats.org/drawingml/2006/main">
            <a:pPr>
              <a:defRPr sz="1800" b="0">
                <a:solidFill>
                  <a:srgbClr val="536376"/>
                </a:solidFill>
                <a:latin typeface="Arial"/>
                <a:ea typeface="Arial"/>
                <a:cs typeface="Arial"/>
              </a:defRPr>
            </a:pPr>
            <a:r>
              <a:rPr sz="1800" b="0">
                <a:solidFill>
                  <a:srgbClr val="536376"/>
                </a:solidFill>
                <a:latin typeface="Arial"/>
                <a:ea typeface="Arial"/>
                <a:cs typeface="Arial"/>
              </a:rPr>
              <a:t>Own the cell at p and a disjoint cell at q</a:t>
            </a:r>
          </a:p>
        </p:txBody>
      </p:sp>
      <p:sp>
        <p:nvSpPr>
          <p:cNvPr id="5" name="">
            <a:extLst xmlns:a="http://schemas.openxmlformats.org/drawingml/2006/main">
              <a:ext uri="{FF2B5EF4-FFF2-40B4-BE49-F238E27FC236}">
                <a16:creationId xmlns:a16="http://schemas.microsoft.com/office/drawing/2014/main" id="{F2D78927-66EF-4560-A168-E7B7A57F372C}"/>
              </a:ext>
            </a:extLst>
          </p:cNvPr>
          <p:cNvSpPr>
            <a:spLocks xmlns:a="http://schemas.openxmlformats.org/drawingml/2006/main" noGrp="1"/>
          </p:cNvSpPr>
          <p:nvPr/>
        </p:nvSpPr>
        <p:spPr>
          <a:xfrm xmlns:a="http://schemas.openxmlformats.org/drawingml/2006/main">
            <a:off x="609600" y="37147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A resource assertion</a:t>
            </a:r>
          </a:p>
        </p:txBody>
      </p:sp>
      <p:sp>
        <p:nvSpPr>
          <p:cNvPr id="6" name="">
            <a:extLst xmlns:a="http://schemas.openxmlformats.org/drawingml/2006/main">
              <a:ext uri="{FF2B5EF4-FFF2-40B4-BE49-F238E27FC236}">
                <a16:creationId xmlns:a16="http://schemas.microsoft.com/office/drawing/2014/main" id="{6CDE72AE-448A-4BCD-B393-D372BD498110}"/>
              </a:ext>
            </a:extLst>
          </p:cNvPr>
          <p:cNvSpPr>
            <a:spLocks xmlns:a="http://schemas.openxmlformats.org/drawingml/2006/main" noGrp="1"/>
          </p:cNvSpPr>
          <p:nvPr/>
        </p:nvSpPr>
        <p:spPr>
          <a:xfrm xmlns:a="http://schemas.openxmlformats.org/drawingml/2006/main">
            <a:off x="6400800" y="37147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Separating conjunction</a:t>
            </a:r>
          </a:p>
        </p:txBody>
      </p:sp>
      <p:sp>
        <p:nvSpPr>
          <p:cNvPr id="7" name="">
            <a:extLst xmlns:a="http://schemas.openxmlformats.org/drawingml/2006/main">
              <a:ext uri="{FF2B5EF4-FFF2-40B4-BE49-F238E27FC236}">
                <a16:creationId xmlns:a16="http://schemas.microsoft.com/office/drawing/2014/main" id="{59943085-1EDB-47AD-A259-A98D8384E41A}"/>
              </a:ext>
            </a:extLst>
          </p:cNvPr>
          <p:cNvSpPr>
            <a:spLocks xmlns:a="http://schemas.openxmlformats.org/drawingml/2006/main" noGrp="1"/>
          </p:cNvSpPr>
          <p:nvPr/>
        </p:nvSpPr>
        <p:spPr>
          <a:xfrm xmlns:a="http://schemas.openxmlformats.org/drawingml/2006/main">
            <a:off x="609600" y="43053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p ↦ 7 describes ownership and the current contents.</a:t>
            </a:r>
          </a:p>
        </p:txBody>
      </p:sp>
      <p:sp>
        <p:nvSpPr>
          <p:cNvPr id="8" name="">
            <a:extLst xmlns:a="http://schemas.openxmlformats.org/drawingml/2006/main">
              <a:ext uri="{FF2B5EF4-FFF2-40B4-BE49-F238E27FC236}">
                <a16:creationId xmlns:a16="http://schemas.microsoft.com/office/drawing/2014/main" id="{11ACCB35-CEB3-4D01-8B6C-ACF598FBCC79}"/>
              </a:ext>
            </a:extLst>
          </p:cNvPr>
          <p:cNvSpPr>
            <a:spLocks xmlns:a="http://schemas.openxmlformats.org/drawingml/2006/main" noGrp="1"/>
          </p:cNvSpPr>
          <p:nvPr/>
        </p:nvSpPr>
        <p:spPr>
          <a:xfrm xmlns:a="http://schemas.openxmlformats.org/drawingml/2006/main">
            <a:off x="609600" y="51911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Writing p updates that assertion to p ↦ new_value.</a:t>
            </a:r>
          </a:p>
        </p:txBody>
      </p:sp>
      <p:sp>
        <p:nvSpPr>
          <p:cNvPr id="9" name="">
            <a:extLst xmlns:a="http://schemas.openxmlformats.org/drawingml/2006/main">
              <a:ext uri="{FF2B5EF4-FFF2-40B4-BE49-F238E27FC236}">
                <a16:creationId xmlns:a16="http://schemas.microsoft.com/office/drawing/2014/main" id="{D90E8F90-1136-4CB0-AF2B-A2A11F31755A}"/>
              </a:ext>
            </a:extLst>
          </p:cNvPr>
          <p:cNvSpPr>
            <a:spLocks xmlns:a="http://schemas.openxmlformats.org/drawingml/2006/main" noGrp="1"/>
          </p:cNvSpPr>
          <p:nvPr/>
        </p:nvSpPr>
        <p:spPr>
          <a:xfrm xmlns:a="http://schemas.openxmlformats.org/drawingml/2006/main">
            <a:off x="6400800" y="43053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P ∗ Q splits the available resources.</a:t>
            </a:r>
          </a:p>
        </p:txBody>
      </p:sp>
      <p:sp>
        <p:nvSpPr>
          <p:cNvPr id="10" name="">
            <a:extLst xmlns:a="http://schemas.openxmlformats.org/drawingml/2006/main">
              <a:ext uri="{FF2B5EF4-FFF2-40B4-BE49-F238E27FC236}">
                <a16:creationId xmlns:a16="http://schemas.microsoft.com/office/drawing/2014/main" id="{26398B75-E6B7-4ADA-AE9D-C9022480105F}"/>
              </a:ext>
            </a:extLst>
          </p:cNvPr>
          <p:cNvSpPr>
            <a:spLocks xmlns:a="http://schemas.openxmlformats.org/drawingml/2006/main" noGrp="1"/>
          </p:cNvSpPr>
          <p:nvPr/>
        </p:nvSpPr>
        <p:spPr>
          <a:xfrm xmlns:a="http://schemas.openxmlformats.org/drawingml/2006/main">
            <a:off x="6400800" y="51435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Exclusive ownership prevents two independent writes to the same cell.</a:t>
            </a:r>
          </a:p>
        </p:txBody>
      </p:sp>
    </p:spTree>
    <p:extLst>
      <p:ext uri="{BB962C8B-B14F-4D97-AF65-F5344CB8AC3E}">
        <p14:creationId xmlns:p14="http://schemas.microsoft.com/office/powerpoint/2010/main" val="7312877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AFC922-3E56-4BF6-8FB9-6950BF8519EB}"/>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The frame rule: local reasoning</a:t>
            </a:r>
          </a:p>
        </p:txBody>
      </p:sp>
      <p:sp>
        <p:nvSpPr>
          <p:cNvPr id="2" name="">
            <a:extLst xmlns:a="http://schemas.openxmlformats.org/drawingml/2006/main">
              <a:ext uri="{FF2B5EF4-FFF2-40B4-BE49-F238E27FC236}">
                <a16:creationId xmlns:a16="http://schemas.microsoft.com/office/drawing/2014/main" id="{534A70C2-4321-4171-8E35-6D8EB0602C5B}"/>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93E6CE88-349D-4703-A811-05C4128F39CD}"/>
              </a:ext>
            </a:extLst>
          </p:cNvPr>
          <p:cNvSpPr>
            <a:spLocks xmlns:a="http://schemas.openxmlformats.org/drawingml/2006/main" noGrp="1"/>
          </p:cNvSpPr>
          <p:nvPr/>
        </p:nvSpPr>
        <p:spPr>
          <a:xfrm xmlns:a="http://schemas.openxmlformats.org/drawingml/2006/main">
            <a:off x="609600" y="15240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45C9D"/>
                </a:solidFill>
                <a:latin typeface="Arial"/>
                <a:ea typeface="Arial"/>
                <a:cs typeface="Arial"/>
              </a:defRPr>
            </a:defPPr>
          </a:lstStyle>
          <a:p xmlns:a="http://schemas.openxmlformats.org/drawingml/2006/main">
            <a:pPr>
              <a:defRPr sz="2850" b="1">
                <a:solidFill>
                  <a:srgbClr val="245C9D"/>
                </a:solidFill>
                <a:latin typeface="Arial"/>
                <a:ea typeface="Arial"/>
                <a:cs typeface="Arial"/>
              </a:defRPr>
            </a:pPr>
            <a:r>
              <a:rPr sz="2850" b="1">
                <a:solidFill>
                  <a:srgbClr val="245C9D"/>
                </a:solidFill>
                <a:latin typeface="Arial"/>
                <a:ea typeface="Arial"/>
                <a:cs typeface="Arial"/>
              </a:rPr>
              <a:t>{ P }  e  { Q }</a:t>
            </a:r>
          </a:p>
          <a:p xmlns:a="http://schemas.openxmlformats.org/drawingml/2006/main">
            <a:pPr>
              <a:defRPr sz="2850" b="1">
                <a:solidFill>
                  <a:srgbClr val="245C9D"/>
                </a:solidFill>
                <a:latin typeface="Arial"/>
                <a:ea typeface="Arial"/>
                <a:cs typeface="Arial"/>
              </a:defRPr>
            </a:pPr>
            <a:r>
              <a:rPr sz="2850" b="1">
                <a:solidFill>
                  <a:srgbClr val="245C9D"/>
                </a:solidFill>
                <a:latin typeface="Arial"/>
                <a:ea typeface="Arial"/>
                <a:cs typeface="Arial"/>
              </a:rPr>
              <a:t>{ P ∗ R }  e  { Q ∗ R }</a:t>
            </a:r>
          </a:p>
        </p:txBody>
      </p:sp>
      <p:sp>
        <p:nvSpPr>
          <p:cNvPr id="4" name="">
            <a:extLst xmlns:a="http://schemas.openxmlformats.org/drawingml/2006/main">
              <a:ext uri="{FF2B5EF4-FFF2-40B4-BE49-F238E27FC236}">
                <a16:creationId xmlns:a16="http://schemas.microsoft.com/office/drawing/2014/main" id="{4F7C06C0-23E6-457B-9465-B0E951A45DAB}"/>
              </a:ext>
            </a:extLst>
          </p:cNvPr>
          <p:cNvSpPr>
            <a:spLocks xmlns:a="http://schemas.openxmlformats.org/drawingml/2006/main" noGrp="1"/>
          </p:cNvSpPr>
          <p:nvPr/>
        </p:nvSpPr>
        <p:spPr>
          <a:xfrm xmlns:a="http://schemas.openxmlformats.org/drawingml/2006/main">
            <a:off x="609600" y="28575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36376"/>
                </a:solidFill>
                <a:latin typeface="Arial"/>
                <a:ea typeface="Arial"/>
                <a:cs typeface="Arial"/>
              </a:defRPr>
            </a:defPPr>
          </a:lstStyle>
          <a:p xmlns:a="http://schemas.openxmlformats.org/drawingml/2006/main">
            <a:pPr>
              <a:defRPr sz="1800" b="0">
                <a:solidFill>
                  <a:srgbClr val="536376"/>
                </a:solidFill>
                <a:latin typeface="Arial"/>
                <a:ea typeface="Arial"/>
                <a:cs typeface="Arial"/>
              </a:defRPr>
            </a:pPr>
            <a:r>
              <a:rPr sz="1800" b="0">
                <a:solidFill>
                  <a:srgbClr val="536376"/>
                </a:solidFill>
                <a:latin typeface="Arial"/>
                <a:ea typeface="Arial"/>
                <a:cs typeface="Arial"/>
              </a:rPr>
              <a:t>Resources untouched by the operation remain available</a:t>
            </a:r>
          </a:p>
        </p:txBody>
      </p:sp>
      <p:sp>
        <p:nvSpPr>
          <p:cNvPr id="5" name="">
            <a:extLst xmlns:a="http://schemas.openxmlformats.org/drawingml/2006/main">
              <a:ext uri="{FF2B5EF4-FFF2-40B4-BE49-F238E27FC236}">
                <a16:creationId xmlns:a16="http://schemas.microsoft.com/office/drawing/2014/main" id="{64B60591-D573-4278-92B7-272B2841F2B4}"/>
              </a:ext>
            </a:extLst>
          </p:cNvPr>
          <p:cNvSpPr>
            <a:spLocks xmlns:a="http://schemas.openxmlformats.org/drawingml/2006/main" noGrp="1"/>
          </p:cNvSpPr>
          <p:nvPr/>
        </p:nvSpPr>
        <p:spPr>
          <a:xfrm xmlns:a="http://schemas.openxmlformats.org/drawingml/2006/main">
            <a:off x="609600" y="37147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The local proof</a:t>
            </a:r>
          </a:p>
        </p:txBody>
      </p:sp>
      <p:sp>
        <p:nvSpPr>
          <p:cNvPr id="6" name="">
            <a:extLst xmlns:a="http://schemas.openxmlformats.org/drawingml/2006/main">
              <a:ext uri="{FF2B5EF4-FFF2-40B4-BE49-F238E27FC236}">
                <a16:creationId xmlns:a16="http://schemas.microsoft.com/office/drawing/2014/main" id="{D79FE472-0721-4301-93EB-BF4FAA28245A}"/>
              </a:ext>
            </a:extLst>
          </p:cNvPr>
          <p:cNvSpPr>
            <a:spLocks xmlns:a="http://schemas.openxmlformats.org/drawingml/2006/main" noGrp="1"/>
          </p:cNvSpPr>
          <p:nvPr/>
        </p:nvSpPr>
        <p:spPr>
          <a:xfrm xmlns:a="http://schemas.openxmlformats.org/drawingml/2006/main">
            <a:off x="6400800" y="37147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The larger client</a:t>
            </a:r>
          </a:p>
        </p:txBody>
      </p:sp>
      <p:sp>
        <p:nvSpPr>
          <p:cNvPr id="7" name="">
            <a:extLst xmlns:a="http://schemas.openxmlformats.org/drawingml/2006/main">
              <a:ext uri="{FF2B5EF4-FFF2-40B4-BE49-F238E27FC236}">
                <a16:creationId xmlns:a16="http://schemas.microsoft.com/office/drawing/2014/main" id="{05388E82-03FE-4BEA-9D1B-C8F7912BC7E0}"/>
              </a:ext>
            </a:extLst>
          </p:cNvPr>
          <p:cNvSpPr>
            <a:spLocks xmlns:a="http://schemas.openxmlformats.org/drawingml/2006/main" noGrp="1"/>
          </p:cNvSpPr>
          <p:nvPr/>
        </p:nvSpPr>
        <p:spPr>
          <a:xfrm xmlns:a="http://schemas.openxmlformats.org/drawingml/2006/main">
            <a:off x="609600" y="43053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Prove the operation using its required ownership.</a:t>
            </a:r>
          </a:p>
        </p:txBody>
      </p:sp>
      <p:sp>
        <p:nvSpPr>
          <p:cNvPr id="8" name="">
            <a:extLst xmlns:a="http://schemas.openxmlformats.org/drawingml/2006/main">
              <a:ext uri="{FF2B5EF4-FFF2-40B4-BE49-F238E27FC236}">
                <a16:creationId xmlns:a16="http://schemas.microsoft.com/office/drawing/2014/main" id="{D7150A36-BD8F-469E-B66A-B3314565FB89}"/>
              </a:ext>
            </a:extLst>
          </p:cNvPr>
          <p:cNvSpPr>
            <a:spLocks xmlns:a="http://schemas.openxmlformats.org/drawingml/2006/main" noGrp="1"/>
          </p:cNvSpPr>
          <p:nvPr/>
        </p:nvSpPr>
        <p:spPr>
          <a:xfrm xmlns:a="http://schemas.openxmlformats.org/drawingml/2006/main">
            <a:off x="609600" y="51911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Describe precisely how that ownership changes.</a:t>
            </a:r>
          </a:p>
        </p:txBody>
      </p:sp>
      <p:sp>
        <p:nvSpPr>
          <p:cNvPr id="9" name="">
            <a:extLst xmlns:a="http://schemas.openxmlformats.org/drawingml/2006/main">
              <a:ext uri="{FF2B5EF4-FFF2-40B4-BE49-F238E27FC236}">
                <a16:creationId xmlns:a16="http://schemas.microsoft.com/office/drawing/2014/main" id="{14D7845B-A8BD-46B0-8F5E-42BDD915D339}"/>
              </a:ext>
            </a:extLst>
          </p:cNvPr>
          <p:cNvSpPr>
            <a:spLocks xmlns:a="http://schemas.openxmlformats.org/drawingml/2006/main" noGrp="1"/>
          </p:cNvSpPr>
          <p:nvPr/>
        </p:nvSpPr>
        <p:spPr>
          <a:xfrm xmlns:a="http://schemas.openxmlformats.org/drawingml/2006/main">
            <a:off x="6400800" y="43053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Keep an unrelated list or cell as a frame.</a:t>
            </a:r>
          </a:p>
        </p:txBody>
      </p:sp>
      <p:sp>
        <p:nvSpPr>
          <p:cNvPr id="10" name="">
            <a:extLst xmlns:a="http://schemas.openxmlformats.org/drawingml/2006/main">
              <a:ext uri="{FF2B5EF4-FFF2-40B4-BE49-F238E27FC236}">
                <a16:creationId xmlns:a16="http://schemas.microsoft.com/office/drawing/2014/main" id="{EEBD420A-31B7-4BE3-86F9-9F80ED6736A0}"/>
              </a:ext>
            </a:extLst>
          </p:cNvPr>
          <p:cNvSpPr>
            <a:spLocks xmlns:a="http://schemas.openxmlformats.org/drawingml/2006/main" noGrp="1"/>
          </p:cNvSpPr>
          <p:nvPr/>
        </p:nvSpPr>
        <p:spPr>
          <a:xfrm xmlns:a="http://schemas.openxmlformats.org/drawingml/2006/main">
            <a:off x="6400800" y="51435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Compose the local result without re-proving the whole heap.</a:t>
            </a:r>
          </a:p>
        </p:txBody>
      </p:sp>
    </p:spTree>
    <p:extLst>
      <p:ext uri="{BB962C8B-B14F-4D97-AF65-F5344CB8AC3E}">
        <p14:creationId xmlns:p14="http://schemas.microsoft.com/office/powerpoint/2010/main" val="7079357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50E455-93CD-4EBB-B763-7940924CBCFF}"/>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Iris: a research foundation</a:t>
            </a:r>
          </a:p>
        </p:txBody>
      </p:sp>
      <p:sp>
        <p:nvSpPr>
          <p:cNvPr id="2" name="">
            <a:extLst xmlns:a="http://schemas.openxmlformats.org/drawingml/2006/main">
              <a:ext uri="{FF2B5EF4-FFF2-40B4-BE49-F238E27FC236}">
                <a16:creationId xmlns:a16="http://schemas.microsoft.com/office/drawing/2014/main" id="{4AD6D5D6-20B0-4DF4-A53D-83943B18D45C}"/>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255F5770-BCDF-4861-A185-05A65DF5CBB9}"/>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Mechanized separation logic</a:t>
            </a:r>
          </a:p>
        </p:txBody>
      </p:sp>
      <p:sp>
        <p:nvSpPr>
          <p:cNvPr id="4" name="">
            <a:extLst xmlns:a="http://schemas.openxmlformats.org/drawingml/2006/main">
              <a:ext uri="{FF2B5EF4-FFF2-40B4-BE49-F238E27FC236}">
                <a16:creationId xmlns:a16="http://schemas.microsoft.com/office/drawing/2014/main" id="{0954A77C-E6D0-49CB-8DD8-35819A90E6E2}"/>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Academic profile</a:t>
            </a:r>
          </a:p>
        </p:txBody>
      </p:sp>
      <p:sp>
        <p:nvSpPr>
          <p:cNvPr id="5" name="">
            <a:extLst xmlns:a="http://schemas.openxmlformats.org/drawingml/2006/main">
              <a:ext uri="{FF2B5EF4-FFF2-40B4-BE49-F238E27FC236}">
                <a16:creationId xmlns:a16="http://schemas.microsoft.com/office/drawing/2014/main" id="{A47592A4-1631-4AC8-B7F9-1E013AF3DAB1}"/>
              </a:ext>
            </a:extLst>
          </p:cNvPr>
          <p:cNvSpPr>
            <a:spLocks xmlns:a="http://schemas.openxmlformats.org/drawingml/2006/main" noGrp="1"/>
          </p:cNvSpPr>
          <p:nvPr/>
        </p:nvSpPr>
        <p:spPr>
          <a:xfrm xmlns:a="http://schemas.openxmlformats.org/drawingml/2006/main">
            <a:off x="6096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 generic framework implemented and verified in Rocq.</a:t>
            </a:r>
          </a:p>
        </p:txBody>
      </p:sp>
      <p:sp>
        <p:nvSpPr>
          <p:cNvPr id="6" name="">
            <a:extLst xmlns:a="http://schemas.openxmlformats.org/drawingml/2006/main">
              <a:ext uri="{FF2B5EF4-FFF2-40B4-BE49-F238E27FC236}">
                <a16:creationId xmlns:a16="http://schemas.microsoft.com/office/drawing/2014/main" id="{81E2DC0B-EB0F-4E14-BF8E-D662CEB3C379}"/>
              </a:ext>
            </a:extLst>
          </p:cNvPr>
          <p:cNvSpPr>
            <a:spLocks xmlns:a="http://schemas.openxmlformats.org/drawingml/2006/main" noGrp="1"/>
          </p:cNvSpPr>
          <p:nvPr/>
        </p:nvSpPr>
        <p:spPr>
          <a:xfrm xmlns:a="http://schemas.openxmlformats.org/drawingml/2006/main">
            <a:off x="6096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Weakest preconditions, invariants and user-defined ghost state.</a:t>
            </a:r>
          </a:p>
        </p:txBody>
      </p:sp>
      <p:sp>
        <p:nvSpPr>
          <p:cNvPr id="7" name="">
            <a:extLst xmlns:a="http://schemas.openxmlformats.org/drawingml/2006/main">
              <a:ext uri="{FF2B5EF4-FFF2-40B4-BE49-F238E27FC236}">
                <a16:creationId xmlns:a16="http://schemas.microsoft.com/office/drawing/2014/main" id="{3B6EE046-09A7-4834-A9E7-A1304FE085EB}"/>
              </a:ext>
            </a:extLst>
          </p:cNvPr>
          <p:cNvSpPr>
            <a:spLocks xmlns:a="http://schemas.openxmlformats.org/drawingml/2006/main" noGrp="1"/>
          </p:cNvSpPr>
          <p:nvPr/>
        </p:nvSpPr>
        <p:spPr>
          <a:xfrm xmlns:a="http://schemas.openxmlformats.org/drawingml/2006/main">
            <a:off x="609600" y="405765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An instantiation connects the logic to a language’s semantics.</a:t>
            </a:r>
          </a:p>
        </p:txBody>
      </p:sp>
      <p:sp>
        <p:nvSpPr>
          <p:cNvPr id="8" name="">
            <a:extLst xmlns:a="http://schemas.openxmlformats.org/drawingml/2006/main">
              <a:ext uri="{FF2B5EF4-FFF2-40B4-BE49-F238E27FC236}">
                <a16:creationId xmlns:a16="http://schemas.microsoft.com/office/drawing/2014/main" id="{31E7CF88-EFAA-4F93-8D73-79ACB93A9042}"/>
              </a:ext>
            </a:extLst>
          </p:cNvPr>
          <p:cNvSpPr>
            <a:spLocks xmlns:a="http://schemas.openxmlformats.org/drawingml/2006/main" noGrp="1"/>
          </p:cNvSpPr>
          <p:nvPr/>
        </p:nvSpPr>
        <p:spPr>
          <a:xfrm xmlns:a="http://schemas.openxmlformats.org/drawingml/2006/main">
            <a:off x="64008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Core publications at POPL and in JFP.</a:t>
            </a:r>
          </a:p>
        </p:txBody>
      </p:sp>
      <p:sp>
        <p:nvSpPr>
          <p:cNvPr id="9" name="">
            <a:extLst xmlns:a="http://schemas.openxmlformats.org/drawingml/2006/main">
              <a:ext uri="{FF2B5EF4-FFF2-40B4-BE49-F238E27FC236}">
                <a16:creationId xmlns:a16="http://schemas.microsoft.com/office/drawing/2014/main" id="{0B3120FE-92E2-4D7C-A41A-7BD7F02B055E}"/>
              </a:ext>
            </a:extLst>
          </p:cNvPr>
          <p:cNvSpPr>
            <a:spLocks xmlns:a="http://schemas.openxmlformats.org/drawingml/2006/main" noGrp="1"/>
          </p:cNvSpPr>
          <p:nvPr/>
        </p:nvSpPr>
        <p:spPr>
          <a:xfrm xmlns:a="http://schemas.openxmlformats.org/drawingml/2006/main">
            <a:off x="6400800" y="31242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RustBelt uses Iris for foundations of Rust safety.</a:t>
            </a:r>
          </a:p>
        </p:txBody>
      </p:sp>
      <p:sp>
        <p:nvSpPr>
          <p:cNvPr id="10" name="">
            <a:extLst xmlns:a="http://schemas.openxmlformats.org/drawingml/2006/main">
              <a:ext uri="{FF2B5EF4-FFF2-40B4-BE49-F238E27FC236}">
                <a16:creationId xmlns:a16="http://schemas.microsoft.com/office/drawing/2014/main" id="{4D2D3720-02D5-4401-8207-AF4978D99724}"/>
              </a:ext>
            </a:extLst>
          </p:cNvPr>
          <p:cNvSpPr>
            <a:spLocks xmlns:a="http://schemas.openxmlformats.org/drawingml/2006/main" noGrp="1"/>
          </p:cNvSpPr>
          <p:nvPr/>
        </p:nvSpPr>
        <p:spPr>
          <a:xfrm xmlns:a="http://schemas.openxmlformats.org/drawingml/2006/main">
            <a:off x="6400800" y="40100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Zoo applies Iris to concurrent OCaml 5 programs.</a:t>
            </a:r>
          </a:p>
        </p:txBody>
      </p:sp>
      <p:sp>
        <p:nvSpPr>
          <p:cNvPr id="11" name="">
            <a:extLst xmlns:a="http://schemas.openxmlformats.org/drawingml/2006/main">
              <a:ext uri="{FF2B5EF4-FFF2-40B4-BE49-F238E27FC236}">
                <a16:creationId xmlns:a16="http://schemas.microsoft.com/office/drawing/2014/main" id="{A79F4A61-A2F8-4496-A0A8-A2DF89E10B20}"/>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CJR instantiates Iris for its sequential operational semantics.</a:t>
            </a:r>
          </a:p>
        </p:txBody>
      </p:sp>
    </p:spTree>
    <p:extLst>
      <p:ext uri="{BB962C8B-B14F-4D97-AF65-F5344CB8AC3E}">
        <p14:creationId xmlns:p14="http://schemas.microsoft.com/office/powerpoint/2010/main" val="195908733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875516-C06A-46D9-AD3D-6A40E3068836}"/>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The CJR adequacy theorem</a:t>
            </a:r>
          </a:p>
        </p:txBody>
      </p:sp>
      <p:sp>
        <p:nvSpPr>
          <p:cNvPr id="2" name="">
            <a:extLst xmlns:a="http://schemas.openxmlformats.org/drawingml/2006/main">
              <a:ext uri="{FF2B5EF4-FFF2-40B4-BE49-F238E27FC236}">
                <a16:creationId xmlns:a16="http://schemas.microsoft.com/office/drawing/2014/main" id="{D70709D5-DE7F-45EB-B4DF-6A5FB04497E1}"/>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36BF01C4-7177-431F-9379-B759C59D2373}"/>
              </a:ext>
            </a:extLst>
          </p:cNvPr>
          <p:cNvSpPr>
            <a:spLocks xmlns:a="http://schemas.openxmlformats.org/drawingml/2006/main" noGrp="1"/>
          </p:cNvSpPr>
          <p:nvPr/>
        </p:nvSpPr>
        <p:spPr>
          <a:xfrm xmlns:a="http://schemas.openxmlformats.org/drawingml/2006/main">
            <a:off x="609600" y="15240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245C9D"/>
                </a:solidFill>
                <a:latin typeface="Arial"/>
                <a:ea typeface="Arial"/>
                <a:cs typeface="Arial"/>
              </a:defRPr>
            </a:defPPr>
          </a:lstStyle>
          <a:p xmlns:a="http://schemas.openxmlformats.org/drawingml/2006/main">
            <a:pPr>
              <a:defRPr sz="2625" b="1">
                <a:solidFill>
                  <a:srgbClr val="245C9D"/>
                </a:solidFill>
                <a:latin typeface="Arial"/>
                <a:ea typeface="Arial"/>
                <a:cs typeface="Arial"/>
              </a:defRPr>
            </a:pPr>
            <a:r>
              <a:rPr sz="2625" b="1">
                <a:solidFill>
                  <a:srgbClr val="245C9D"/>
                </a:solidFill>
                <a:latin typeface="Arial"/>
                <a:ea typeface="Arial"/>
                <a:cs typeface="Arial"/>
              </a:rPr>
              <a:t>⊢ WP e { v. pure(φ(v)) }</a:t>
            </a:r>
          </a:p>
          <a:p xmlns:a="http://schemas.openxmlformats.org/drawingml/2006/main">
            <a:r>
              <a:t/>
            </a:r>
          </a:p>
          <a:p xmlns:a="http://schemas.openxmlformats.org/drawingml/2006/main">
            <a:pPr>
              <a:defRPr sz="2625" b="1">
                <a:solidFill>
                  <a:srgbClr val="245C9D"/>
                </a:solidFill>
                <a:latin typeface="Arial"/>
                <a:ea typeface="Arial"/>
                <a:cs typeface="Arial"/>
              </a:defRPr>
            </a:pPr>
            <a:r>
              <a:rPr sz="2625" b="1">
                <a:solidFill>
                  <a:srgbClr val="245C9D"/>
                </a:solidFill>
                <a:latin typeface="Arial"/>
                <a:ea typeface="Arial"/>
                <a:cs typeface="Arial"/>
              </a:rPr>
              <a:t>adequate NotStuck e state_init φ</a:t>
            </a:r>
          </a:p>
        </p:txBody>
      </p:sp>
      <p:sp>
        <p:nvSpPr>
          <p:cNvPr id="4" name="">
            <a:extLst xmlns:a="http://schemas.openxmlformats.org/drawingml/2006/main">
              <a:ext uri="{FF2B5EF4-FFF2-40B4-BE49-F238E27FC236}">
                <a16:creationId xmlns:a16="http://schemas.microsoft.com/office/drawing/2014/main" id="{A9BB434D-38DE-483B-943E-B84F172E468F}"/>
              </a:ext>
            </a:extLst>
          </p:cNvPr>
          <p:cNvSpPr>
            <a:spLocks xmlns:a="http://schemas.openxmlformats.org/drawingml/2006/main" noGrp="1"/>
          </p:cNvSpPr>
          <p:nvPr/>
        </p:nvSpPr>
        <p:spPr>
          <a:xfrm xmlns:a="http://schemas.openxmlformats.org/drawingml/2006/main">
            <a:off x="609600" y="28575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36376"/>
                </a:solidFill>
                <a:latin typeface="Arial"/>
                <a:ea typeface="Arial"/>
                <a:cs typeface="Arial"/>
              </a:defRPr>
            </a:defPPr>
          </a:lstStyle>
          <a:p xmlns:a="http://schemas.openxmlformats.org/drawingml/2006/main">
            <a:pPr>
              <a:defRPr sz="1800" b="0">
                <a:solidFill>
                  <a:srgbClr val="536376"/>
                </a:solidFill>
                <a:latin typeface="Arial"/>
                <a:ea typeface="Arial"/>
                <a:cs typeface="Arial"/>
              </a:defRPr>
            </a:pPr>
            <a:r>
              <a:rPr sz="1800" b="0">
                <a:solidFill>
                  <a:srgbClr val="536376"/>
                </a:solidFill>
                <a:latin typeface="Arial"/>
                <a:ea typeface="Arial"/>
                <a:cs typeface="Arial"/>
              </a:rPr>
              <a:t>Schematic statement; the proof is uniform in the Iris ghost-state instance</a:t>
            </a:r>
          </a:p>
        </p:txBody>
      </p:sp>
      <p:sp>
        <p:nvSpPr>
          <p:cNvPr id="5" name="">
            <a:extLst xmlns:a="http://schemas.openxmlformats.org/drawingml/2006/main">
              <a:ext uri="{FF2B5EF4-FFF2-40B4-BE49-F238E27FC236}">
                <a16:creationId xmlns:a16="http://schemas.microsoft.com/office/drawing/2014/main" id="{C5C6897B-2458-4F7E-991E-36521132FA2A}"/>
              </a:ext>
            </a:extLst>
          </p:cNvPr>
          <p:cNvSpPr>
            <a:spLocks xmlns:a="http://schemas.openxmlformats.org/drawingml/2006/main" noGrp="1"/>
          </p:cNvSpPr>
          <p:nvPr/>
        </p:nvSpPr>
        <p:spPr>
          <a:xfrm xmlns:a="http://schemas.openxmlformats.org/drawingml/2006/main">
            <a:off x="609600" y="37147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Safety</a:t>
            </a:r>
          </a:p>
        </p:txBody>
      </p:sp>
      <p:sp>
        <p:nvSpPr>
          <p:cNvPr id="6" name="">
            <a:extLst xmlns:a="http://schemas.openxmlformats.org/drawingml/2006/main">
              <a:ext uri="{FF2B5EF4-FFF2-40B4-BE49-F238E27FC236}">
                <a16:creationId xmlns:a16="http://schemas.microsoft.com/office/drawing/2014/main" id="{379C3C23-2C1E-4F7E-B775-C760FE378031}"/>
              </a:ext>
            </a:extLst>
          </p:cNvPr>
          <p:cNvSpPr>
            <a:spLocks xmlns:a="http://schemas.openxmlformats.org/drawingml/2006/main" noGrp="1"/>
          </p:cNvSpPr>
          <p:nvPr/>
        </p:nvSpPr>
        <p:spPr>
          <a:xfrm xmlns:a="http://schemas.openxmlformats.org/drawingml/2006/main">
            <a:off x="6400800" y="37147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The proved result</a:t>
            </a:r>
          </a:p>
        </p:txBody>
      </p:sp>
      <p:sp>
        <p:nvSpPr>
          <p:cNvPr id="7" name="">
            <a:extLst xmlns:a="http://schemas.openxmlformats.org/drawingml/2006/main">
              <a:ext uri="{FF2B5EF4-FFF2-40B4-BE49-F238E27FC236}">
                <a16:creationId xmlns:a16="http://schemas.microsoft.com/office/drawing/2014/main" id="{93348399-6497-4539-BC6B-BD9F1A68F80B}"/>
              </a:ext>
            </a:extLst>
          </p:cNvPr>
          <p:cNvSpPr>
            <a:spLocks xmlns:a="http://schemas.openxmlformats.org/drawingml/2006/main" noGrp="1"/>
          </p:cNvSpPr>
          <p:nvPr/>
        </p:nvSpPr>
        <p:spPr>
          <a:xfrm xmlns:a="http://schemas.openxmlformats.org/drawingml/2006/main">
            <a:off x="609600" y="43053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Every reachable configuration can step or is a value.</a:t>
            </a:r>
          </a:p>
        </p:txBody>
      </p:sp>
      <p:sp>
        <p:nvSpPr>
          <p:cNvPr id="8" name="">
            <a:extLst xmlns:a="http://schemas.openxmlformats.org/drawingml/2006/main">
              <a:ext uri="{FF2B5EF4-FFF2-40B4-BE49-F238E27FC236}">
                <a16:creationId xmlns:a16="http://schemas.microsoft.com/office/drawing/2014/main" id="{5C6E50FF-E471-4A52-A3E4-B4D7AEEF3EC6}"/>
              </a:ext>
            </a:extLst>
          </p:cNvPr>
          <p:cNvSpPr>
            <a:spLocks xmlns:a="http://schemas.openxmlformats.org/drawingml/2006/main" noGrp="1"/>
          </p:cNvSpPr>
          <p:nvPr/>
        </p:nvSpPr>
        <p:spPr>
          <a:xfrm xmlns:a="http://schemas.openxmlformats.org/drawingml/2006/main">
            <a:off x="609600" y="51911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Execution starts from the empty machine state.</a:t>
            </a:r>
          </a:p>
        </p:txBody>
      </p:sp>
      <p:sp>
        <p:nvSpPr>
          <p:cNvPr id="9" name="">
            <a:extLst xmlns:a="http://schemas.openxmlformats.org/drawingml/2006/main">
              <a:ext uri="{FF2B5EF4-FFF2-40B4-BE49-F238E27FC236}">
                <a16:creationId xmlns:a16="http://schemas.microsoft.com/office/drawing/2014/main" id="{B002AEB6-8E0C-466E-8BCC-D0A079E55292}"/>
              </a:ext>
            </a:extLst>
          </p:cNvPr>
          <p:cNvSpPr>
            <a:spLocks xmlns:a="http://schemas.openxmlformats.org/drawingml/2006/main" noGrp="1"/>
          </p:cNvSpPr>
          <p:nvPr/>
        </p:nvSpPr>
        <p:spPr>
          <a:xfrm xmlns:a="http://schemas.openxmlformats.org/drawingml/2006/main">
            <a:off x="6400800" y="43053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Every final value satisfies the chosen predicate φ.</a:t>
            </a:r>
          </a:p>
        </p:txBody>
      </p:sp>
      <p:sp>
        <p:nvSpPr>
          <p:cNvPr id="10" name="">
            <a:extLst xmlns:a="http://schemas.openxmlformats.org/drawingml/2006/main">
              <a:ext uri="{FF2B5EF4-FFF2-40B4-BE49-F238E27FC236}">
                <a16:creationId xmlns:a16="http://schemas.microsoft.com/office/drawing/2014/main" id="{6E5DA82E-1AFF-4567-935A-2F06D0CD3748}"/>
              </a:ext>
            </a:extLst>
          </p:cNvPr>
          <p:cNvSpPr>
            <a:spLocks xmlns:a="http://schemas.openxmlformats.org/drawingml/2006/main" noGrp="1"/>
          </p:cNvSpPr>
          <p:nvPr/>
        </p:nvSpPr>
        <p:spPr>
          <a:xfrm xmlns:a="http://schemas.openxmlformats.org/drawingml/2006/main">
            <a:off x="6400800" y="51911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The theorem says nothing beyond the postcondition proved.</a:t>
            </a:r>
          </a:p>
        </p:txBody>
      </p:sp>
    </p:spTree>
    <p:extLst>
      <p:ext uri="{BB962C8B-B14F-4D97-AF65-F5344CB8AC3E}">
        <p14:creationId xmlns:p14="http://schemas.microsoft.com/office/powerpoint/2010/main" val="16064911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7FC298-F8AA-4B4C-A342-276848068A4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Where the guarantee ends</a:t>
            </a:r>
          </a:p>
        </p:txBody>
      </p:sp>
      <p:sp>
        <p:nvSpPr>
          <p:cNvPr id="2" name="">
            <a:extLst xmlns:a="http://schemas.openxmlformats.org/drawingml/2006/main">
              <a:ext uri="{FF2B5EF4-FFF2-40B4-BE49-F238E27FC236}">
                <a16:creationId xmlns:a16="http://schemas.microsoft.com/office/drawing/2014/main" id="{C67EE86F-1ACA-4EFB-A554-7985131F06F2}"/>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EC858389-8C31-49AD-8D98-AA4A6AED3DC8}"/>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Machine-checked in CJR</a:t>
            </a:r>
          </a:p>
        </p:txBody>
      </p:sp>
      <p:sp>
        <p:nvSpPr>
          <p:cNvPr id="4" name="">
            <a:extLst xmlns:a="http://schemas.openxmlformats.org/drawingml/2006/main">
              <a:ext uri="{FF2B5EF4-FFF2-40B4-BE49-F238E27FC236}">
                <a16:creationId xmlns:a16="http://schemas.microsoft.com/office/drawing/2014/main" id="{230B4846-5425-4B81-87B2-06AB3270F947}"/>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Additional trust boundaries</a:t>
            </a:r>
          </a:p>
        </p:txBody>
      </p:sp>
      <p:sp>
        <p:nvSpPr>
          <p:cNvPr id="5" name="">
            <a:extLst xmlns:a="http://schemas.openxmlformats.org/drawingml/2006/main">
              <a:ext uri="{FF2B5EF4-FFF2-40B4-BE49-F238E27FC236}">
                <a16:creationId xmlns:a16="http://schemas.microsoft.com/office/drawing/2014/main" id="{7FB68238-C8FF-4FCC-A282-63F3F1A3DD66}"/>
              </a:ext>
            </a:extLst>
          </p:cNvPr>
          <p:cNvSpPr>
            <a:spLocks xmlns:a="http://schemas.openxmlformats.org/drawingml/2006/main" noGrp="1"/>
          </p:cNvSpPr>
          <p:nvPr/>
        </p:nvSpPr>
        <p:spPr>
          <a:xfrm xmlns:a="http://schemas.openxmlformats.org/drawingml/2006/main">
            <a:off x="6096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The formal statement and proof term.</a:t>
            </a:r>
          </a:p>
        </p:txBody>
      </p:sp>
      <p:sp>
        <p:nvSpPr>
          <p:cNvPr id="6" name="">
            <a:extLst xmlns:a="http://schemas.openxmlformats.org/drawingml/2006/main">
              <a:ext uri="{FF2B5EF4-FFF2-40B4-BE49-F238E27FC236}">
                <a16:creationId xmlns:a16="http://schemas.microsoft.com/office/drawing/2014/main" id="{858F6A2B-BDD6-4AC5-A7B7-A9DC79282012}"/>
              </a:ext>
            </a:extLst>
          </p:cNvPr>
          <p:cNvSpPr>
            <a:spLocks xmlns:a="http://schemas.openxmlformats.org/drawingml/2006/main" noGrp="1"/>
          </p:cNvSpPr>
          <p:nvPr/>
        </p:nvSpPr>
        <p:spPr>
          <a:xfrm xmlns:a="http://schemas.openxmlformats.org/drawingml/2006/main">
            <a:off x="609600" y="31242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Operational semantics and Iris rules.</a:t>
            </a:r>
          </a:p>
        </p:txBody>
      </p:sp>
      <p:sp>
        <p:nvSpPr>
          <p:cNvPr id="7" name="">
            <a:extLst xmlns:a="http://schemas.openxmlformats.org/drawingml/2006/main">
              <a:ext uri="{FF2B5EF4-FFF2-40B4-BE49-F238E27FC236}">
                <a16:creationId xmlns:a16="http://schemas.microsoft.com/office/drawing/2014/main" id="{6762508D-A595-4703-8082-720B9EB22F98}"/>
              </a:ext>
            </a:extLst>
          </p:cNvPr>
          <p:cNvSpPr>
            <a:spLocks xmlns:a="http://schemas.openxmlformats.org/drawingml/2006/main" noGrp="1"/>
          </p:cNvSpPr>
          <p:nvPr/>
        </p:nvSpPr>
        <p:spPr>
          <a:xfrm xmlns:a="http://schemas.openxmlformats.org/drawingml/2006/main">
            <a:off x="609600" y="39624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Safety and the established postcondition.</a:t>
            </a:r>
          </a:p>
        </p:txBody>
      </p:sp>
      <p:sp>
        <p:nvSpPr>
          <p:cNvPr id="8" name="">
            <a:extLst xmlns:a="http://schemas.openxmlformats.org/drawingml/2006/main">
              <a:ext uri="{FF2B5EF4-FFF2-40B4-BE49-F238E27FC236}">
                <a16:creationId xmlns:a16="http://schemas.microsoft.com/office/drawing/2014/main" id="{56D4F891-3C69-4424-8CD0-53D86860C538}"/>
              </a:ext>
            </a:extLst>
          </p:cNvPr>
          <p:cNvSpPr>
            <a:spLocks xmlns:a="http://schemas.openxmlformats.org/drawingml/2006/main" noGrp="1"/>
          </p:cNvSpPr>
          <p:nvPr/>
        </p:nvSpPr>
        <p:spPr>
          <a:xfrm xmlns:a="http://schemas.openxmlformats.org/drawingml/2006/main">
            <a:off x="64008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Does the statement match the informal request?</a:t>
            </a:r>
          </a:p>
        </p:txBody>
      </p:sp>
      <p:sp>
        <p:nvSpPr>
          <p:cNvPr id="9" name="">
            <a:extLst xmlns:a="http://schemas.openxmlformats.org/drawingml/2006/main">
              <a:ext uri="{FF2B5EF4-FFF2-40B4-BE49-F238E27FC236}">
                <a16:creationId xmlns:a16="http://schemas.microsoft.com/office/drawing/2014/main" id="{BAD6B848-BCED-4621-8ECA-8F7734185D0C}"/>
              </a:ext>
            </a:extLst>
          </p:cNvPr>
          <p:cNvSpPr>
            <a:spLocks xmlns:a="http://schemas.openxmlformats.org/drawingml/2006/main" noGrp="1"/>
          </p:cNvSpPr>
          <p:nvPr/>
        </p:nvSpPr>
        <p:spPr>
          <a:xfrm xmlns:a="http://schemas.openxmlformats.org/drawingml/2006/main">
            <a:off x="64008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Does the printer preserve the intended semantics?</a:t>
            </a:r>
          </a:p>
        </p:txBody>
      </p:sp>
      <p:sp>
        <p:nvSpPr>
          <p:cNvPr id="10" name="">
            <a:extLst xmlns:a="http://schemas.openxmlformats.org/drawingml/2006/main">
              <a:ext uri="{FF2B5EF4-FFF2-40B4-BE49-F238E27FC236}">
                <a16:creationId xmlns:a16="http://schemas.microsoft.com/office/drawing/2014/main" id="{FC11D44C-4220-421C-A0F9-915927D4CBDD}"/>
              </a:ext>
            </a:extLst>
          </p:cNvPr>
          <p:cNvSpPr>
            <a:spLocks xmlns:a="http://schemas.openxmlformats.org/drawingml/2006/main" noGrp="1"/>
          </p:cNvSpPr>
          <p:nvPr/>
        </p:nvSpPr>
        <p:spPr>
          <a:xfrm xmlns:a="http://schemas.openxmlformats.org/drawingml/2006/main">
            <a:off x="6400800" y="405765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Do the compiler, runtime and memory bridge behave as assumed?</a:t>
            </a:r>
          </a:p>
        </p:txBody>
      </p:sp>
      <p:sp>
        <p:nvSpPr>
          <p:cNvPr id="11" name="">
            <a:extLst xmlns:a="http://schemas.openxmlformats.org/drawingml/2006/main">
              <a:ext uri="{FF2B5EF4-FFF2-40B4-BE49-F238E27FC236}">
                <a16:creationId xmlns:a16="http://schemas.microsoft.com/office/drawing/2014/main" id="{038AE3B4-B238-4829-A319-4B98080626C2}"/>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A checked partial-correctness proof does not establish termination or target-code equivalence.</a:t>
            </a:r>
          </a:p>
        </p:txBody>
      </p:sp>
    </p:spTree>
    <p:extLst>
      <p:ext uri="{BB962C8B-B14F-4D97-AF65-F5344CB8AC3E}">
        <p14:creationId xmlns:p14="http://schemas.microsoft.com/office/powerpoint/2010/main" val="11767859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D0C510-D233-4A07-8A12-93D4C71D344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A taster: cell.v</a:t>
            </a:r>
          </a:p>
        </p:txBody>
      </p:sp>
      <p:sp>
        <p:nvSpPr>
          <p:cNvPr id="2" name="">
            <a:extLst xmlns:a="http://schemas.openxmlformats.org/drawingml/2006/main">
              <a:ext uri="{FF2B5EF4-FFF2-40B4-BE49-F238E27FC236}">
                <a16:creationId xmlns:a16="http://schemas.microsoft.com/office/drawing/2014/main" id="{8B333BA3-43FC-47C8-9F71-8F1B59B3B298}"/>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C4059590-76F3-4F3C-982B-8C33DD0D205A}"/>
              </a:ext>
            </a:extLst>
          </p:cNvPr>
          <p:cNvSpPr>
            <a:spLocks xmlns:a="http://schemas.openxmlformats.org/drawingml/2006/main" noGrp="1"/>
          </p:cNvSpPr>
          <p:nvPr/>
        </p:nvSpPr>
        <p:spPr>
          <a:xfrm xmlns:a="http://schemas.openxmlformats.org/drawingml/2006/main">
            <a:off x="609600" y="1809750"/>
            <a:ext cx="5524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Menlo"/>
                <a:ea typeface="Menlo"/>
                <a:cs typeface="Menlo"/>
              </a:defRPr>
            </a:defPPr>
          </a:lstStyle>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func cell(): Unit {</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let p = unsafe {</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CPointer&lt;Int64&gt;(calloc(1, 8))</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unsafe { p.write(7) }</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unsafe { p.read() }</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unsafe { free(CPointer&lt;Unit&gt;(p)) }</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a:t>
            </a:r>
          </a:p>
        </p:txBody>
      </p:sp>
      <p:sp>
        <p:nvSpPr>
          <p:cNvPr id="4" name="">
            <a:extLst xmlns:a="http://schemas.openxmlformats.org/drawingml/2006/main">
              <a:ext uri="{FF2B5EF4-FFF2-40B4-BE49-F238E27FC236}">
                <a16:creationId xmlns:a16="http://schemas.microsoft.com/office/drawing/2014/main" id="{95753A34-4961-45FD-86D7-A0B52356C82D}"/>
              </a:ext>
            </a:extLst>
          </p:cNvPr>
          <p:cNvSpPr>
            <a:spLocks xmlns:a="http://schemas.openxmlformats.org/drawingml/2006/main" noGrp="1"/>
          </p:cNvSpPr>
          <p:nvPr/>
        </p:nvSpPr>
        <p:spPr>
          <a:xfrm xmlns:a="http://schemas.openxmlformats.org/drawingml/2006/main">
            <a:off x="6705600" y="17145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Four operations</a:t>
            </a:r>
          </a:p>
        </p:txBody>
      </p:sp>
      <p:sp>
        <p:nvSpPr>
          <p:cNvPr id="5" name="">
            <a:extLst xmlns:a="http://schemas.openxmlformats.org/drawingml/2006/main">
              <a:ext uri="{FF2B5EF4-FFF2-40B4-BE49-F238E27FC236}">
                <a16:creationId xmlns:a16="http://schemas.microsoft.com/office/drawing/2014/main" id="{1B1804B0-2A8E-4B17-BB4A-AA79548BF8EC}"/>
              </a:ext>
            </a:extLst>
          </p:cNvPr>
          <p:cNvSpPr>
            <a:spLocks xmlns:a="http://schemas.openxmlformats.org/drawingml/2006/main" noGrp="1"/>
          </p:cNvSpPr>
          <p:nvPr/>
        </p:nvSpPr>
        <p:spPr>
          <a:xfrm xmlns:a="http://schemas.openxmlformats.org/drawingml/2006/main">
            <a:off x="6705600" y="2381250"/>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Allocate one zero-initialized raw word.</a:t>
            </a:r>
          </a:p>
        </p:txBody>
      </p:sp>
      <p:sp>
        <p:nvSpPr>
          <p:cNvPr id="6" name="">
            <a:extLst xmlns:a="http://schemas.openxmlformats.org/drawingml/2006/main">
              <a:ext uri="{FF2B5EF4-FFF2-40B4-BE49-F238E27FC236}">
                <a16:creationId xmlns:a16="http://schemas.microsoft.com/office/drawing/2014/main" id="{8EF39CF6-8DAA-4AA5-B42D-7B1E6923E179}"/>
              </a:ext>
            </a:extLst>
          </p:cNvPr>
          <p:cNvSpPr>
            <a:spLocks xmlns:a="http://schemas.openxmlformats.org/drawingml/2006/main" noGrp="1"/>
          </p:cNvSpPr>
          <p:nvPr/>
        </p:nvSpPr>
        <p:spPr>
          <a:xfrm xmlns:a="http://schemas.openxmlformats.org/drawingml/2006/main">
            <a:off x="6705600" y="319087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Write 7, then read it.</a:t>
            </a:r>
          </a:p>
        </p:txBody>
      </p:sp>
      <p:sp>
        <p:nvSpPr>
          <p:cNvPr id="7" name="">
            <a:extLst xmlns:a="http://schemas.openxmlformats.org/drawingml/2006/main">
              <a:ext uri="{FF2B5EF4-FFF2-40B4-BE49-F238E27FC236}">
                <a16:creationId xmlns:a16="http://schemas.microsoft.com/office/drawing/2014/main" id="{130746C5-90F6-451F-9A6E-02D2BBFD2FF6}"/>
              </a:ext>
            </a:extLst>
          </p:cNvPr>
          <p:cNvSpPr>
            <a:spLocks xmlns:a="http://schemas.openxmlformats.org/drawingml/2006/main" noGrp="1"/>
          </p:cNvSpPr>
          <p:nvPr/>
        </p:nvSpPr>
        <p:spPr>
          <a:xfrm xmlns:a="http://schemas.openxmlformats.org/drawingml/2006/main">
            <a:off x="6705600" y="4000500"/>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Free the owned block.</a:t>
            </a:r>
          </a:p>
        </p:txBody>
      </p:sp>
      <p:sp>
        <p:nvSpPr>
          <p:cNvPr id="8" name="">
            <a:extLst xmlns:a="http://schemas.openxmlformats.org/drawingml/2006/main">
              <a:ext uri="{FF2B5EF4-FFF2-40B4-BE49-F238E27FC236}">
                <a16:creationId xmlns:a16="http://schemas.microsoft.com/office/drawing/2014/main" id="{3B094587-348B-43C3-9D76-DFD07D29D494}"/>
              </a:ext>
            </a:extLst>
          </p:cNvPr>
          <p:cNvSpPr>
            <a:spLocks xmlns:a="http://schemas.openxmlformats.org/drawingml/2006/main" noGrp="1"/>
          </p:cNvSpPr>
          <p:nvPr/>
        </p:nvSpPr>
        <p:spPr>
          <a:xfrm xmlns:a="http://schemas.openxmlformats.org/drawingml/2006/main">
            <a:off x="6705600" y="481012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The whole expression returns Unit.</a:t>
            </a:r>
          </a:p>
        </p:txBody>
      </p:sp>
    </p:spTree>
    <p:extLst>
      <p:ext uri="{BB962C8B-B14F-4D97-AF65-F5344CB8AC3E}">
        <p14:creationId xmlns:p14="http://schemas.microsoft.com/office/powerpoint/2010/main" val="5669593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57B065-6C0A-4650-858F-2E0BA23BC830}"/>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The cell ownership proof</a:t>
            </a:r>
          </a:p>
        </p:txBody>
      </p:sp>
      <p:sp>
        <p:nvSpPr>
          <p:cNvPr id="2" name="">
            <a:extLst xmlns:a="http://schemas.openxmlformats.org/drawingml/2006/main">
              <a:ext uri="{FF2B5EF4-FFF2-40B4-BE49-F238E27FC236}">
                <a16:creationId xmlns:a16="http://schemas.microsoft.com/office/drawing/2014/main" id="{3485CEA8-BCC1-44A2-9C3E-BAAA0D3F9A6C}"/>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C67CFC51-7CB0-4FAF-903C-55EF402E9CAE}"/>
              </a:ext>
            </a:extLst>
          </p:cNvPr>
          <p:cNvSpPr>
            <a:spLocks xmlns:a="http://schemas.openxmlformats.org/drawingml/2006/main" noGrp="1"/>
          </p:cNvSpPr>
          <p:nvPr/>
        </p:nvSpPr>
        <p:spPr>
          <a:xfrm xmlns:a="http://schemas.openxmlformats.org/drawingml/2006/main">
            <a:off x="609600" y="1600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45C9D"/>
                </a:solidFill>
                <a:latin typeface="Arial"/>
                <a:ea typeface="Arial"/>
                <a:cs typeface="Arial"/>
              </a:defRPr>
            </a:defPPr>
          </a:lstStyle>
          <a:p xmlns:a="http://schemas.openxmlformats.org/drawingml/2006/main">
            <a:pPr>
              <a:defRPr sz="2250" b="1">
                <a:solidFill>
                  <a:srgbClr val="245C9D"/>
                </a:solidFill>
                <a:latin typeface="Arial"/>
                <a:ea typeface="Arial"/>
                <a:cs typeface="Arial"/>
              </a:defRPr>
            </a:pPr>
            <a:r>
              <a:rPr sz="2250" b="1">
                <a:solidFill>
                  <a:srgbClr val="245C9D"/>
                </a:solidFill>
                <a:latin typeface="Arial"/>
                <a:ea typeface="Arial"/>
                <a:cs typeface="Arial"/>
              </a:rPr>
              <a:t>Allocate</a:t>
            </a:r>
          </a:p>
        </p:txBody>
      </p:sp>
      <p:sp>
        <p:nvSpPr>
          <p:cNvPr id="4" name="">
            <a:extLst xmlns:a="http://schemas.openxmlformats.org/drawingml/2006/main">
              <a:ext uri="{FF2B5EF4-FFF2-40B4-BE49-F238E27FC236}">
                <a16:creationId xmlns:a16="http://schemas.microsoft.com/office/drawing/2014/main" id="{8DDB30D1-5719-48B1-86A6-D5DD692037FF}"/>
              </a:ext>
            </a:extLst>
          </p:cNvPr>
          <p:cNvSpPr>
            <a:spLocks xmlns:a="http://schemas.openxmlformats.org/drawingml/2006/main" noGrp="1"/>
          </p:cNvSpPr>
          <p:nvPr/>
        </p:nvSpPr>
        <p:spPr>
          <a:xfrm xmlns:a="http://schemas.openxmlformats.org/drawingml/2006/main">
            <a:off x="3371850" y="1600200"/>
            <a:ext cx="8048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p ↦ 0 and ownership of the one-word block</a:t>
            </a:r>
          </a:p>
        </p:txBody>
      </p:sp>
      <p:sp>
        <p:nvSpPr>
          <p:cNvPr id="5" name="">
            <a:extLst xmlns:a="http://schemas.openxmlformats.org/drawingml/2006/main">
              <a:ext uri="{FF2B5EF4-FFF2-40B4-BE49-F238E27FC236}">
                <a16:creationId xmlns:a16="http://schemas.microsoft.com/office/drawing/2014/main" id="{9AD98521-3A14-478A-94A5-9DCBFB203564}"/>
              </a:ext>
            </a:extLst>
          </p:cNvPr>
          <p:cNvSpPr>
            <a:spLocks xmlns:a="http://schemas.openxmlformats.org/drawingml/2006/main" noGrp="1"/>
          </p:cNvSpPr>
          <p:nvPr/>
        </p:nvSpPr>
        <p:spPr>
          <a:xfrm xmlns:a="http://schemas.openxmlformats.org/drawingml/2006/main">
            <a:off x="609600" y="2571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45C9D"/>
                </a:solidFill>
                <a:latin typeface="Arial"/>
                <a:ea typeface="Arial"/>
                <a:cs typeface="Arial"/>
              </a:defRPr>
            </a:defPPr>
          </a:lstStyle>
          <a:p xmlns:a="http://schemas.openxmlformats.org/drawingml/2006/main">
            <a:pPr>
              <a:defRPr sz="2250" b="1">
                <a:solidFill>
                  <a:srgbClr val="245C9D"/>
                </a:solidFill>
                <a:latin typeface="Arial"/>
                <a:ea typeface="Arial"/>
                <a:cs typeface="Arial"/>
              </a:defRPr>
            </a:pPr>
            <a:r>
              <a:rPr sz="2250" b="1">
                <a:solidFill>
                  <a:srgbClr val="245C9D"/>
                </a:solidFill>
                <a:latin typeface="Arial"/>
                <a:ea typeface="Arial"/>
                <a:cs typeface="Arial"/>
              </a:rPr>
              <a:t>Store 7</a:t>
            </a:r>
          </a:p>
        </p:txBody>
      </p:sp>
      <p:sp>
        <p:nvSpPr>
          <p:cNvPr id="6" name="">
            <a:extLst xmlns:a="http://schemas.openxmlformats.org/drawingml/2006/main">
              <a:ext uri="{FF2B5EF4-FFF2-40B4-BE49-F238E27FC236}">
                <a16:creationId xmlns:a16="http://schemas.microsoft.com/office/drawing/2014/main" id="{93331166-2CFB-4C9F-A0C4-D96851A9C154}"/>
              </a:ext>
            </a:extLst>
          </p:cNvPr>
          <p:cNvSpPr>
            <a:spLocks xmlns:a="http://schemas.openxmlformats.org/drawingml/2006/main" noGrp="1"/>
          </p:cNvSpPr>
          <p:nvPr/>
        </p:nvSpPr>
        <p:spPr>
          <a:xfrm xmlns:a="http://schemas.openxmlformats.org/drawingml/2006/main">
            <a:off x="3371850" y="2571750"/>
            <a:ext cx="8048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p ↦ 7 and the same block ownership</a:t>
            </a:r>
          </a:p>
        </p:txBody>
      </p:sp>
      <p:sp>
        <p:nvSpPr>
          <p:cNvPr id="7" name="">
            <a:extLst xmlns:a="http://schemas.openxmlformats.org/drawingml/2006/main">
              <a:ext uri="{FF2B5EF4-FFF2-40B4-BE49-F238E27FC236}">
                <a16:creationId xmlns:a16="http://schemas.microsoft.com/office/drawing/2014/main" id="{D82CBD9A-E170-45A1-9AD2-32ABBC3FABE7}"/>
              </a:ext>
            </a:extLst>
          </p:cNvPr>
          <p:cNvSpPr>
            <a:spLocks xmlns:a="http://schemas.openxmlformats.org/drawingml/2006/main" noGrp="1"/>
          </p:cNvSpPr>
          <p:nvPr/>
        </p:nvSpPr>
        <p:spPr>
          <a:xfrm xmlns:a="http://schemas.openxmlformats.org/drawingml/2006/main">
            <a:off x="609600" y="35433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45C9D"/>
                </a:solidFill>
                <a:latin typeface="Arial"/>
                <a:ea typeface="Arial"/>
                <a:cs typeface="Arial"/>
              </a:defRPr>
            </a:defPPr>
          </a:lstStyle>
          <a:p xmlns:a="http://schemas.openxmlformats.org/drawingml/2006/main">
            <a:pPr>
              <a:defRPr sz="2250" b="1">
                <a:solidFill>
                  <a:srgbClr val="245C9D"/>
                </a:solidFill>
                <a:latin typeface="Arial"/>
                <a:ea typeface="Arial"/>
                <a:cs typeface="Arial"/>
              </a:defRPr>
            </a:pPr>
            <a:r>
              <a:rPr sz="2250" b="1">
                <a:solidFill>
                  <a:srgbClr val="245C9D"/>
                </a:solidFill>
                <a:latin typeface="Arial"/>
                <a:ea typeface="Arial"/>
                <a:cs typeface="Arial"/>
              </a:rPr>
              <a:t>Load</a:t>
            </a:r>
          </a:p>
        </p:txBody>
      </p:sp>
      <p:sp>
        <p:nvSpPr>
          <p:cNvPr id="8" name="">
            <a:extLst xmlns:a="http://schemas.openxmlformats.org/drawingml/2006/main">
              <a:ext uri="{FF2B5EF4-FFF2-40B4-BE49-F238E27FC236}">
                <a16:creationId xmlns:a16="http://schemas.microsoft.com/office/drawing/2014/main" id="{D27E6BD6-5F33-4F7D-8898-0EBDF3286EEA}"/>
              </a:ext>
            </a:extLst>
          </p:cNvPr>
          <p:cNvSpPr>
            <a:spLocks xmlns:a="http://schemas.openxmlformats.org/drawingml/2006/main" noGrp="1"/>
          </p:cNvSpPr>
          <p:nvPr/>
        </p:nvSpPr>
        <p:spPr>
          <a:xfrm xmlns:a="http://schemas.openxmlformats.org/drawingml/2006/main">
            <a:off x="3371850" y="3543300"/>
            <a:ext cx="8048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Read 7 and retain both ownership resources</a:t>
            </a:r>
          </a:p>
        </p:txBody>
      </p:sp>
      <p:sp>
        <p:nvSpPr>
          <p:cNvPr id="9" name="">
            <a:extLst xmlns:a="http://schemas.openxmlformats.org/drawingml/2006/main">
              <a:ext uri="{FF2B5EF4-FFF2-40B4-BE49-F238E27FC236}">
                <a16:creationId xmlns:a16="http://schemas.microsoft.com/office/drawing/2014/main" id="{FE2AE4F1-60EF-40B8-88A2-FBEFB30CE86E}"/>
              </a:ext>
            </a:extLst>
          </p:cNvPr>
          <p:cNvSpPr>
            <a:spLocks xmlns:a="http://schemas.openxmlformats.org/drawingml/2006/main" noGrp="1"/>
          </p:cNvSpPr>
          <p:nvPr/>
        </p:nvSpPr>
        <p:spPr>
          <a:xfrm xmlns:a="http://schemas.openxmlformats.org/drawingml/2006/main">
            <a:off x="609600" y="45148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45C9D"/>
                </a:solidFill>
                <a:latin typeface="Arial"/>
                <a:ea typeface="Arial"/>
                <a:cs typeface="Arial"/>
              </a:defRPr>
            </a:defPPr>
          </a:lstStyle>
          <a:p xmlns:a="http://schemas.openxmlformats.org/drawingml/2006/main">
            <a:pPr>
              <a:defRPr sz="2250" b="1">
                <a:solidFill>
                  <a:srgbClr val="245C9D"/>
                </a:solidFill>
                <a:latin typeface="Arial"/>
                <a:ea typeface="Arial"/>
                <a:cs typeface="Arial"/>
              </a:defRPr>
            </a:pPr>
            <a:r>
              <a:rPr sz="2250" b="1">
                <a:solidFill>
                  <a:srgbClr val="245C9D"/>
                </a:solidFill>
                <a:latin typeface="Arial"/>
                <a:ea typeface="Arial"/>
                <a:cs typeface="Arial"/>
              </a:rPr>
              <a:t>Free</a:t>
            </a:r>
          </a:p>
        </p:txBody>
      </p:sp>
      <p:sp>
        <p:nvSpPr>
          <p:cNvPr id="10" name="">
            <a:extLst xmlns:a="http://schemas.openxmlformats.org/drawingml/2006/main">
              <a:ext uri="{FF2B5EF4-FFF2-40B4-BE49-F238E27FC236}">
                <a16:creationId xmlns:a16="http://schemas.microsoft.com/office/drawing/2014/main" id="{5811C3A0-BA67-424D-B0D2-6735E6FE9D57}"/>
              </a:ext>
            </a:extLst>
          </p:cNvPr>
          <p:cNvSpPr>
            <a:spLocks xmlns:a="http://schemas.openxmlformats.org/drawingml/2006/main" noGrp="1"/>
          </p:cNvSpPr>
          <p:nvPr/>
        </p:nvSpPr>
        <p:spPr>
          <a:xfrm xmlns:a="http://schemas.openxmlformats.org/drawingml/2006/main">
            <a:off x="3371850" y="4514850"/>
            <a:ext cx="8048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Consume word and block ownership, then return Unit</a:t>
            </a:r>
          </a:p>
        </p:txBody>
      </p:sp>
      <p:sp>
        <p:nvSpPr>
          <p:cNvPr id="11" name="">
            <a:extLst xmlns:a="http://schemas.openxmlformats.org/drawingml/2006/main">
              <a:ext uri="{FF2B5EF4-FFF2-40B4-BE49-F238E27FC236}">
                <a16:creationId xmlns:a16="http://schemas.microsoft.com/office/drawing/2014/main" id="{6D779F63-A45B-4A87-AA8A-50D6A4C3974F}"/>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cell_adequate establishes non-stuckness and a Unit postcondition.</a:t>
            </a:r>
          </a:p>
        </p:txBody>
      </p:sp>
    </p:spTree>
    <p:extLst>
      <p:ext uri="{BB962C8B-B14F-4D97-AF65-F5344CB8AC3E}">
        <p14:creationId xmlns:p14="http://schemas.microsoft.com/office/powerpoint/2010/main" val="21410806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BAD7E4-2FD6-465E-B7A3-294A58BDB9EF}"/>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Linked lists: representation and contracts</a:t>
            </a:r>
          </a:p>
        </p:txBody>
      </p:sp>
      <p:sp>
        <p:nvSpPr>
          <p:cNvPr id="2" name="">
            <a:extLst xmlns:a="http://schemas.openxmlformats.org/drawingml/2006/main">
              <a:ext uri="{FF2B5EF4-FFF2-40B4-BE49-F238E27FC236}">
                <a16:creationId xmlns:a16="http://schemas.microsoft.com/office/drawing/2014/main" id="{10AFE4B2-0B83-47F2-8860-0C71A9F3DF15}"/>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E636B8D3-485C-4374-919C-643DC8BFFF2A}"/>
              </a:ext>
            </a:extLst>
          </p:cNvPr>
          <p:cNvSpPr>
            <a:spLocks xmlns:a="http://schemas.openxmlformats.org/drawingml/2006/main" noGrp="1"/>
          </p:cNvSpPr>
          <p:nvPr/>
        </p:nvSpPr>
        <p:spPr>
          <a:xfrm xmlns:a="http://schemas.openxmlformats.org/drawingml/2006/main">
            <a:off x="609600" y="15240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45C9D"/>
                </a:solidFill>
                <a:latin typeface="Arial"/>
                <a:ea typeface="Arial"/>
                <a:cs typeface="Arial"/>
              </a:defRPr>
            </a:defPPr>
          </a:lstStyle>
          <a:p xmlns:a="http://schemas.openxmlformats.org/drawingml/2006/main">
            <a:pPr>
              <a:defRPr sz="2850" b="1">
                <a:solidFill>
                  <a:srgbClr val="245C9D"/>
                </a:solidFill>
                <a:latin typeface="Arial"/>
                <a:ea typeface="Arial"/>
                <a:cs typeface="Arial"/>
              </a:defRPr>
            </a:pPr>
            <a:r>
              <a:rPr sz="2850" b="1">
                <a:solidFill>
                  <a:srgbClr val="245C9D"/>
                </a:solidFill>
                <a:latin typeface="Arial"/>
                <a:ea typeface="Arial"/>
                <a:cs typeface="Arial"/>
              </a:rPr>
              <a:t>is_list(x :: xs, p)</a:t>
            </a:r>
          </a:p>
          <a:p xmlns:a="http://schemas.openxmlformats.org/drawingml/2006/main">
            <a:pPr>
              <a:defRPr sz="2850" b="1">
                <a:solidFill>
                  <a:srgbClr val="245C9D"/>
                </a:solidFill>
                <a:latin typeface="Arial"/>
                <a:ea typeface="Arial"/>
                <a:cs typeface="Arial"/>
              </a:defRPr>
            </a:pPr>
            <a:r>
              <a:rPr sz="2850" b="1">
                <a:solidFill>
                  <a:srgbClr val="245C9D"/>
                </a:solidFill>
                <a:latin typeface="Arial"/>
                <a:ea typeface="Arial"/>
                <a:cs typeface="Arial"/>
              </a:rPr>
              <a:t>owns p’s tag, value x, link q and is_list(xs, q)</a:t>
            </a:r>
          </a:p>
        </p:txBody>
      </p:sp>
      <p:sp>
        <p:nvSpPr>
          <p:cNvPr id="4" name="">
            <a:extLst xmlns:a="http://schemas.openxmlformats.org/drawingml/2006/main">
              <a:ext uri="{FF2B5EF4-FFF2-40B4-BE49-F238E27FC236}">
                <a16:creationId xmlns:a16="http://schemas.microsoft.com/office/drawing/2014/main" id="{360E2C1C-13A2-4695-B067-F1FBB90E4AEC}"/>
              </a:ext>
            </a:extLst>
          </p:cNvPr>
          <p:cNvSpPr>
            <a:spLocks xmlns:a="http://schemas.openxmlformats.org/drawingml/2006/main" noGrp="1"/>
          </p:cNvSpPr>
          <p:nvPr/>
        </p:nvSpPr>
        <p:spPr>
          <a:xfrm xmlns:a="http://schemas.openxmlformats.org/drawingml/2006/main">
            <a:off x="609600" y="28575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36376"/>
                </a:solidFill>
                <a:latin typeface="Arial"/>
                <a:ea typeface="Arial"/>
                <a:cs typeface="Arial"/>
              </a:defRPr>
            </a:defPPr>
          </a:lstStyle>
          <a:p xmlns:a="http://schemas.openxmlformats.org/drawingml/2006/main">
            <a:pPr>
              <a:defRPr sz="1800" b="0">
                <a:solidFill>
                  <a:srgbClr val="536376"/>
                </a:solidFill>
                <a:latin typeface="Arial"/>
                <a:ea typeface="Arial"/>
                <a:cs typeface="Arial"/>
              </a:defRPr>
            </a:pPr>
            <a:r>
              <a:rPr sz="1800" b="0">
                <a:solidFill>
                  <a:srgbClr val="536376"/>
                </a:solidFill>
                <a:latin typeface="Arial"/>
                <a:ea typeface="Arial"/>
                <a:cs typeface="Arial"/>
              </a:rPr>
              <a:t>The recursive predicate connects concrete nodes to a mathematical list</a:t>
            </a:r>
          </a:p>
        </p:txBody>
      </p:sp>
      <p:sp>
        <p:nvSpPr>
          <p:cNvPr id="5" name="">
            <a:extLst xmlns:a="http://schemas.openxmlformats.org/drawingml/2006/main">
              <a:ext uri="{FF2B5EF4-FFF2-40B4-BE49-F238E27FC236}">
                <a16:creationId xmlns:a16="http://schemas.microsoft.com/office/drawing/2014/main" id="{BE71A235-2975-4F62-856C-5490A7C8A747}"/>
              </a:ext>
            </a:extLst>
          </p:cNvPr>
          <p:cNvSpPr>
            <a:spLocks xmlns:a="http://schemas.openxmlformats.org/drawingml/2006/main" noGrp="1"/>
          </p:cNvSpPr>
          <p:nvPr/>
        </p:nvSpPr>
        <p:spPr>
          <a:xfrm xmlns:a="http://schemas.openxmlformats.org/drawingml/2006/main">
            <a:off x="609600" y="37147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Representation</a:t>
            </a:r>
          </a:p>
        </p:txBody>
      </p:sp>
      <p:sp>
        <p:nvSpPr>
          <p:cNvPr id="6" name="">
            <a:extLst xmlns:a="http://schemas.openxmlformats.org/drawingml/2006/main">
              <a:ext uri="{FF2B5EF4-FFF2-40B4-BE49-F238E27FC236}">
                <a16:creationId xmlns:a16="http://schemas.microsoft.com/office/drawing/2014/main" id="{B89E96CE-C808-4A07-955F-329D3836F639}"/>
              </a:ext>
            </a:extLst>
          </p:cNvPr>
          <p:cNvSpPr>
            <a:spLocks xmlns:a="http://schemas.openxmlformats.org/drawingml/2006/main" noGrp="1"/>
          </p:cNvSpPr>
          <p:nvPr/>
        </p:nvSpPr>
        <p:spPr>
          <a:xfrm xmlns:a="http://schemas.openxmlformats.org/drawingml/2006/main">
            <a:off x="6400800" y="37147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Operation contracts</a:t>
            </a:r>
          </a:p>
        </p:txBody>
      </p:sp>
      <p:sp>
        <p:nvSpPr>
          <p:cNvPr id="7" name="">
            <a:extLst xmlns:a="http://schemas.openxmlformats.org/drawingml/2006/main">
              <a:ext uri="{FF2B5EF4-FFF2-40B4-BE49-F238E27FC236}">
                <a16:creationId xmlns:a16="http://schemas.microsoft.com/office/drawing/2014/main" id="{7472B158-1A81-4AE6-A3D0-57F3C58001C7}"/>
              </a:ext>
            </a:extLst>
          </p:cNvPr>
          <p:cNvSpPr>
            <a:spLocks xmlns:a="http://schemas.openxmlformats.org/drawingml/2006/main" noGrp="1"/>
          </p:cNvSpPr>
          <p:nvPr/>
        </p:nvSpPr>
        <p:spPr>
          <a:xfrm xmlns:a="http://schemas.openxmlformats.org/drawingml/2006/main">
            <a:off x="609600" y="43053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 tagged sentinel represents the empty list.</a:t>
            </a:r>
          </a:p>
        </p:txBody>
      </p:sp>
      <p:sp>
        <p:nvSpPr>
          <p:cNvPr id="8" name="">
            <a:extLst xmlns:a="http://schemas.openxmlformats.org/drawingml/2006/main">
              <a:ext uri="{FF2B5EF4-FFF2-40B4-BE49-F238E27FC236}">
                <a16:creationId xmlns:a16="http://schemas.microsoft.com/office/drawing/2014/main" id="{BE813D9B-ADAF-42A2-A9C0-DA1AB05C65F0}"/>
              </a:ext>
            </a:extLst>
          </p:cNvPr>
          <p:cNvSpPr>
            <a:spLocks xmlns:a="http://schemas.openxmlformats.org/drawingml/2006/main" noGrp="1"/>
          </p:cNvSpPr>
          <p:nvPr/>
        </p:nvSpPr>
        <p:spPr>
          <a:xfrm xmlns:a="http://schemas.openxmlformats.org/drawingml/2006/main">
            <a:off x="609600" y="51911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A cons node owns its fields and the remaining chain.</a:t>
            </a:r>
          </a:p>
        </p:txBody>
      </p:sp>
      <p:sp>
        <p:nvSpPr>
          <p:cNvPr id="9" name="">
            <a:extLst xmlns:a="http://schemas.openxmlformats.org/drawingml/2006/main">
              <a:ext uri="{FF2B5EF4-FFF2-40B4-BE49-F238E27FC236}">
                <a16:creationId xmlns:a16="http://schemas.microsoft.com/office/drawing/2014/main" id="{CF2C0FD6-D37F-4CBC-BFA3-AE11FF80FE93}"/>
              </a:ext>
            </a:extLst>
          </p:cNvPr>
          <p:cNvSpPr>
            <a:spLocks xmlns:a="http://schemas.openxmlformats.org/drawingml/2006/main" noGrp="1"/>
          </p:cNvSpPr>
          <p:nvPr/>
        </p:nvSpPr>
        <p:spPr>
          <a:xfrm xmlns:a="http://schemas.openxmlformats.org/drawingml/2006/main">
            <a:off x="6400800" y="43053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cons extends the abstract contents.</a:t>
            </a:r>
          </a:p>
        </p:txBody>
      </p:sp>
      <p:sp>
        <p:nvSpPr>
          <p:cNvPr id="10" name="">
            <a:extLst xmlns:a="http://schemas.openxmlformats.org/drawingml/2006/main">
              <a:ext uri="{FF2B5EF4-FFF2-40B4-BE49-F238E27FC236}">
                <a16:creationId xmlns:a16="http://schemas.microsoft.com/office/drawing/2014/main" id="{EF8E503A-A727-4A16-8B0E-A06E2E243FF5}"/>
              </a:ext>
            </a:extLst>
          </p:cNvPr>
          <p:cNvSpPr>
            <a:spLocks xmlns:a="http://schemas.openxmlformats.org/drawingml/2006/main" noGrp="1"/>
          </p:cNvSpPr>
          <p:nvPr/>
        </p:nvSpPr>
        <p:spPr>
          <a:xfrm xmlns:a="http://schemas.openxmlformats.org/drawingml/2006/main">
            <a:off x="6400800" y="51435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head and tail require a nonempty list.</a:t>
            </a:r>
          </a:p>
        </p:txBody>
      </p:sp>
      <p:sp>
        <p:nvSpPr>
          <p:cNvPr id="11" name="">
            <a:extLst xmlns:a="http://schemas.openxmlformats.org/drawingml/2006/main">
              <a:ext uri="{FF2B5EF4-FFF2-40B4-BE49-F238E27FC236}">
                <a16:creationId xmlns:a16="http://schemas.microsoft.com/office/drawing/2014/main" id="{D1B7556B-E4A1-4F87-8101-8C0313C53509}"/>
              </a:ext>
            </a:extLst>
          </p:cNvPr>
          <p:cNvSpPr>
            <a:spLocks xmlns:a="http://schemas.openxmlformats.org/drawingml/2006/main" noGrp="1"/>
          </p:cNvSpPr>
          <p:nvPr/>
        </p:nvSpPr>
        <p:spPr>
          <a:xfrm xmlns:a="http://schemas.openxmlformats.org/drawingml/2006/main">
            <a:off x="6400800" y="59817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Queries preserve the ownership they inspect.</a:t>
            </a:r>
          </a:p>
        </p:txBody>
      </p:sp>
    </p:spTree>
    <p:extLst>
      <p:ext uri="{BB962C8B-B14F-4D97-AF65-F5344CB8AC3E}">
        <p14:creationId xmlns:p14="http://schemas.microsoft.com/office/powerpoint/2010/main" val="9008501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819352-223E-4694-B8ED-235FB223EFDA}"/>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List benchmarks</a:t>
            </a:r>
          </a:p>
        </p:txBody>
      </p:sp>
      <p:sp>
        <p:nvSpPr>
          <p:cNvPr id="2" name="">
            <a:extLst xmlns:a="http://schemas.openxmlformats.org/drawingml/2006/main">
              <a:ext uri="{FF2B5EF4-FFF2-40B4-BE49-F238E27FC236}">
                <a16:creationId xmlns:a16="http://schemas.microsoft.com/office/drawing/2014/main" id="{BBEC597C-D764-45FB-ACC6-771C69071AE2}"/>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20</a:t>
            </a:r>
          </a:p>
        </p:txBody>
      </p:sp>
      <p:graphicFrame>
        <p:nvGraphicFramePr>
          <p:cNvPr id="3" name="Chart">
            <a:extLst xmlns:a="http://schemas.openxmlformats.org/drawingml/2006/main">
              <a:ext uri="{FF2B5EF4-FFF2-40B4-BE49-F238E27FC236}">
                <a16:creationId xmlns:a16="http://schemas.microsoft.com/office/drawing/2014/main" id="{10FDB138-FC98-4D09-9243-9056551E35D5}"/>
              </a:ext>
            </a:extLst>
          </p:cNvPr>
          <p:cNvGraphicFramePr/>
          <p:nvPr/>
        </p:nvGraphicFramePr>
        <p:xfrm>
          <a:off xmlns:a="http://schemas.openxmlformats.org/drawingml/2006/main" x="609600" y="1476375"/>
          <a:ext xmlns:a="http://schemas.openxmlformats.org/drawingml/2006/main" cx="5257800" cy="3333750"/>
        </p:xfrm>
        <a:graphic xmlns:a="http://schemas.openxmlformats.org/drawingml/2006/main">
          <a:graphicData uri="http://schemas.openxmlformats.org/drawingml/2006/chart">
            <c:chart xmlns:r="http://schemas.openxmlformats.org/officeDocument/2006/relationships" xmlns:c="http://schemas.openxmlformats.org/drawingml/2006/chart" r:id="Rd99e88cd8da340fc"/>
          </a:graphicData>
        </a:graphic>
      </p:graphicFrame>
      <p:graphicFrame>
        <p:nvGraphicFramePr>
          <p:cNvPr id="4" name="Chart">
            <a:extLst xmlns:a="http://schemas.openxmlformats.org/drawingml/2006/main">
              <a:ext uri="{FF2B5EF4-FFF2-40B4-BE49-F238E27FC236}">
                <a16:creationId xmlns:a16="http://schemas.microsoft.com/office/drawing/2014/main" id="{944D0792-1B42-4559-A723-EC48777B958B}"/>
              </a:ext>
            </a:extLst>
          </p:cNvPr>
          <p:cNvGraphicFramePr/>
          <p:nvPr/>
        </p:nvGraphicFramePr>
        <p:xfrm>
          <a:off xmlns:a="http://schemas.openxmlformats.org/drawingml/2006/main" x="6324600" y="1476375"/>
          <a:ext xmlns:a="http://schemas.openxmlformats.org/drawingml/2006/main" cx="5257800" cy="3333750"/>
        </p:xfrm>
        <a:graphic xmlns:a="http://schemas.openxmlformats.org/drawingml/2006/main">
          <a:graphicData uri="http://schemas.openxmlformats.org/drawingml/2006/chart">
            <c:chart xmlns:r="http://schemas.openxmlformats.org/officeDocument/2006/relationships" xmlns:c="http://schemas.openxmlformats.org/drawingml/2006/chart" r:id="R7e8f35752b234695"/>
          </a:graphicData>
        </a:graphic>
      </p:graphicFrame>
      <p:sp>
        <p:nvSpPr>
          <p:cNvPr id="5" name="">
            <a:extLst xmlns:a="http://schemas.openxmlformats.org/drawingml/2006/main">
              <a:ext uri="{FF2B5EF4-FFF2-40B4-BE49-F238E27FC236}">
                <a16:creationId xmlns:a16="http://schemas.microsoft.com/office/drawing/2014/main" id="{C5D75559-9912-4400-817B-3608FEFDD832}"/>
              </a:ext>
            </a:extLst>
          </p:cNvPr>
          <p:cNvSpPr>
            <a:spLocks xmlns:a="http://schemas.openxmlformats.org/drawingml/2006/main" noGrp="1"/>
          </p:cNvSpPr>
          <p:nvPr/>
        </p:nvSpPr>
        <p:spPr>
          <a:xfrm xmlns:a="http://schemas.openxmlformats.org/drawingml/2006/main">
            <a:off x="609600" y="49530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36376"/>
                </a:solidFill>
                <a:latin typeface="Arial"/>
                <a:ea typeface="Arial"/>
                <a:cs typeface="Arial"/>
              </a:defRPr>
            </a:defPPr>
          </a:lstStyle>
          <a:p xmlns:a="http://schemas.openxmlformats.org/drawingml/2006/main">
            <a:pPr>
              <a:defRPr sz="1575" b="0">
                <a:solidFill>
                  <a:srgbClr val="536376"/>
                </a:solidFill>
                <a:latin typeface="Arial"/>
                <a:ea typeface="Arial"/>
                <a:cs typeface="Arial"/>
              </a:defRPr>
            </a:pPr>
            <a:r>
              <a:rPr sz="1575" b="0">
                <a:solidFill>
                  <a:srgbClr val="536376"/>
                </a:solidFill>
                <a:latin typeface="Arial"/>
                <a:ea typeface="Arial"/>
                <a:cs typeface="Arial"/>
              </a:rPr>
              <a:t>Interquartile ranges, ns / element</a:t>
            </a:r>
          </a:p>
        </p:txBody>
      </p:sp>
      <p:sp>
        <p:nvSpPr>
          <p:cNvPr id="6" name="">
            <a:extLst xmlns:a="http://schemas.openxmlformats.org/drawingml/2006/main">
              <a:ext uri="{FF2B5EF4-FFF2-40B4-BE49-F238E27FC236}">
                <a16:creationId xmlns:a16="http://schemas.microsoft.com/office/drawing/2014/main" id="{4B084239-514D-4324-81A3-872265BC9B72}"/>
              </a:ext>
            </a:extLst>
          </p:cNvPr>
          <p:cNvSpPr>
            <a:spLocks xmlns:a="http://schemas.openxmlformats.org/drawingml/2006/main" noGrp="1"/>
          </p:cNvSpPr>
          <p:nvPr/>
        </p:nvSpPr>
        <p:spPr>
          <a:xfrm xmlns:a="http://schemas.openxmlformats.org/drawingml/2006/main">
            <a:off x="609600" y="52578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36376"/>
                </a:solidFill>
                <a:latin typeface="Arial"/>
                <a:ea typeface="Arial"/>
                <a:cs typeface="Arial"/>
              </a:defRPr>
            </a:defPPr>
          </a:lstStyle>
          <a:p xmlns:a="http://schemas.openxmlformats.org/drawingml/2006/main">
            <a:pPr>
              <a:defRPr sz="1575" b="0">
                <a:solidFill>
                  <a:srgbClr val="536376"/>
                </a:solidFill>
                <a:latin typeface="Arial"/>
                <a:ea typeface="Arial"/>
                <a:cs typeface="Arial"/>
              </a:defRPr>
            </a:pPr>
            <a:r>
              <a:rPr sz="1575" b="0">
                <a:solidFill>
                  <a:srgbClr val="536376"/>
                </a:solidFill>
                <a:latin typeface="Arial"/>
                <a:ea typeface="Arial"/>
                <a:cs typeface="Arial"/>
              </a:rPr>
              <a:t>Traversal, n=16,384  CJR: 1.85–1.95   Std: 2.23–2.27</a:t>
            </a:r>
          </a:p>
          <a:p xmlns:a="http://schemas.openxmlformats.org/drawingml/2006/main">
            <a:pPr>
              <a:defRPr sz="1575" b="0">
                <a:solidFill>
                  <a:srgbClr val="536376"/>
                </a:solidFill>
                <a:latin typeface="Arial"/>
                <a:ea typeface="Arial"/>
                <a:cs typeface="Arial"/>
              </a:defRPr>
            </a:pPr>
            <a:r>
              <a:rPr sz="1575" b="0">
                <a:solidFill>
                  <a:srgbClr val="536376"/>
                </a:solidFill>
                <a:latin typeface="Arial"/>
                <a:ea typeface="Arial"/>
                <a:cs typeface="Arial"/>
              </a:rPr>
              <a:t>Build + scan, n=16,384  CJR: 3.94–5.05   Std: 14.27–16.32</a:t>
            </a:r>
          </a:p>
        </p:txBody>
      </p:sp>
      <p:sp>
        <p:nvSpPr>
          <p:cNvPr id="7" name="">
            <a:extLst xmlns:a="http://schemas.openxmlformats.org/drawingml/2006/main">
              <a:ext uri="{FF2B5EF4-FFF2-40B4-BE49-F238E27FC236}">
                <a16:creationId xmlns:a16="http://schemas.microsoft.com/office/drawing/2014/main" id="{A11F10DE-8283-496D-BEF3-5931C7C519CE}"/>
              </a:ext>
            </a:extLst>
          </p:cNvPr>
          <p:cNvSpPr>
            <a:spLocks xmlns:a="http://schemas.openxmlformats.org/drawingml/2006/main" noGrp="1"/>
          </p:cNvSpPr>
          <p:nvPr/>
        </p:nvSpPr>
        <p:spPr>
          <a:xfrm xmlns:a="http://schemas.openxmlformats.org/drawingml/2006/main">
            <a:off x="609600" y="61531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36376"/>
                </a:solidFill>
                <a:latin typeface="Arial"/>
                <a:ea typeface="Arial"/>
                <a:cs typeface="Arial"/>
              </a:defRPr>
            </a:defPPr>
          </a:lstStyle>
          <a:p xmlns:a="http://schemas.openxmlformats.org/drawingml/2006/main">
            <a:pPr>
              <a:defRPr sz="1500" b="0">
                <a:solidFill>
                  <a:srgbClr val="536376"/>
                </a:solidFill>
                <a:latin typeface="Arial"/>
                <a:ea typeface="Arial"/>
                <a:cs typeface="Arial"/>
              </a:defRPr>
            </a:pPr>
            <a:r>
              <a:rPr sz="1500" b="0">
                <a:solidFill>
                  <a:srgbClr val="536376"/>
                </a:solidFill>
                <a:latin typeface="Arial"/>
                <a:ea typeface="Arial"/>
                <a:cs typeface="Arial"/>
              </a:rPr>
              <a:t>Historical local run dated 2026-10-12. 21 observations per point. Different node representations.</a:t>
            </a:r>
          </a:p>
        </p:txBody>
      </p:sp>
    </p:spTree>
    <p:extLst>
      <p:ext uri="{BB962C8B-B14F-4D97-AF65-F5344CB8AC3E}">
        <p14:creationId xmlns:p14="http://schemas.microsoft.com/office/powerpoint/2010/main" val="2124110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4B5F2A-053E-4182-A4E9-CCB7A3F1774E}"/>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In-place reversal</a:t>
            </a:r>
          </a:p>
        </p:txBody>
      </p:sp>
      <p:sp>
        <p:nvSpPr>
          <p:cNvPr id="2" name="">
            <a:extLst xmlns:a="http://schemas.openxmlformats.org/drawingml/2006/main">
              <a:ext uri="{FF2B5EF4-FFF2-40B4-BE49-F238E27FC236}">
                <a16:creationId xmlns:a16="http://schemas.microsoft.com/office/drawing/2014/main" id="{7EE02648-3B12-4D86-9F6D-EF4FF62B09D9}"/>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8AEED9BD-0E4E-4FD6-8D95-7504BCFFF94B}"/>
              </a:ext>
            </a:extLst>
          </p:cNvPr>
          <p:cNvSpPr>
            <a:spLocks xmlns:a="http://schemas.openxmlformats.org/drawingml/2006/main" noGrp="1"/>
          </p:cNvSpPr>
          <p:nvPr/>
        </p:nvSpPr>
        <p:spPr>
          <a:xfrm xmlns:a="http://schemas.openxmlformats.org/drawingml/2006/main">
            <a:off x="609600" y="1809750"/>
            <a:ext cx="5524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53345"/>
                </a:solidFill>
                <a:latin typeface="Menlo"/>
                <a:ea typeface="Menlo"/>
                <a:cs typeface="Menlo"/>
              </a:defRPr>
            </a:defPPr>
          </a:lstStyle>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while (cur.isCons) {</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    let nxt = cur.next</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    cur.next = acc</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    acc = cur</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    cur = nxt</a:t>
            </a:r>
          </a:p>
          <a:p xmlns:a="http://schemas.openxmlformats.org/drawingml/2006/main">
            <a:pPr>
              <a:defRPr sz="2175" b="0">
                <a:solidFill>
                  <a:srgbClr val="253345"/>
                </a:solidFill>
                <a:latin typeface="Menlo"/>
                <a:ea typeface="Menlo"/>
                <a:cs typeface="Menlo"/>
              </a:defRPr>
            </a:pPr>
            <a:r>
              <a:rPr sz="2175" b="0">
                <a:solidFill>
                  <a:srgbClr val="253345"/>
                </a:solidFill>
                <a:latin typeface="Menlo"/>
                <a:ea typeface="Menlo"/>
                <a:cs typeface="Menlo"/>
              </a:rPr>
              <a:t>}</a:t>
            </a:r>
          </a:p>
        </p:txBody>
      </p:sp>
      <p:sp>
        <p:nvSpPr>
          <p:cNvPr id="4" name="">
            <a:extLst xmlns:a="http://schemas.openxmlformats.org/drawingml/2006/main">
              <a:ext uri="{FF2B5EF4-FFF2-40B4-BE49-F238E27FC236}">
                <a16:creationId xmlns:a16="http://schemas.microsoft.com/office/drawing/2014/main" id="{91AB7A33-75B0-421B-A336-ABA3EFC6468F}"/>
              </a:ext>
            </a:extLst>
          </p:cNvPr>
          <p:cNvSpPr>
            <a:spLocks xmlns:a="http://schemas.openxmlformats.org/drawingml/2006/main" noGrp="1"/>
          </p:cNvSpPr>
          <p:nvPr/>
        </p:nvSpPr>
        <p:spPr>
          <a:xfrm xmlns:a="http://schemas.openxmlformats.org/drawingml/2006/main">
            <a:off x="6705600" y="17145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Invariant and client result</a:t>
            </a:r>
          </a:p>
        </p:txBody>
      </p:sp>
      <p:sp>
        <p:nvSpPr>
          <p:cNvPr id="5" name="">
            <a:extLst xmlns:a="http://schemas.openxmlformats.org/drawingml/2006/main">
              <a:ext uri="{FF2B5EF4-FFF2-40B4-BE49-F238E27FC236}">
                <a16:creationId xmlns:a16="http://schemas.microsoft.com/office/drawing/2014/main" id="{E171B106-F6E6-4F76-B3CA-09B8E67C0DE0}"/>
              </a:ext>
            </a:extLst>
          </p:cNvPr>
          <p:cNvSpPr>
            <a:spLocks xmlns:a="http://schemas.openxmlformats.org/drawingml/2006/main" noGrp="1"/>
          </p:cNvSpPr>
          <p:nvPr/>
        </p:nvSpPr>
        <p:spPr>
          <a:xfrm xmlns:a="http://schemas.openxmlformats.org/drawingml/2006/main">
            <a:off x="6705600" y="2381250"/>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rev(u) ++ v = original contents</a:t>
            </a:r>
          </a:p>
        </p:txBody>
      </p:sp>
      <p:sp>
        <p:nvSpPr>
          <p:cNvPr id="6" name="">
            <a:extLst xmlns:a="http://schemas.openxmlformats.org/drawingml/2006/main">
              <a:ext uri="{FF2B5EF4-FFF2-40B4-BE49-F238E27FC236}">
                <a16:creationId xmlns:a16="http://schemas.microsoft.com/office/drawing/2014/main" id="{B0C1DE03-FF29-4EC0-B19C-C7576EC60779}"/>
              </a:ext>
            </a:extLst>
          </p:cNvPr>
          <p:cNvSpPr>
            <a:spLocks xmlns:a="http://schemas.openxmlformats.org/drawingml/2006/main" noGrp="1"/>
          </p:cNvSpPr>
          <p:nvPr/>
        </p:nvSpPr>
        <p:spPr>
          <a:xfrm xmlns:a="http://schemas.openxmlformats.org/drawingml/2006/main">
            <a:off x="6705600" y="319087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Own accumulator u and remaining suffix v separately.</a:t>
            </a:r>
          </a:p>
        </p:txBody>
      </p:sp>
      <p:sp>
        <p:nvSpPr>
          <p:cNvPr id="7" name="">
            <a:extLst xmlns:a="http://schemas.openxmlformats.org/drawingml/2006/main">
              <a:ext uri="{FF2B5EF4-FFF2-40B4-BE49-F238E27FC236}">
                <a16:creationId xmlns:a16="http://schemas.microsoft.com/office/drawing/2014/main" id="{45D98678-E017-44B5-9024-34D96A85E829}"/>
              </a:ext>
            </a:extLst>
          </p:cNvPr>
          <p:cNvSpPr>
            <a:spLocks xmlns:a="http://schemas.openxmlformats.org/drawingml/2006/main" noGrp="1"/>
          </p:cNvSpPr>
          <p:nvPr/>
        </p:nvSpPr>
        <p:spPr>
          <a:xfrm xmlns:a="http://schemas.openxmlformats.org/drawingml/2006/main">
            <a:off x="6705600" y="404812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At exit, the suffix is empty and the accumulator is reversed.</a:t>
            </a:r>
          </a:p>
        </p:txBody>
      </p:sp>
      <p:sp>
        <p:nvSpPr>
          <p:cNvPr id="8" name="">
            <a:extLst xmlns:a="http://schemas.openxmlformats.org/drawingml/2006/main">
              <a:ext uri="{FF2B5EF4-FFF2-40B4-BE49-F238E27FC236}">
                <a16:creationId xmlns:a16="http://schemas.microsoft.com/office/drawing/2014/main" id="{0F30AB24-D6C7-42C3-832E-4C6E0C00EF76}"/>
              </a:ext>
            </a:extLst>
          </p:cNvPr>
          <p:cNvSpPr>
            <a:spLocks xmlns:a="http://schemas.openxmlformats.org/drawingml/2006/main" noGrp="1"/>
          </p:cNvSpPr>
          <p:nvPr/>
        </p:nvSpPr>
        <p:spPr>
          <a:xfrm xmlns:a="http://schemas.openxmlformats.org/drawingml/2006/main">
            <a:off x="6705600" y="490537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53345"/>
                </a:solidFill>
                <a:latin typeface="Arial"/>
                <a:ea typeface="Arial"/>
                <a:cs typeface="Arial"/>
              </a:defRPr>
            </a:defPPr>
          </a:lstStyle>
          <a:p xmlns:a="http://schemas.openxmlformats.org/drawingml/2006/main">
            <a:pPr>
              <a:defRPr sz="2025" b="0">
                <a:solidFill>
                  <a:srgbClr val="253345"/>
                </a:solidFill>
                <a:latin typeface="Arial"/>
                <a:ea typeface="Arial"/>
                <a:cs typeface="Arial"/>
              </a:defRPr>
            </a:pPr>
            <a:r>
              <a:rPr sz="2025" b="0">
                <a:solidFill>
                  <a:srgbClr val="253345"/>
                </a:solidFill>
                <a:latin typeface="Arial"/>
                <a:ea typeface="Arial"/>
                <a:cs typeface="Arial"/>
              </a:rPr>
              <a:t>Reversing twice restores the abstract contents.</a:t>
            </a:r>
          </a:p>
        </p:txBody>
      </p:sp>
    </p:spTree>
    <p:extLst>
      <p:ext uri="{BB962C8B-B14F-4D97-AF65-F5344CB8AC3E}">
        <p14:creationId xmlns:p14="http://schemas.microsoft.com/office/powerpoint/2010/main" val="213766823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B91639-58B5-4E20-B36C-4541E1B98F73}"/>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Reversal benchmarks</a:t>
            </a:r>
          </a:p>
        </p:txBody>
      </p:sp>
      <p:sp>
        <p:nvSpPr>
          <p:cNvPr id="2" name="">
            <a:extLst xmlns:a="http://schemas.openxmlformats.org/drawingml/2006/main">
              <a:ext uri="{FF2B5EF4-FFF2-40B4-BE49-F238E27FC236}">
                <a16:creationId xmlns:a16="http://schemas.microsoft.com/office/drawing/2014/main" id="{B84C51CE-AC7F-416B-8CA4-91A5EE433413}"/>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22</a:t>
            </a:r>
          </a:p>
        </p:txBody>
      </p:sp>
      <p:graphicFrame>
        <p:nvGraphicFramePr>
          <p:cNvPr id="3" name="Chart">
            <a:extLst xmlns:a="http://schemas.openxmlformats.org/drawingml/2006/main">
              <a:ext uri="{FF2B5EF4-FFF2-40B4-BE49-F238E27FC236}">
                <a16:creationId xmlns:a16="http://schemas.microsoft.com/office/drawing/2014/main" id="{9D7F2DC2-7202-4A17-83E6-2E94E3D9C8C1}"/>
              </a:ext>
            </a:extLst>
          </p:cNvPr>
          <p:cNvGraphicFramePr/>
          <p:nvPr/>
        </p:nvGraphicFramePr>
        <p:xfrm>
          <a:off xmlns:a="http://schemas.openxmlformats.org/drawingml/2006/main" x="609600" y="1476375"/>
          <a:ext xmlns:a="http://schemas.openxmlformats.org/drawingml/2006/main" cx="6572250" cy="3714750"/>
        </p:xfrm>
        <a:graphic xmlns:a="http://schemas.openxmlformats.org/drawingml/2006/main">
          <a:graphicData uri="http://schemas.openxmlformats.org/drawingml/2006/chart">
            <c:chart xmlns:r="http://schemas.openxmlformats.org/officeDocument/2006/relationships" xmlns:c="http://schemas.openxmlformats.org/drawingml/2006/chart" r:id="R976cb8f14683465a"/>
          </a:graphicData>
        </a:graphic>
      </p:graphicFrame>
      <p:sp>
        <p:nvSpPr>
          <p:cNvPr id="4" name="">
            <a:extLst xmlns:a="http://schemas.openxmlformats.org/drawingml/2006/main">
              <a:ext uri="{FF2B5EF4-FFF2-40B4-BE49-F238E27FC236}">
                <a16:creationId xmlns:a16="http://schemas.microsoft.com/office/drawing/2014/main" id="{E2F2FE54-63B2-4F87-80C1-91E21C327F2F}"/>
              </a:ext>
            </a:extLst>
          </p:cNvPr>
          <p:cNvSpPr>
            <a:spLocks xmlns:a="http://schemas.openxmlformats.org/drawingml/2006/main" noGrp="1"/>
          </p:cNvSpPr>
          <p:nvPr/>
        </p:nvSpPr>
        <p:spPr>
          <a:xfrm xmlns:a="http://schemas.openxmlformats.org/drawingml/2006/main">
            <a:off x="7810500" y="1600200"/>
            <a:ext cx="361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45C9D"/>
                </a:solidFill>
                <a:latin typeface="Arial"/>
                <a:ea typeface="Arial"/>
                <a:cs typeface="Arial"/>
              </a:defRPr>
            </a:defPPr>
          </a:lstStyle>
          <a:p xmlns:a="http://schemas.openxmlformats.org/drawingml/2006/main">
            <a:pPr>
              <a:defRPr sz="2025" b="1">
                <a:solidFill>
                  <a:srgbClr val="245C9D"/>
                </a:solidFill>
                <a:latin typeface="Arial"/>
                <a:ea typeface="Arial"/>
                <a:cs typeface="Arial"/>
              </a:defRPr>
            </a:pPr>
            <a:r>
              <a:rPr sz="2025" b="1">
                <a:solidFill>
                  <a:srgbClr val="245C9D"/>
                </a:solidFill>
                <a:latin typeface="Arial"/>
                <a:ea typeface="Arial"/>
                <a:cs typeface="Arial"/>
              </a:rPr>
              <a:t>Equivalent native algorithm</a:t>
            </a:r>
          </a:p>
        </p:txBody>
      </p:sp>
      <p:sp>
        <p:nvSpPr>
          <p:cNvPr id="5" name="">
            <a:extLst xmlns:a="http://schemas.openxmlformats.org/drawingml/2006/main">
              <a:ext uri="{FF2B5EF4-FFF2-40B4-BE49-F238E27FC236}">
                <a16:creationId xmlns:a16="http://schemas.microsoft.com/office/drawing/2014/main" id="{4E9C4AD4-88AB-4D56-BFAB-724484301A63}"/>
              </a:ext>
            </a:extLst>
          </p:cNvPr>
          <p:cNvSpPr>
            <a:spLocks xmlns:a="http://schemas.openxmlformats.org/drawingml/2006/main" noGrp="1"/>
          </p:cNvSpPr>
          <p:nvPr/>
        </p:nvSpPr>
        <p:spPr>
          <a:xfrm xmlns:a="http://schemas.openxmlformats.org/drawingml/2006/main">
            <a:off x="7810500" y="2286000"/>
            <a:ext cx="361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Prebuilt lists. Two reversals per timed batch.</a:t>
            </a:r>
          </a:p>
        </p:txBody>
      </p:sp>
      <p:sp>
        <p:nvSpPr>
          <p:cNvPr id="6" name="">
            <a:extLst xmlns:a="http://schemas.openxmlformats.org/drawingml/2006/main">
              <a:ext uri="{FF2B5EF4-FFF2-40B4-BE49-F238E27FC236}">
                <a16:creationId xmlns:a16="http://schemas.microsoft.com/office/drawing/2014/main" id="{4A4FAF48-9AEF-4FDE-93ED-56DF1DA2E56A}"/>
              </a:ext>
            </a:extLst>
          </p:cNvPr>
          <p:cNvSpPr>
            <a:spLocks xmlns:a="http://schemas.openxmlformats.org/drawingml/2006/main" noGrp="1"/>
          </p:cNvSpPr>
          <p:nvPr/>
        </p:nvSpPr>
        <p:spPr>
          <a:xfrm xmlns:a="http://schemas.openxmlformats.org/drawingml/2006/main">
            <a:off x="7810500" y="3219450"/>
            <a:ext cx="361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Sentinel allocation and GC included.</a:t>
            </a:r>
          </a:p>
        </p:txBody>
      </p:sp>
      <p:sp>
        <p:nvSpPr>
          <p:cNvPr id="7" name="">
            <a:extLst xmlns:a="http://schemas.openxmlformats.org/drawingml/2006/main">
              <a:ext uri="{FF2B5EF4-FFF2-40B4-BE49-F238E27FC236}">
                <a16:creationId xmlns:a16="http://schemas.microsoft.com/office/drawing/2014/main" id="{3871BE60-E715-4F87-AF74-E008F9A2431D}"/>
              </a:ext>
            </a:extLst>
          </p:cNvPr>
          <p:cNvSpPr>
            <a:spLocks xmlns:a="http://schemas.openxmlformats.org/drawingml/2006/main" noGrp="1"/>
          </p:cNvSpPr>
          <p:nvPr/>
        </p:nvSpPr>
        <p:spPr>
          <a:xfrm xmlns:a="http://schemas.openxmlformats.org/drawingml/2006/main">
            <a:off x="7810500" y="4152900"/>
            <a:ext cx="361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Full sequence checks outside timing.</a:t>
            </a:r>
          </a:p>
        </p:txBody>
      </p:sp>
      <p:sp>
        <p:nvSpPr>
          <p:cNvPr id="8" name="">
            <a:extLst xmlns:a="http://schemas.openxmlformats.org/drawingml/2006/main">
              <a:ext uri="{FF2B5EF4-FFF2-40B4-BE49-F238E27FC236}">
                <a16:creationId xmlns:a16="http://schemas.microsoft.com/office/drawing/2014/main" id="{1C6234F1-096A-468F-80E8-EA1481C2AAE4}"/>
              </a:ext>
            </a:extLst>
          </p:cNvPr>
          <p:cNvSpPr>
            <a:spLocks xmlns:a="http://schemas.openxmlformats.org/drawingml/2006/main" noGrp="1"/>
          </p:cNvSpPr>
          <p:nvPr/>
        </p:nvSpPr>
        <p:spPr>
          <a:xfrm xmlns:a="http://schemas.openxmlformats.org/drawingml/2006/main">
            <a:off x="609600" y="514350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36376"/>
                </a:solidFill>
                <a:latin typeface="Arial"/>
                <a:ea typeface="Arial"/>
                <a:cs typeface="Arial"/>
              </a:defRPr>
            </a:defPPr>
          </a:lstStyle>
          <a:p xmlns:a="http://schemas.openxmlformats.org/drawingml/2006/main">
            <a:pPr>
              <a:defRPr sz="1425" b="0">
                <a:solidFill>
                  <a:srgbClr val="536376"/>
                </a:solidFill>
                <a:latin typeface="Arial"/>
                <a:ea typeface="Arial"/>
                <a:cs typeface="Arial"/>
              </a:defRPr>
            </a:pPr>
            <a:r>
              <a:rPr sz="1425" b="0">
                <a:solidFill>
                  <a:srgbClr val="536376"/>
                </a:solidFill>
                <a:latin typeface="Arial"/>
                <a:ea typeface="Arial"/>
                <a:cs typeface="Arial"/>
              </a:rPr>
              <a:t>Interquartile ranges, µs / reversal</a:t>
            </a:r>
          </a:p>
        </p:txBody>
      </p:sp>
      <p:sp>
        <p:nvSpPr>
          <p:cNvPr id="9" name="">
            <a:extLst xmlns:a="http://schemas.openxmlformats.org/drawingml/2006/main">
              <a:ext uri="{FF2B5EF4-FFF2-40B4-BE49-F238E27FC236}">
                <a16:creationId xmlns:a16="http://schemas.microsoft.com/office/drawing/2014/main" id="{2E6FEAC6-5068-4AE9-B9C4-D4F278C36E58}"/>
              </a:ext>
            </a:extLst>
          </p:cNvPr>
          <p:cNvSpPr>
            <a:spLocks xmlns:a="http://schemas.openxmlformats.org/drawingml/2006/main" noGrp="1"/>
          </p:cNvSpPr>
          <p:nvPr/>
        </p:nvSpPr>
        <p:spPr>
          <a:xfrm xmlns:a="http://schemas.openxmlformats.org/drawingml/2006/main">
            <a:off x="609600" y="54483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36376"/>
                </a:solidFill>
                <a:latin typeface="Arial"/>
                <a:ea typeface="Arial"/>
                <a:cs typeface="Arial"/>
              </a:defRPr>
            </a:defPPr>
          </a:lstStyle>
          <a:p xmlns:a="http://schemas.openxmlformats.org/drawingml/2006/main">
            <a:pPr>
              <a:defRPr sz="1425" b="0">
                <a:solidFill>
                  <a:srgbClr val="536376"/>
                </a:solidFill>
                <a:latin typeface="Arial"/>
                <a:ea typeface="Arial"/>
                <a:cs typeface="Arial"/>
              </a:defRPr>
            </a:pPr>
            <a:r>
              <a:rPr sz="1425" b="0">
                <a:solidFill>
                  <a:srgbClr val="536376"/>
                </a:solidFill>
                <a:latin typeface="Arial"/>
                <a:ea typeface="Arial"/>
                <a:cs typeface="Arial"/>
              </a:rPr>
              <a:t>256 nodes  CJR: 0.44–0.45   Native: 0.19–0.20</a:t>
            </a:r>
          </a:p>
          <a:p xmlns:a="http://schemas.openxmlformats.org/drawingml/2006/main">
            <a:pPr>
              <a:defRPr sz="1425" b="0">
                <a:solidFill>
                  <a:srgbClr val="536376"/>
                </a:solidFill>
                <a:latin typeface="Arial"/>
                <a:ea typeface="Arial"/>
                <a:cs typeface="Arial"/>
              </a:defRPr>
            </a:pPr>
            <a:r>
              <a:rPr sz="1425" b="0">
                <a:solidFill>
                  <a:srgbClr val="536376"/>
                </a:solidFill>
                <a:latin typeface="Arial"/>
                <a:ea typeface="Arial"/>
                <a:cs typeface="Arial"/>
              </a:rPr>
              <a:t>4,096 nodes  CJR: 7.70–8.81   Native: 4.23–5.26</a:t>
            </a:r>
          </a:p>
          <a:p xmlns:a="http://schemas.openxmlformats.org/drawingml/2006/main">
            <a:pPr>
              <a:defRPr sz="1425" b="0">
                <a:solidFill>
                  <a:srgbClr val="536376"/>
                </a:solidFill>
                <a:latin typeface="Arial"/>
                <a:ea typeface="Arial"/>
                <a:cs typeface="Arial"/>
              </a:defRPr>
            </a:pPr>
            <a:r>
              <a:rPr sz="1425" b="0">
                <a:solidFill>
                  <a:srgbClr val="536376"/>
                </a:solidFill>
                <a:latin typeface="Arial"/>
                <a:ea typeface="Arial"/>
                <a:cs typeface="Arial"/>
              </a:rPr>
              <a:t>16,384 nodes  CJR: 28.11–28.88   Native: 18.00–18.54</a:t>
            </a:r>
          </a:p>
        </p:txBody>
      </p:sp>
      <p:sp>
        <p:nvSpPr>
          <p:cNvPr id="10" name="">
            <a:extLst xmlns:a="http://schemas.openxmlformats.org/drawingml/2006/main">
              <a:ext uri="{FF2B5EF4-FFF2-40B4-BE49-F238E27FC236}">
                <a16:creationId xmlns:a16="http://schemas.microsoft.com/office/drawing/2014/main" id="{0E34F1A2-53CC-4686-AB08-D6C49319E927}"/>
              </a:ext>
            </a:extLst>
          </p:cNvPr>
          <p:cNvSpPr>
            <a:spLocks xmlns:a="http://schemas.openxmlformats.org/drawingml/2006/main" noGrp="1"/>
          </p:cNvSpPr>
          <p:nvPr/>
        </p:nvSpPr>
        <p:spPr>
          <a:xfrm xmlns:a="http://schemas.openxmlformats.org/drawingml/2006/main">
            <a:off x="609600" y="61912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36376"/>
                </a:solidFill>
                <a:latin typeface="Arial"/>
                <a:ea typeface="Arial"/>
                <a:cs typeface="Arial"/>
              </a:defRPr>
            </a:defPPr>
          </a:lstStyle>
          <a:p xmlns:a="http://schemas.openxmlformats.org/drawingml/2006/main">
            <a:pPr>
              <a:defRPr sz="1500" b="0">
                <a:solidFill>
                  <a:srgbClr val="536376"/>
                </a:solidFill>
                <a:latin typeface="Arial"/>
                <a:ea typeface="Arial"/>
                <a:cs typeface="Arial"/>
              </a:defRPr>
            </a:pPr>
            <a:r>
              <a:rPr sz="1500" b="0">
                <a:solidFill>
                  <a:srgbClr val="536376"/>
                </a:solidFill>
                <a:latin typeface="Arial"/>
                <a:ea typeface="Arial"/>
                <a:cs typeface="Arial"/>
              </a:rPr>
              <a:t>New local run dated 2026-10-13. 3 processes × 7 trials. Independently calibrated batches.</a:t>
            </a:r>
          </a:p>
        </p:txBody>
      </p:sp>
    </p:spTree>
    <p:extLst>
      <p:ext uri="{BB962C8B-B14F-4D97-AF65-F5344CB8AC3E}">
        <p14:creationId xmlns:p14="http://schemas.microsoft.com/office/powerpoint/2010/main" val="114851595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884FE8-DD9B-4E57-899D-6343DB80271C}"/>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Hash maps: interacting invariants</a:t>
            </a:r>
          </a:p>
        </p:txBody>
      </p:sp>
      <p:sp>
        <p:nvSpPr>
          <p:cNvPr id="2" name="">
            <a:extLst xmlns:a="http://schemas.openxmlformats.org/drawingml/2006/main">
              <a:ext uri="{FF2B5EF4-FFF2-40B4-BE49-F238E27FC236}">
                <a16:creationId xmlns:a16="http://schemas.microsoft.com/office/drawing/2014/main" id="{51A048D1-2313-4D38-9C7B-09F66DE8ED23}"/>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6DAF54D6-1571-4A6B-8BCA-539BD961184A}"/>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Open-addressed storage</a:t>
            </a:r>
          </a:p>
        </p:txBody>
      </p:sp>
      <p:sp>
        <p:nvSpPr>
          <p:cNvPr id="4" name="">
            <a:extLst xmlns:a="http://schemas.openxmlformats.org/drawingml/2006/main">
              <a:ext uri="{FF2B5EF4-FFF2-40B4-BE49-F238E27FC236}">
                <a16:creationId xmlns:a16="http://schemas.microsoft.com/office/drawing/2014/main" id="{2CBF8AF9-CD1A-4C7F-8244-165B98FF4248}"/>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What the contracts establish</a:t>
            </a:r>
          </a:p>
        </p:txBody>
      </p:sp>
      <p:sp>
        <p:nvSpPr>
          <p:cNvPr id="5" name="">
            <a:extLst xmlns:a="http://schemas.openxmlformats.org/drawingml/2006/main">
              <a:ext uri="{FF2B5EF4-FFF2-40B4-BE49-F238E27FC236}">
                <a16:creationId xmlns:a16="http://schemas.microsoft.com/office/drawing/2014/main" id="{09AFE554-DE22-45A8-BFAB-8C691EBF606D}"/>
              </a:ext>
            </a:extLst>
          </p:cNvPr>
          <p:cNvSpPr>
            <a:spLocks xmlns:a="http://schemas.openxmlformats.org/drawingml/2006/main" noGrp="1"/>
          </p:cNvSpPr>
          <p:nvPr/>
        </p:nvSpPr>
        <p:spPr>
          <a:xfrm xmlns:a="http://schemas.openxmlformats.org/drawingml/2006/main">
            <a:off x="6096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Linear probing with bounded scans.</a:t>
            </a:r>
          </a:p>
        </p:txBody>
      </p:sp>
      <p:sp>
        <p:nvSpPr>
          <p:cNvPr id="6" name="">
            <a:extLst xmlns:a="http://schemas.openxmlformats.org/drawingml/2006/main">
              <a:ext uri="{FF2B5EF4-FFF2-40B4-BE49-F238E27FC236}">
                <a16:creationId xmlns:a16="http://schemas.microsoft.com/office/drawing/2014/main" id="{9B0241CD-34C6-44FA-B9AE-1A13E3BAD4F5}"/>
              </a:ext>
            </a:extLst>
          </p:cNvPr>
          <p:cNvSpPr>
            <a:spLocks xmlns:a="http://schemas.openxmlformats.org/drawingml/2006/main" noGrp="1"/>
          </p:cNvSpPr>
          <p:nvPr/>
        </p:nvSpPr>
        <p:spPr>
          <a:xfrm xmlns:a="http://schemas.openxmlformats.org/drawingml/2006/main">
            <a:off x="609600" y="31242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Empty, occupied and tombstone states.</a:t>
            </a:r>
          </a:p>
        </p:txBody>
      </p:sp>
      <p:sp>
        <p:nvSpPr>
          <p:cNvPr id="7" name="">
            <a:extLst xmlns:a="http://schemas.openxmlformats.org/drawingml/2006/main">
              <a:ext uri="{FF2B5EF4-FFF2-40B4-BE49-F238E27FC236}">
                <a16:creationId xmlns:a16="http://schemas.microsoft.com/office/drawing/2014/main" id="{9821EF1D-9AFE-47D2-9DCA-BA18A95CBB33}"/>
              </a:ext>
            </a:extLst>
          </p:cNvPr>
          <p:cNvSpPr>
            <a:spLocks xmlns:a="http://schemas.openxmlformats.org/drawingml/2006/main" noGrp="1"/>
          </p:cNvSpPr>
          <p:nvPr/>
        </p:nvSpPr>
        <p:spPr>
          <a:xfrm xmlns:a="http://schemas.openxmlformats.org/drawingml/2006/main">
            <a:off x="609600" y="39624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Growth allocates new arrays and reinserts live entries.</a:t>
            </a:r>
          </a:p>
        </p:txBody>
      </p:sp>
      <p:sp>
        <p:nvSpPr>
          <p:cNvPr id="8" name="">
            <a:extLst xmlns:a="http://schemas.openxmlformats.org/drawingml/2006/main">
              <a:ext uri="{FF2B5EF4-FFF2-40B4-BE49-F238E27FC236}">
                <a16:creationId xmlns:a16="http://schemas.microsoft.com/office/drawing/2014/main" id="{E8CA6089-C915-41FE-8A4C-B42910986C4A}"/>
              </a:ext>
            </a:extLst>
          </p:cNvPr>
          <p:cNvSpPr>
            <a:spLocks xmlns:a="http://schemas.openxmlformats.org/drawingml/2006/main" noGrp="1"/>
          </p:cNvSpPr>
          <p:nvPr/>
        </p:nvSpPr>
        <p:spPr>
          <a:xfrm xmlns:a="http://schemas.openxmlformats.org/drawingml/2006/main">
            <a:off x="64008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Lookup agrees with the abstract finite map.</a:t>
            </a:r>
          </a:p>
        </p:txBody>
      </p:sp>
      <p:sp>
        <p:nvSpPr>
          <p:cNvPr id="9" name="">
            <a:extLst xmlns:a="http://schemas.openxmlformats.org/drawingml/2006/main">
              <a:ext uri="{FF2B5EF4-FFF2-40B4-BE49-F238E27FC236}">
                <a16:creationId xmlns:a16="http://schemas.microsoft.com/office/drawing/2014/main" id="{CDA2CC2A-665F-4B4B-9D61-F1388F6A7CD7}"/>
              </a:ext>
            </a:extLst>
          </p:cNvPr>
          <p:cNvSpPr>
            <a:spLocks xmlns:a="http://schemas.openxmlformats.org/drawingml/2006/main" noGrp="1"/>
          </p:cNvSpPr>
          <p:nvPr/>
        </p:nvSpPr>
        <p:spPr>
          <a:xfrm xmlns:a="http://schemas.openxmlformats.org/drawingml/2006/main">
            <a:off x="6400800" y="31718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Insertion adds or overwrites a key.</a:t>
            </a:r>
          </a:p>
        </p:txBody>
      </p:sp>
      <p:sp>
        <p:nvSpPr>
          <p:cNvPr id="10" name="">
            <a:extLst xmlns:a="http://schemas.openxmlformats.org/drawingml/2006/main">
              <a:ext uri="{FF2B5EF4-FFF2-40B4-BE49-F238E27FC236}">
                <a16:creationId xmlns:a16="http://schemas.microsoft.com/office/drawing/2014/main" id="{F4E0975C-5F2D-48C7-9CBD-7FC2D4DAA5A6}"/>
              </a:ext>
            </a:extLst>
          </p:cNvPr>
          <p:cNvSpPr>
            <a:spLocks xmlns:a="http://schemas.openxmlformats.org/drawingml/2006/main" noGrp="1"/>
          </p:cNvSpPr>
          <p:nvPr/>
        </p:nvSpPr>
        <p:spPr>
          <a:xfrm xmlns:a="http://schemas.openxmlformats.org/drawingml/2006/main">
            <a:off x="6400800" y="40100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Removal preserves other bindings.</a:t>
            </a:r>
          </a:p>
        </p:txBody>
      </p:sp>
      <p:sp>
        <p:nvSpPr>
          <p:cNvPr id="11" name="">
            <a:extLst xmlns:a="http://schemas.openxmlformats.org/drawingml/2006/main">
              <a:ext uri="{FF2B5EF4-FFF2-40B4-BE49-F238E27FC236}">
                <a16:creationId xmlns:a16="http://schemas.microsoft.com/office/drawing/2014/main" id="{5F251C7C-CC25-4593-8ADE-699166D5F9F7}"/>
              </a:ext>
            </a:extLst>
          </p:cNvPr>
          <p:cNvSpPr>
            <a:spLocks xmlns:a="http://schemas.openxmlformats.org/drawingml/2006/main" noGrp="1"/>
          </p:cNvSpPr>
          <p:nvPr/>
        </p:nvSpPr>
        <p:spPr>
          <a:xfrm xmlns:a="http://schemas.openxmlformats.org/drawingml/2006/main">
            <a:off x="6400800" y="48482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Rehashing preserves the represented contents.</a:t>
            </a:r>
          </a:p>
        </p:txBody>
      </p:sp>
      <p:sp>
        <p:nvSpPr>
          <p:cNvPr id="12" name="">
            <a:extLst xmlns:a="http://schemas.openxmlformats.org/drawingml/2006/main">
              <a:ext uri="{FF2B5EF4-FFF2-40B4-BE49-F238E27FC236}">
                <a16:creationId xmlns:a16="http://schemas.microsoft.com/office/drawing/2014/main" id="{1DB3F9BA-AE66-4A3D-9C76-080ADEA0CDA7}"/>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The proof must connect probing, ownership and the abstract map together.</a:t>
            </a:r>
          </a:p>
        </p:txBody>
      </p:sp>
    </p:spTree>
    <p:extLst>
      <p:ext uri="{BB962C8B-B14F-4D97-AF65-F5344CB8AC3E}">
        <p14:creationId xmlns:p14="http://schemas.microsoft.com/office/powerpoint/2010/main" val="9436943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F3B56C-44C2-422C-9B33-29CBE595102E}"/>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Hash map benchmarks</a:t>
            </a:r>
          </a:p>
        </p:txBody>
      </p:sp>
      <p:sp>
        <p:nvSpPr>
          <p:cNvPr id="2" name="">
            <a:extLst xmlns:a="http://schemas.openxmlformats.org/drawingml/2006/main">
              <a:ext uri="{FF2B5EF4-FFF2-40B4-BE49-F238E27FC236}">
                <a16:creationId xmlns:a16="http://schemas.microsoft.com/office/drawing/2014/main" id="{4DC7C741-FD64-42CC-A9AA-86499448C1BF}"/>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24</a:t>
            </a:r>
          </a:p>
        </p:txBody>
      </p:sp>
      <p:graphicFrame>
        <p:nvGraphicFramePr>
          <p:cNvPr id="3" name="Chart">
            <a:extLst xmlns:a="http://schemas.openxmlformats.org/drawingml/2006/main">
              <a:ext uri="{FF2B5EF4-FFF2-40B4-BE49-F238E27FC236}">
                <a16:creationId xmlns:a16="http://schemas.microsoft.com/office/drawing/2014/main" id="{6AE3533C-15AD-4C9D-B7A1-2C9B4AC86B63}"/>
              </a:ext>
            </a:extLst>
          </p:cNvPr>
          <p:cNvGraphicFramePr/>
          <p:nvPr/>
        </p:nvGraphicFramePr>
        <p:xfrm>
          <a:off xmlns:a="http://schemas.openxmlformats.org/drawingml/2006/main" x="609600" y="1485900"/>
          <a:ext xmlns:a="http://schemas.openxmlformats.org/drawingml/2006/main" cx="5257800" cy="3429000"/>
        </p:xfrm>
        <a:graphic xmlns:a="http://schemas.openxmlformats.org/drawingml/2006/main">
          <a:graphicData uri="http://schemas.openxmlformats.org/drawingml/2006/chart">
            <c:chart xmlns:r="http://schemas.openxmlformats.org/officeDocument/2006/relationships" xmlns:c="http://schemas.openxmlformats.org/drawingml/2006/chart" r:id="Rcb65e24a05274ce8"/>
          </a:graphicData>
        </a:graphic>
      </p:graphicFrame>
      <p:graphicFrame>
        <p:nvGraphicFramePr>
          <p:cNvPr id="4" name="Chart">
            <a:extLst xmlns:a="http://schemas.openxmlformats.org/drawingml/2006/main">
              <a:ext uri="{FF2B5EF4-FFF2-40B4-BE49-F238E27FC236}">
                <a16:creationId xmlns:a16="http://schemas.microsoft.com/office/drawing/2014/main" id="{A6D0EEB2-774E-4267-8015-0E0D08720FAB}"/>
              </a:ext>
            </a:extLst>
          </p:cNvPr>
          <p:cNvGraphicFramePr/>
          <p:nvPr/>
        </p:nvGraphicFramePr>
        <p:xfrm>
          <a:off xmlns:a="http://schemas.openxmlformats.org/drawingml/2006/main" x="6324600" y="1485900"/>
          <a:ext xmlns:a="http://schemas.openxmlformats.org/drawingml/2006/main" cx="5257800" cy="3429000"/>
        </p:xfrm>
        <a:graphic xmlns:a="http://schemas.openxmlformats.org/drawingml/2006/main">
          <a:graphicData uri="http://schemas.openxmlformats.org/drawingml/2006/chart">
            <c:chart xmlns:r="http://schemas.openxmlformats.org/officeDocument/2006/relationships" xmlns:c="http://schemas.openxmlformats.org/drawingml/2006/chart" r:id="R45e29fa7fb60473a"/>
          </a:graphicData>
        </a:graphic>
      </p:graphicFrame>
      <p:sp>
        <p:nvSpPr>
          <p:cNvPr id="5" name="">
            <a:extLst xmlns:a="http://schemas.openxmlformats.org/drawingml/2006/main">
              <a:ext uri="{FF2B5EF4-FFF2-40B4-BE49-F238E27FC236}">
                <a16:creationId xmlns:a16="http://schemas.microsoft.com/office/drawing/2014/main" id="{757AB55C-C97F-454C-9441-84D0FC31D2A0}"/>
              </a:ext>
            </a:extLst>
          </p:cNvPr>
          <p:cNvSpPr>
            <a:spLocks xmlns:a="http://schemas.openxmlformats.org/drawingml/2006/main" noGrp="1"/>
          </p:cNvSpPr>
          <p:nvPr/>
        </p:nvSpPr>
        <p:spPr>
          <a:xfrm xmlns:a="http://schemas.openxmlformats.org/drawingml/2006/main">
            <a:off x="609600" y="509587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36376"/>
                </a:solidFill>
                <a:latin typeface="Arial"/>
                <a:ea typeface="Arial"/>
                <a:cs typeface="Arial"/>
              </a:defRPr>
            </a:defPPr>
          </a:lstStyle>
          <a:p xmlns:a="http://schemas.openxmlformats.org/drawingml/2006/main">
            <a:pPr>
              <a:defRPr sz="1575" b="0">
                <a:solidFill>
                  <a:srgbClr val="536376"/>
                </a:solidFill>
                <a:latin typeface="Arial"/>
                <a:ea typeface="Arial"/>
                <a:cs typeface="Arial"/>
              </a:defRPr>
            </a:pPr>
            <a:r>
              <a:rPr sz="1575" b="0">
                <a:solidFill>
                  <a:srgbClr val="536376"/>
                </a:solidFill>
                <a:latin typeface="Arial"/>
                <a:ea typeface="Arial"/>
                <a:cs typeface="Arial"/>
              </a:rPr>
              <a:t>Interquartile ranges, ns / lookup. Charts use different vertical scales.</a:t>
            </a:r>
          </a:p>
        </p:txBody>
      </p:sp>
      <p:sp>
        <p:nvSpPr>
          <p:cNvPr id="6" name="">
            <a:extLst xmlns:a="http://schemas.openxmlformats.org/drawingml/2006/main">
              <a:ext uri="{FF2B5EF4-FFF2-40B4-BE49-F238E27FC236}">
                <a16:creationId xmlns:a16="http://schemas.microsoft.com/office/drawing/2014/main" id="{D30A67DD-C1F5-49E1-B554-CE3B0AC08639}"/>
              </a:ext>
            </a:extLst>
          </p:cNvPr>
          <p:cNvSpPr>
            <a:spLocks xmlns:a="http://schemas.openxmlformats.org/drawingml/2006/main" noGrp="1"/>
          </p:cNvSpPr>
          <p:nvPr/>
        </p:nvSpPr>
        <p:spPr>
          <a:xfrm xmlns:a="http://schemas.openxmlformats.org/drawingml/2006/main">
            <a:off x="609600" y="540067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36376"/>
                </a:solidFill>
                <a:latin typeface="Arial"/>
                <a:ea typeface="Arial"/>
                <a:cs typeface="Arial"/>
              </a:defRPr>
            </a:defPPr>
          </a:lstStyle>
          <a:p xmlns:a="http://schemas.openxmlformats.org/drawingml/2006/main">
            <a:pPr>
              <a:defRPr sz="1575" b="0">
                <a:solidFill>
                  <a:srgbClr val="536376"/>
                </a:solidFill>
                <a:latin typeface="Arial"/>
                <a:ea typeface="Arial"/>
                <a:cs typeface="Arial"/>
              </a:defRPr>
            </a:pPr>
            <a:r>
              <a:rPr sz="1575" b="0">
                <a:solidFill>
                  <a:srgbClr val="536376"/>
                </a:solidFill>
                <a:latin typeface="Arial"/>
                <a:ea typeface="Arial"/>
                <a:cs typeface="Arial"/>
              </a:rPr>
              <a:t>Regular hit  CJR: 4.30–4.71   Std: 2.36–2.54</a:t>
            </a:r>
          </a:p>
          <a:p xmlns:a="http://schemas.openxmlformats.org/drawingml/2006/main">
            <a:pPr>
              <a:defRPr sz="1575" b="0">
                <a:solidFill>
                  <a:srgbClr val="536376"/>
                </a:solidFill>
                <a:latin typeface="Arial"/>
                <a:ea typeface="Arial"/>
                <a:cs typeface="Arial"/>
              </a:defRPr>
            </a:pPr>
            <a:r>
              <a:rPr sz="1575" b="0">
                <a:solidFill>
                  <a:srgbClr val="536376"/>
                </a:solidFill>
                <a:latin typeface="Arial"/>
                <a:ea typeface="Arial"/>
                <a:cs typeface="Arial"/>
              </a:rPr>
              <a:t>Colliding hit  CJR: 3580.32–3633.18   Std: 1047.00–1053.92</a:t>
            </a:r>
          </a:p>
        </p:txBody>
      </p:sp>
      <p:sp>
        <p:nvSpPr>
          <p:cNvPr id="7" name="">
            <a:extLst xmlns:a="http://schemas.openxmlformats.org/drawingml/2006/main">
              <a:ext uri="{FF2B5EF4-FFF2-40B4-BE49-F238E27FC236}">
                <a16:creationId xmlns:a16="http://schemas.microsoft.com/office/drawing/2014/main" id="{F01FE5F1-C6CE-429F-ADB6-4C3E6F7CDAC7}"/>
              </a:ext>
            </a:extLst>
          </p:cNvPr>
          <p:cNvSpPr>
            <a:spLocks xmlns:a="http://schemas.openxmlformats.org/drawingml/2006/main" noGrp="1"/>
          </p:cNvSpPr>
          <p:nvPr/>
        </p:nvSpPr>
        <p:spPr>
          <a:xfrm xmlns:a="http://schemas.openxmlformats.org/drawingml/2006/main">
            <a:off x="609600" y="61912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36376"/>
                </a:solidFill>
                <a:latin typeface="Arial"/>
                <a:ea typeface="Arial"/>
                <a:cs typeface="Arial"/>
              </a:defRPr>
            </a:defPPr>
          </a:lstStyle>
          <a:p xmlns:a="http://schemas.openxmlformats.org/drawingml/2006/main">
            <a:pPr>
              <a:defRPr sz="1500" b="0">
                <a:solidFill>
                  <a:srgbClr val="536376"/>
                </a:solidFill>
                <a:latin typeface="Arial"/>
                <a:ea typeface="Arial"/>
                <a:cs typeface="Arial"/>
              </a:defRPr>
            </a:pPr>
            <a:r>
              <a:rPr sz="1500" b="0">
                <a:solidFill>
                  <a:srgbClr val="536376"/>
                </a:solidFill>
                <a:latin typeface="Arial"/>
                <a:ea typeface="Arial"/>
                <a:cs typeface="Arial"/>
              </a:rPr>
              <a:t>Historical local run dated 2026-10-12. 21 observations per point. Baselines differ in representation.</a:t>
            </a:r>
          </a:p>
        </p:txBody>
      </p:sp>
    </p:spTree>
    <p:extLst>
      <p:ext uri="{BB962C8B-B14F-4D97-AF65-F5344CB8AC3E}">
        <p14:creationId xmlns:p14="http://schemas.microsoft.com/office/powerpoint/2010/main" val="151287662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BEA473-C4A0-40E9-92FE-82F4B777B12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Quadtrees: verified spatial structure</a:t>
            </a:r>
          </a:p>
        </p:txBody>
      </p:sp>
      <p:sp>
        <p:nvSpPr>
          <p:cNvPr id="2" name="">
            <a:extLst xmlns:a="http://schemas.openxmlformats.org/drawingml/2006/main">
              <a:ext uri="{FF2B5EF4-FFF2-40B4-BE49-F238E27FC236}">
                <a16:creationId xmlns:a16="http://schemas.microsoft.com/office/drawing/2014/main" id="{F90C4E0E-7136-414D-8C7B-D1284AAD4F34}"/>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60D8F5B2-4B59-4153-8E3E-13B3C7E1B6CE}"/>
              </a:ext>
            </a:extLst>
          </p:cNvPr>
          <p:cNvSpPr>
            <a:spLocks xmlns:a="http://schemas.openxmlformats.org/drawingml/2006/main" noGrp="1"/>
          </p:cNvSpPr>
          <p:nvPr/>
        </p:nvSpPr>
        <p:spPr>
          <a:xfrm xmlns:a="http://schemas.openxmlformats.org/drawingml/2006/main">
            <a:off x="6096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Subdivision and ownership</a:t>
            </a:r>
          </a:p>
        </p:txBody>
      </p:sp>
      <p:sp>
        <p:nvSpPr>
          <p:cNvPr id="4" name="">
            <a:extLst xmlns:a="http://schemas.openxmlformats.org/drawingml/2006/main">
              <a:ext uri="{FF2B5EF4-FFF2-40B4-BE49-F238E27FC236}">
                <a16:creationId xmlns:a16="http://schemas.microsoft.com/office/drawing/2014/main" id="{BF63C670-A2C9-46AC-84A2-B2775A02E88E}"/>
              </a:ext>
            </a:extLst>
          </p:cNvPr>
          <p:cNvSpPr>
            <a:spLocks xmlns:a="http://schemas.openxmlformats.org/drawingml/2006/main" noGrp="1"/>
          </p:cNvSpPr>
          <p:nvPr/>
        </p:nvSpPr>
        <p:spPr>
          <a:xfrm xmlns:a="http://schemas.openxmlformats.org/drawingml/2006/main">
            <a:off x="6400800" y="16954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Public operations</a:t>
            </a:r>
          </a:p>
        </p:txBody>
      </p:sp>
      <p:sp>
        <p:nvSpPr>
          <p:cNvPr id="5" name="">
            <a:extLst xmlns:a="http://schemas.openxmlformats.org/drawingml/2006/main">
              <a:ext uri="{FF2B5EF4-FFF2-40B4-BE49-F238E27FC236}">
                <a16:creationId xmlns:a16="http://schemas.microsoft.com/office/drawing/2014/main" id="{870F059F-5361-48D2-B3AD-5241B982E3C1}"/>
              </a:ext>
            </a:extLst>
          </p:cNvPr>
          <p:cNvSpPr>
            <a:spLocks xmlns:a="http://schemas.openxmlformats.org/drawingml/2006/main" noGrp="1"/>
          </p:cNvSpPr>
          <p:nvPr/>
        </p:nvSpPr>
        <p:spPr>
          <a:xfrm xmlns:a="http://schemas.openxmlformats.org/drawingml/2006/main">
            <a:off x="609600" y="2286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Integer coordinates in a bounded square.</a:t>
            </a:r>
          </a:p>
        </p:txBody>
      </p:sp>
      <p:sp>
        <p:nvSpPr>
          <p:cNvPr id="6" name="">
            <a:extLst xmlns:a="http://schemas.openxmlformats.org/drawingml/2006/main">
              <a:ext uri="{FF2B5EF4-FFF2-40B4-BE49-F238E27FC236}">
                <a16:creationId xmlns:a16="http://schemas.microsoft.com/office/drawing/2014/main" id="{3B2EA8E0-6AD5-47AD-B490-04C52B6252A4}"/>
              </a:ext>
            </a:extLst>
          </p:cNvPr>
          <p:cNvSpPr>
            <a:spLocks xmlns:a="http://schemas.openxmlformats.org/drawingml/2006/main" noGrp="1"/>
          </p:cNvSpPr>
          <p:nvPr/>
        </p:nvSpPr>
        <p:spPr>
          <a:xfrm xmlns:a="http://schemas.openxmlformats.org/drawingml/2006/main">
            <a:off x="609600" y="31242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Four children partition each branch’s domain.</a:t>
            </a:r>
          </a:p>
        </p:txBody>
      </p:sp>
      <p:sp>
        <p:nvSpPr>
          <p:cNvPr id="7" name="">
            <a:extLst xmlns:a="http://schemas.openxmlformats.org/drawingml/2006/main">
              <a:ext uri="{FF2B5EF4-FFF2-40B4-BE49-F238E27FC236}">
                <a16:creationId xmlns:a16="http://schemas.microsoft.com/office/drawing/2014/main" id="{3728AB7B-EE49-45B9-A708-6BCD2FA971DE}"/>
              </a:ext>
            </a:extLst>
          </p:cNvPr>
          <p:cNvSpPr>
            <a:spLocks xmlns:a="http://schemas.openxmlformats.org/drawingml/2006/main" noGrp="1"/>
          </p:cNvSpPr>
          <p:nvPr/>
        </p:nvSpPr>
        <p:spPr>
          <a:xfrm xmlns:a="http://schemas.openxmlformats.org/drawingml/2006/main">
            <a:off x="609600" y="40100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The tree predicate connects fields to a represented point set.</a:t>
            </a:r>
          </a:p>
        </p:txBody>
      </p:sp>
      <p:sp>
        <p:nvSpPr>
          <p:cNvPr id="8" name="">
            <a:extLst xmlns:a="http://schemas.openxmlformats.org/drawingml/2006/main">
              <a:ext uri="{FF2B5EF4-FFF2-40B4-BE49-F238E27FC236}">
                <a16:creationId xmlns:a16="http://schemas.microsoft.com/office/drawing/2014/main" id="{4EAD9736-3F8D-4B31-B9FB-6A9603CBD896}"/>
              </a:ext>
            </a:extLst>
          </p:cNvPr>
          <p:cNvSpPr>
            <a:spLocks xmlns:a="http://schemas.openxmlformats.org/drawingml/2006/main" noGrp="1"/>
          </p:cNvSpPr>
          <p:nvPr/>
        </p:nvSpPr>
        <p:spPr>
          <a:xfrm xmlns:a="http://schemas.openxmlformats.org/drawingml/2006/main">
            <a:off x="6400800" y="2286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Insertion reports new points and rejects duplicates.</a:t>
            </a:r>
          </a:p>
        </p:txBody>
      </p:sp>
      <p:sp>
        <p:nvSpPr>
          <p:cNvPr id="9" name="">
            <a:extLst xmlns:a="http://schemas.openxmlformats.org/drawingml/2006/main">
              <a:ext uri="{FF2B5EF4-FFF2-40B4-BE49-F238E27FC236}">
                <a16:creationId xmlns:a16="http://schemas.microsoft.com/office/drawing/2014/main" id="{1A343D9F-C729-4E73-A03A-F85905A2E7FE}"/>
              </a:ext>
            </a:extLst>
          </p:cNvPr>
          <p:cNvSpPr>
            <a:spLocks xmlns:a="http://schemas.openxmlformats.org/drawingml/2006/main" noGrp="1"/>
          </p:cNvSpPr>
          <p:nvPr/>
        </p:nvSpPr>
        <p:spPr>
          <a:xfrm xmlns:a="http://schemas.openxmlformats.org/drawingml/2006/main">
            <a:off x="6400800" y="317182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Out-of-domain insertion preserves the tree.</a:t>
            </a:r>
          </a:p>
        </p:txBody>
      </p:sp>
      <p:sp>
        <p:nvSpPr>
          <p:cNvPr id="10" name="">
            <a:extLst xmlns:a="http://schemas.openxmlformats.org/drawingml/2006/main">
              <a:ext uri="{FF2B5EF4-FFF2-40B4-BE49-F238E27FC236}">
                <a16:creationId xmlns:a16="http://schemas.microsoft.com/office/drawing/2014/main" id="{A9021C50-51FF-4FF1-8CFA-2D496475C6FA}"/>
              </a:ext>
            </a:extLst>
          </p:cNvPr>
          <p:cNvSpPr>
            <a:spLocks xmlns:a="http://schemas.openxmlformats.org/drawingml/2006/main" noGrp="1"/>
          </p:cNvSpPr>
          <p:nvPr/>
        </p:nvSpPr>
        <p:spPr>
          <a:xfrm xmlns:a="http://schemas.openxmlformats.org/drawingml/2006/main">
            <a:off x="6400800" y="405765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Range queries return a duplicate-free linked list.</a:t>
            </a:r>
          </a:p>
        </p:txBody>
      </p:sp>
      <p:sp>
        <p:nvSpPr>
          <p:cNvPr id="11" name="">
            <a:extLst xmlns:a="http://schemas.openxmlformats.org/drawingml/2006/main">
              <a:ext uri="{FF2B5EF4-FFF2-40B4-BE49-F238E27FC236}">
                <a16:creationId xmlns:a16="http://schemas.microsoft.com/office/drawing/2014/main" id="{006D372F-7558-4238-9172-BF63C120262E}"/>
              </a:ext>
            </a:extLst>
          </p:cNvPr>
          <p:cNvSpPr>
            <a:spLocks xmlns:a="http://schemas.openxmlformats.org/drawingml/2006/main" noGrp="1"/>
          </p:cNvSpPr>
          <p:nvPr/>
        </p:nvSpPr>
        <p:spPr>
          <a:xfrm xmlns:a="http://schemas.openxmlformats.org/drawingml/2006/main">
            <a:off x="6400800" y="4943475"/>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53345"/>
                </a:solidFill>
                <a:latin typeface="Arial"/>
                <a:ea typeface="Arial"/>
                <a:cs typeface="Arial"/>
              </a:defRPr>
            </a:defPPr>
          </a:lstStyle>
          <a:p xmlns:a="http://schemas.openxmlformats.org/drawingml/2006/main">
            <a:pPr>
              <a:defRPr sz="2100" b="0">
                <a:solidFill>
                  <a:srgbClr val="253345"/>
                </a:solidFill>
                <a:latin typeface="Arial"/>
                <a:ea typeface="Arial"/>
                <a:cs typeface="Arial"/>
              </a:defRPr>
            </a:pPr>
            <a:r>
              <a:rPr sz="2100" b="0">
                <a:solidFill>
                  <a:srgbClr val="253345"/>
                </a:solidFill>
                <a:latin typeface="Arial"/>
                <a:ea typeface="Arial"/>
                <a:cs typeface="Arial"/>
              </a:rPr>
              <a:t>Queries preserve the tree; result order is unspecified.</a:t>
            </a:r>
          </a:p>
        </p:txBody>
      </p:sp>
      <p:sp>
        <p:nvSpPr>
          <p:cNvPr id="12" name="">
            <a:extLst xmlns:a="http://schemas.openxmlformats.org/drawingml/2006/main">
              <a:ext uri="{FF2B5EF4-FFF2-40B4-BE49-F238E27FC236}">
                <a16:creationId xmlns:a16="http://schemas.microsoft.com/office/drawing/2014/main" id="{6194459C-58AE-4719-B377-8D0E34E55BB2}"/>
              </a:ext>
            </a:extLst>
          </p:cNvPr>
          <p:cNvSpPr>
            <a:spLocks xmlns:a="http://schemas.openxmlformats.org/drawingml/2006/main" noGrp="1"/>
          </p:cNvSpPr>
          <p:nvPr/>
        </p:nvSpPr>
        <p:spPr>
          <a:xfrm xmlns:a="http://schemas.openxmlformats.org/drawingml/2006/main">
            <a:off x="609600" y="5810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Separate pure set-model laws from Iris contracts for the executable program.</a:t>
            </a:r>
          </a:p>
        </p:txBody>
      </p:sp>
    </p:spTree>
    <p:extLst>
      <p:ext uri="{BB962C8B-B14F-4D97-AF65-F5344CB8AC3E}">
        <p14:creationId xmlns:p14="http://schemas.microsoft.com/office/powerpoint/2010/main" val="170687950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01A511-395F-465D-AF5C-04DF124ADACA}"/>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Quadtree benchmarks</a:t>
            </a:r>
          </a:p>
        </p:txBody>
      </p:sp>
      <p:sp>
        <p:nvSpPr>
          <p:cNvPr id="2" name="">
            <a:extLst xmlns:a="http://schemas.openxmlformats.org/drawingml/2006/main">
              <a:ext uri="{FF2B5EF4-FFF2-40B4-BE49-F238E27FC236}">
                <a16:creationId xmlns:a16="http://schemas.microsoft.com/office/drawing/2014/main" id="{A65D8509-17F4-49EB-8F35-CAEF5F9EF4A8}"/>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26</a:t>
            </a:r>
          </a:p>
        </p:txBody>
      </p:sp>
      <p:graphicFrame>
        <p:nvGraphicFramePr>
          <p:cNvPr id="3" name="Chart">
            <a:extLst xmlns:a="http://schemas.openxmlformats.org/drawingml/2006/main">
              <a:ext uri="{FF2B5EF4-FFF2-40B4-BE49-F238E27FC236}">
                <a16:creationId xmlns:a16="http://schemas.microsoft.com/office/drawing/2014/main" id="{4692B866-DBCA-4BF1-B1A8-BEE10FE59AC8}"/>
              </a:ext>
            </a:extLst>
          </p:cNvPr>
          <p:cNvGraphicFramePr/>
          <p:nvPr/>
        </p:nvGraphicFramePr>
        <p:xfrm>
          <a:off xmlns:a="http://schemas.openxmlformats.org/drawingml/2006/main" x="609600" y="1476375"/>
          <a:ext xmlns:a="http://schemas.openxmlformats.org/drawingml/2006/main" cx="7096125" cy="3667125"/>
        </p:xfrm>
        <a:graphic xmlns:a="http://schemas.openxmlformats.org/drawingml/2006/main">
          <a:graphicData uri="http://schemas.openxmlformats.org/drawingml/2006/chart">
            <c:chart xmlns:r="http://schemas.openxmlformats.org/officeDocument/2006/relationships" xmlns:c="http://schemas.openxmlformats.org/drawingml/2006/chart" r:id="R001dd7f420c645d4"/>
          </a:graphicData>
        </a:graphic>
      </p:graphicFrame>
      <p:sp>
        <p:nvSpPr>
          <p:cNvPr id="4" name="">
            <a:extLst xmlns:a="http://schemas.openxmlformats.org/drawingml/2006/main">
              <a:ext uri="{FF2B5EF4-FFF2-40B4-BE49-F238E27FC236}">
                <a16:creationId xmlns:a16="http://schemas.microsoft.com/office/drawing/2014/main" id="{3EAD9B12-9C64-449A-981F-F8E75186F28F}"/>
              </a:ext>
            </a:extLst>
          </p:cNvPr>
          <p:cNvSpPr>
            <a:spLocks xmlns:a="http://schemas.openxmlformats.org/drawingml/2006/main" noGrp="1"/>
          </p:cNvSpPr>
          <p:nvPr/>
        </p:nvSpPr>
        <p:spPr>
          <a:xfrm xmlns:a="http://schemas.openxmlformats.org/drawingml/2006/main">
            <a:off x="8096250" y="16002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45C9D"/>
                </a:solidFill>
                <a:latin typeface="Arial"/>
                <a:ea typeface="Arial"/>
                <a:cs typeface="Arial"/>
              </a:defRPr>
            </a:defPPr>
          </a:lstStyle>
          <a:p xmlns:a="http://schemas.openxmlformats.org/drawingml/2006/main">
            <a:pPr>
              <a:defRPr sz="2025" b="1">
                <a:solidFill>
                  <a:srgbClr val="245C9D"/>
                </a:solidFill>
                <a:latin typeface="Arial"/>
                <a:ea typeface="Arial"/>
                <a:cs typeface="Arial"/>
              </a:defRPr>
            </a:pPr>
            <a:r>
              <a:rPr sz="2025" b="1">
                <a:solidFill>
                  <a:srgbClr val="245C9D"/>
                </a:solidFill>
                <a:latin typeface="Arial"/>
                <a:ea typeface="Arial"/>
                <a:cs typeface="Arial"/>
              </a:rPr>
              <a:t>Three comparators</a:t>
            </a:r>
          </a:p>
        </p:txBody>
      </p:sp>
      <p:sp>
        <p:nvSpPr>
          <p:cNvPr id="5" name="">
            <a:extLst xmlns:a="http://schemas.openxmlformats.org/drawingml/2006/main">
              <a:ext uri="{FF2B5EF4-FFF2-40B4-BE49-F238E27FC236}">
                <a16:creationId xmlns:a16="http://schemas.microsoft.com/office/drawing/2014/main" id="{94695A50-8777-410B-ADC3-C216ADB07702}"/>
              </a:ext>
            </a:extLst>
          </p:cNvPr>
          <p:cNvSpPr>
            <a:spLocks xmlns:a="http://schemas.openxmlformats.org/drawingml/2006/main" noGrp="1"/>
          </p:cNvSpPr>
          <p:nvPr/>
        </p:nvSpPr>
        <p:spPr>
          <a:xfrm xmlns:a="http://schemas.openxmlformats.org/drawingml/2006/main">
            <a:off x="8096250" y="223837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CJR extracted quadtree</a:t>
            </a:r>
          </a:p>
        </p:txBody>
      </p:sp>
      <p:sp>
        <p:nvSpPr>
          <p:cNvPr id="6" name="">
            <a:extLst xmlns:a="http://schemas.openxmlformats.org/drawingml/2006/main">
              <a:ext uri="{FF2B5EF4-FFF2-40B4-BE49-F238E27FC236}">
                <a16:creationId xmlns:a16="http://schemas.microsoft.com/office/drawing/2014/main" id="{090EA683-DEA5-42DD-8B4C-CF7D1BEF3EF9}"/>
              </a:ext>
            </a:extLst>
          </p:cNvPr>
          <p:cNvSpPr>
            <a:spLocks xmlns:a="http://schemas.openxmlformats.org/drawingml/2006/main" noGrp="1"/>
          </p:cNvSpPr>
          <p:nvPr/>
        </p:nvSpPr>
        <p:spPr>
          <a:xfrm xmlns:a="http://schemas.openxmlformats.org/drawingml/2006/main">
            <a:off x="8096250" y="303847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Independent native quadtree</a:t>
            </a:r>
          </a:p>
        </p:txBody>
      </p:sp>
      <p:sp>
        <p:nvSpPr>
          <p:cNvPr id="7" name="">
            <a:extLst xmlns:a="http://schemas.openxmlformats.org/drawingml/2006/main">
              <a:ext uri="{FF2B5EF4-FFF2-40B4-BE49-F238E27FC236}">
                <a16:creationId xmlns:a16="http://schemas.microsoft.com/office/drawing/2014/main" id="{347EC3AE-9199-4F9D-89D4-725A6BD98BC8}"/>
              </a:ext>
            </a:extLst>
          </p:cNvPr>
          <p:cNvSpPr>
            <a:spLocks xmlns:a="http://schemas.openxmlformats.org/drawingml/2006/main" noGrp="1"/>
          </p:cNvSpPr>
          <p:nvPr/>
        </p:nvSpPr>
        <p:spPr>
          <a:xfrm xmlns:a="http://schemas.openxmlformats.org/drawingml/2006/main">
            <a:off x="8096250" y="383857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Hash-indexed flat collection</a:t>
            </a:r>
          </a:p>
        </p:txBody>
      </p:sp>
      <p:sp>
        <p:nvSpPr>
          <p:cNvPr id="8" name="">
            <a:extLst xmlns:a="http://schemas.openxmlformats.org/drawingml/2006/main">
              <a:ext uri="{FF2B5EF4-FFF2-40B4-BE49-F238E27FC236}">
                <a16:creationId xmlns:a16="http://schemas.microsoft.com/office/drawing/2014/main" id="{CB367C39-AA7D-438D-9840-A74B65BDBD8E}"/>
              </a:ext>
            </a:extLst>
          </p:cNvPr>
          <p:cNvSpPr>
            <a:spLocks xmlns:a="http://schemas.openxmlformats.org/drawingml/2006/main" noGrp="1"/>
          </p:cNvSpPr>
          <p:nvPr/>
        </p:nvSpPr>
        <p:spPr>
          <a:xfrm xmlns:a="http://schemas.openxmlformats.org/drawingml/2006/main">
            <a:off x="8096250" y="4695825"/>
            <a:ext cx="333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53345"/>
                </a:solidFill>
                <a:latin typeface="Arial"/>
                <a:ea typeface="Arial"/>
                <a:cs typeface="Arial"/>
              </a:defRPr>
            </a:defPPr>
          </a:lstStyle>
          <a:p xmlns:a="http://schemas.openxmlformats.org/drawingml/2006/main">
            <a:pPr>
              <a:defRPr sz="1800" b="0">
                <a:solidFill>
                  <a:srgbClr val="253345"/>
                </a:solidFill>
                <a:latin typeface="Arial"/>
                <a:ea typeface="Arial"/>
                <a:cs typeface="Arial"/>
              </a:defRPr>
            </a:pPr>
            <a:r>
              <a:rPr sz="1800" b="0">
                <a:solidFill>
                  <a:srgbClr val="253345"/>
                </a:solidFill>
                <a:latin typeface="Arial"/>
                <a:ea typeface="Arial"/>
                <a:cs typeface="Arial"/>
              </a:rPr>
              <a:t>Query-result allocation is timed. Broad queries can favour different implementations.</a:t>
            </a:r>
          </a:p>
        </p:txBody>
      </p:sp>
      <p:sp>
        <p:nvSpPr>
          <p:cNvPr id="9" name="">
            <a:extLst xmlns:a="http://schemas.openxmlformats.org/drawingml/2006/main">
              <a:ext uri="{FF2B5EF4-FFF2-40B4-BE49-F238E27FC236}">
                <a16:creationId xmlns:a16="http://schemas.microsoft.com/office/drawing/2014/main" id="{F968EC18-5F9B-466E-9154-3ACB0F9381E1}"/>
              </a:ext>
            </a:extLst>
          </p:cNvPr>
          <p:cNvSpPr>
            <a:spLocks xmlns:a="http://schemas.openxmlformats.org/drawingml/2006/main" noGrp="1"/>
          </p:cNvSpPr>
          <p:nvPr/>
        </p:nvSpPr>
        <p:spPr>
          <a:xfrm xmlns:a="http://schemas.openxmlformats.org/drawingml/2006/main">
            <a:off x="609600" y="52197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376"/>
                </a:solidFill>
                <a:latin typeface="Arial"/>
                <a:ea typeface="Arial"/>
                <a:cs typeface="Arial"/>
              </a:defRPr>
            </a:defPPr>
          </a:lstStyle>
          <a:p xmlns:a="http://schemas.openxmlformats.org/drawingml/2006/main">
            <a:pPr>
              <a:defRPr sz="1350" b="0">
                <a:solidFill>
                  <a:srgbClr val="536376"/>
                </a:solidFill>
                <a:latin typeface="Arial"/>
                <a:ea typeface="Arial"/>
                <a:cs typeface="Arial"/>
              </a:defRPr>
            </a:pPr>
            <a:r>
              <a:rPr sz="1350" b="0">
                <a:solidFill>
                  <a:srgbClr val="536376"/>
                </a:solidFill>
                <a:latin typeface="Arial"/>
                <a:ea typeface="Arial"/>
                <a:cs typeface="Arial"/>
              </a:rPr>
              <a:t>Interquartile ranges, µs / query</a:t>
            </a:r>
          </a:p>
        </p:txBody>
      </p:sp>
      <p:sp>
        <p:nvSpPr>
          <p:cNvPr id="10" name="">
            <a:extLst xmlns:a="http://schemas.openxmlformats.org/drawingml/2006/main">
              <a:ext uri="{FF2B5EF4-FFF2-40B4-BE49-F238E27FC236}">
                <a16:creationId xmlns:a16="http://schemas.microsoft.com/office/drawing/2014/main" id="{CFD38C7A-404B-4161-B578-9DADBD8181E2}"/>
              </a:ext>
            </a:extLst>
          </p:cNvPr>
          <p:cNvSpPr>
            <a:spLocks xmlns:a="http://schemas.openxmlformats.org/drawingml/2006/main" noGrp="1"/>
          </p:cNvSpPr>
          <p:nvPr/>
        </p:nvSpPr>
        <p:spPr>
          <a:xfrm xmlns:a="http://schemas.openxmlformats.org/drawingml/2006/main">
            <a:off x="609600" y="552450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36376"/>
                </a:solidFill>
                <a:latin typeface="Arial"/>
                <a:ea typeface="Arial"/>
                <a:cs typeface="Arial"/>
              </a:defRPr>
            </a:defPPr>
          </a:lstStyle>
          <a:p xmlns:a="http://schemas.openxmlformats.org/drawingml/2006/main">
            <a:pPr>
              <a:defRPr sz="1350" b="0">
                <a:solidFill>
                  <a:srgbClr val="536376"/>
                </a:solidFill>
                <a:latin typeface="Arial"/>
                <a:ea typeface="Arial"/>
                <a:cs typeface="Arial"/>
              </a:defRPr>
            </a:pPr>
            <a:r>
              <a:rPr sz="1350" b="0">
                <a:solidFill>
                  <a:srgbClr val="536376"/>
                </a:solidFill>
                <a:latin typeface="Arial"/>
                <a:ea typeface="Arial"/>
                <a:cs typeface="Arial"/>
              </a:rPr>
              <a:t>uniform  CJR: 2.72–3.03   Flat: 22.42–24.21   Native: 2.89–3.31</a:t>
            </a:r>
          </a:p>
          <a:p xmlns:a="http://schemas.openxmlformats.org/drawingml/2006/main">
            <a:pPr>
              <a:defRPr sz="1350" b="0">
                <a:solidFill>
                  <a:srgbClr val="536376"/>
                </a:solidFill>
                <a:latin typeface="Arial"/>
                <a:ea typeface="Arial"/>
                <a:cs typeface="Arial"/>
              </a:defRPr>
            </a:pPr>
            <a:r>
              <a:rPr sz="1350" b="0">
                <a:solidFill>
                  <a:srgbClr val="536376"/>
                </a:solidFill>
                <a:latin typeface="Arial"/>
                <a:ea typeface="Arial"/>
                <a:cs typeface="Arial"/>
              </a:rPr>
              <a:t>cluster  CJR: 2.26–2.57   Flat: 22.87–23.95   Native: 2.55–2.88</a:t>
            </a:r>
          </a:p>
          <a:p xmlns:a="http://schemas.openxmlformats.org/drawingml/2006/main">
            <a:pPr>
              <a:defRPr sz="1350" b="0">
                <a:solidFill>
                  <a:srgbClr val="536376"/>
                </a:solidFill>
                <a:latin typeface="Arial"/>
                <a:ea typeface="Arial"/>
                <a:cs typeface="Arial"/>
              </a:defRPr>
            </a:pPr>
            <a:r>
              <a:rPr sz="1350" b="0">
                <a:solidFill>
                  <a:srgbClr val="536376"/>
                </a:solidFill>
                <a:latin typeface="Arial"/>
                <a:ea typeface="Arial"/>
                <a:cs typeface="Arial"/>
              </a:rPr>
              <a:t>prefix  CJR: 1.97–2.30   Flat: 22.08–22.73   Native: 1.93–2.31</a:t>
            </a:r>
          </a:p>
        </p:txBody>
      </p:sp>
      <p:sp>
        <p:nvSpPr>
          <p:cNvPr id="11" name="">
            <a:extLst xmlns:a="http://schemas.openxmlformats.org/drawingml/2006/main">
              <a:ext uri="{FF2B5EF4-FFF2-40B4-BE49-F238E27FC236}">
                <a16:creationId xmlns:a16="http://schemas.microsoft.com/office/drawing/2014/main" id="{AC98A7A0-1506-4657-84D7-15EA9C4AA8C9}"/>
              </a:ext>
            </a:extLst>
          </p:cNvPr>
          <p:cNvSpPr>
            <a:spLocks xmlns:a="http://schemas.openxmlformats.org/drawingml/2006/main" noGrp="1"/>
          </p:cNvSpPr>
          <p:nvPr/>
        </p:nvSpPr>
        <p:spPr>
          <a:xfrm xmlns:a="http://schemas.openxmlformats.org/drawingml/2006/main">
            <a:off x="609600" y="623887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36376"/>
                </a:solidFill>
                <a:latin typeface="Arial"/>
                <a:ea typeface="Arial"/>
                <a:cs typeface="Arial"/>
              </a:defRPr>
            </a:defPPr>
          </a:lstStyle>
          <a:p xmlns:a="http://schemas.openxmlformats.org/drawingml/2006/main">
            <a:pPr>
              <a:defRPr sz="1500" b="0">
                <a:solidFill>
                  <a:srgbClr val="536376"/>
                </a:solidFill>
                <a:latin typeface="Arial"/>
                <a:ea typeface="Arial"/>
                <a:cs typeface="Arial"/>
              </a:defRPr>
            </a:pPr>
            <a:r>
              <a:rPr sz="1500" b="0">
                <a:solidFill>
                  <a:srgbClr val="536376"/>
                </a:solidFill>
                <a:latin typeface="Arial"/>
                <a:ea typeface="Arial"/>
                <a:cs typeface="Arial"/>
              </a:rPr>
              <a:t>Historical local run dated 2026-10-12. 21 observations per point. Median and IQR.</a:t>
            </a:r>
          </a:p>
        </p:txBody>
      </p:sp>
    </p:spTree>
    <p:extLst>
      <p:ext uri="{BB962C8B-B14F-4D97-AF65-F5344CB8AC3E}">
        <p14:creationId xmlns:p14="http://schemas.microsoft.com/office/powerpoint/2010/main" val="64342149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576AE5-038C-4655-B123-ECC9F5C67DAD}"/>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Rocq-readable: inspect the contract</a:t>
            </a:r>
          </a:p>
        </p:txBody>
      </p:sp>
      <p:sp>
        <p:nvSpPr>
          <p:cNvPr id="2" name="">
            <a:extLst xmlns:a="http://schemas.openxmlformats.org/drawingml/2006/main">
              <a:ext uri="{FF2B5EF4-FFF2-40B4-BE49-F238E27FC236}">
                <a16:creationId xmlns:a16="http://schemas.microsoft.com/office/drawing/2014/main" id="{B29E0ABC-5D30-4306-B963-86647DBBA344}"/>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DC2BCB29-CE69-41DE-B357-C4CA793E9E2F}"/>
              </a:ext>
            </a:extLst>
          </p:cNvPr>
          <p:cNvSpPr>
            <a:spLocks xmlns:a="http://schemas.openxmlformats.org/drawingml/2006/main" noGrp="1"/>
          </p:cNvSpPr>
          <p:nvPr/>
        </p:nvSpPr>
        <p:spPr>
          <a:xfrm xmlns:a="http://schemas.openxmlformats.org/drawingml/2006/main">
            <a:off x="609600" y="14859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45C9D"/>
                </a:solidFill>
                <a:latin typeface="Arial"/>
                <a:ea typeface="Arial"/>
                <a:cs typeface="Arial"/>
              </a:defRPr>
            </a:defPPr>
          </a:lstStyle>
          <a:p xmlns:a="http://schemas.openxmlformats.org/drawingml/2006/main">
            <a:pPr>
              <a:defRPr sz="2100" b="1">
                <a:solidFill>
                  <a:srgbClr val="245C9D"/>
                </a:solidFill>
                <a:latin typeface="Arial"/>
                <a:ea typeface="Arial"/>
                <a:cs typeface="Arial"/>
              </a:defRPr>
            </a:pPr>
            <a:r>
              <a:rPr sz="2100" b="1">
                <a:solidFill>
                  <a:srgbClr val="245C9D"/>
                </a:solidFill>
                <a:latin typeface="Arial"/>
                <a:ea typeface="Arial"/>
                <a:cs typeface="Arial"/>
              </a:rPr>
              <a:t>Rocq declaration</a:t>
            </a:r>
          </a:p>
        </p:txBody>
      </p:sp>
      <p:sp>
        <p:nvSpPr>
          <p:cNvPr id="4" name="">
            <a:extLst xmlns:a="http://schemas.openxmlformats.org/drawingml/2006/main">
              <a:ext uri="{FF2B5EF4-FFF2-40B4-BE49-F238E27FC236}">
                <a16:creationId xmlns:a16="http://schemas.microsoft.com/office/drawing/2014/main" id="{D924D897-16E0-48CC-9178-948EE837C70B}"/>
              </a:ext>
            </a:extLst>
          </p:cNvPr>
          <p:cNvSpPr>
            <a:spLocks xmlns:a="http://schemas.openxmlformats.org/drawingml/2006/main" noGrp="1"/>
          </p:cNvSpPr>
          <p:nvPr/>
        </p:nvSpPr>
        <p:spPr>
          <a:xfrm xmlns:a="http://schemas.openxmlformats.org/drawingml/2006/main">
            <a:off x="609600" y="2190750"/>
            <a:ext cx="5238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Menlo"/>
                <a:ea typeface="Menlo"/>
                <a:cs typeface="Menlo"/>
              </a:defRPr>
            </a:defPPr>
          </a:lstStyle>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Lemma reverse_spec (xs : list Z)</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(l : val_cjr) :</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is_list xs l -∗</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WP call_reverse l</a:t>
            </a:r>
          </a:p>
          <a:p xmlns:a="http://schemas.openxmlformats.org/drawingml/2006/main">
            <a:pPr>
              <a:defRPr sz="1875" b="0">
                <a:solidFill>
                  <a:srgbClr val="253345"/>
                </a:solidFill>
                <a:latin typeface="Menlo"/>
                <a:ea typeface="Menlo"/>
                <a:cs typeface="Menlo"/>
              </a:defRPr>
            </a:pPr>
            <a:r>
              <a:rPr sz="1875" b="0">
                <a:solidFill>
                  <a:srgbClr val="253345"/>
                </a:solidFill>
                <a:latin typeface="Menlo"/>
                <a:ea typeface="Menlo"/>
                <a:cs typeface="Menlo"/>
              </a:rPr>
              <a:t>    {{ v, is_list (rev xs) v }}.</a:t>
            </a:r>
          </a:p>
        </p:txBody>
      </p:sp>
      <p:sp>
        <p:nvSpPr>
          <p:cNvPr id="5" name="">
            <a:extLst xmlns:a="http://schemas.openxmlformats.org/drawingml/2006/main">
              <a:ext uri="{FF2B5EF4-FFF2-40B4-BE49-F238E27FC236}">
                <a16:creationId xmlns:a16="http://schemas.microsoft.com/office/drawing/2014/main" id="{5295171A-9689-424D-BB70-75643BBE51B0}"/>
              </a:ext>
            </a:extLst>
          </p:cNvPr>
          <p:cNvSpPr>
            <a:spLocks xmlns:a="http://schemas.openxmlformats.org/drawingml/2006/main" noGrp="1"/>
          </p:cNvSpPr>
          <p:nvPr/>
        </p:nvSpPr>
        <p:spPr>
          <a:xfrm xmlns:a="http://schemas.openxmlformats.org/drawingml/2006/main">
            <a:off x="6419850" y="14859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45C9D"/>
                </a:solidFill>
                <a:latin typeface="Arial"/>
                <a:ea typeface="Arial"/>
                <a:cs typeface="Arial"/>
              </a:defRPr>
            </a:defPPr>
          </a:lstStyle>
          <a:p xmlns:a="http://schemas.openxmlformats.org/drawingml/2006/main">
            <a:pPr>
              <a:defRPr sz="2100" b="1">
                <a:solidFill>
                  <a:srgbClr val="245C9D"/>
                </a:solidFill>
                <a:latin typeface="Arial"/>
                <a:ea typeface="Arial"/>
                <a:cs typeface="Arial"/>
              </a:defRPr>
            </a:pPr>
            <a:r>
              <a:rPr sz="2100" b="1">
                <a:solidFill>
                  <a:srgbClr val="245C9D"/>
                </a:solidFill>
                <a:latin typeface="Arial"/>
                <a:ea typeface="Arial"/>
                <a:cs typeface="Arial"/>
              </a:rPr>
              <a:t>Rendered statement excerpt</a:t>
            </a:r>
          </a:p>
        </p:txBody>
      </p:sp>
      <p:pic>
        <p:nvPicPr>
          <p:cNvPr id="6" name="">
            <a:extLst xmlns:a="http://schemas.openxmlformats.org/drawingml/2006/main">
              <a:ext uri="{FF2B5EF4-FFF2-40B4-BE49-F238E27FC236}">
                <a16:creationId xmlns:a16="http://schemas.microsoft.com/office/drawing/2014/main" id="{9E9ED756-289A-4BFA-9967-63EB52ED874A}"/>
              </a:ext>
            </a:extLst>
          </p:cNvPr>
          <p:cNvPicPr>
            <a:picLocks xmlns:a="http://schemas.openxmlformats.org/drawingml/2006/main" noChangeAspect="1"/>
          </p:cNvPicPr>
          <p:nvPr/>
        </p:nvPicPr>
        <p:blipFill>
          <a:blip xmlns:r="http://schemas.openxmlformats.org/officeDocument/2006/relationships" xmlns:a="http://schemas.openxmlformats.org/drawingml/2006/main" r:embed="R2fa8efd02ba249f6"/>
          <a:stretch xmlns:a="http://schemas.openxmlformats.org/drawingml/2006/main"/>
        </p:blipFill>
        <p:spPr>
          <a:xfrm xmlns:a="http://schemas.openxmlformats.org/drawingml/2006/main">
            <a:off x="6419850" y="2946309"/>
            <a:ext cx="5095875" cy="194645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F87A93C-0125-4934-981C-FFA7BE2BACAB}"/>
              </a:ext>
            </a:extLst>
          </p:cNvPr>
          <p:cNvSpPr>
            <a:spLocks xmlns:a="http://schemas.openxmlformats.org/drawingml/2006/main" noGrp="1"/>
          </p:cNvSpPr>
          <p:nvPr/>
        </p:nvSpPr>
        <p:spPr>
          <a:xfrm xmlns:a="http://schemas.openxmlformats.org/drawingml/2006/main">
            <a:off x="609600" y="5953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36376"/>
                </a:solidFill>
                <a:latin typeface="Arial"/>
                <a:ea typeface="Arial"/>
                <a:cs typeface="Arial"/>
              </a:defRPr>
            </a:defPPr>
          </a:lstStyle>
          <a:p xmlns:a="http://schemas.openxmlformats.org/drawingml/2006/main">
            <a:pPr>
              <a:defRPr sz="1800" b="0">
                <a:solidFill>
                  <a:srgbClr val="536376"/>
                </a:solidFill>
                <a:latin typeface="Arial"/>
                <a:ea typeface="Arial"/>
                <a:cs typeface="Arial"/>
              </a:defRPr>
            </a:pPr>
            <a:r>
              <a:rPr sz="1800" b="0">
                <a:solidFill>
                  <a:srgbClr val="536376"/>
                </a:solidFill>
                <a:latin typeface="Arial"/>
                <a:ea typeface="Arial"/>
                <a:cs typeface="Arial"/>
              </a:rPr>
              <a:t>Both retain the CJR and invariant typeclass context. The rendering omits the proof script.</a:t>
            </a:r>
          </a:p>
        </p:txBody>
      </p:sp>
    </p:spTree>
    <p:extLst>
      <p:ext uri="{BB962C8B-B14F-4D97-AF65-F5344CB8AC3E}">
        <p14:creationId xmlns:p14="http://schemas.microsoft.com/office/powerpoint/2010/main" val="19504200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66B5123-F03F-4670-ACE0-96A2A0064DF7}"/>
              </a:ext>
            </a:extLst>
          </p:cNvPr>
          <p:cNvSpPr>
            <a:spLocks xmlns:a="http://schemas.openxmlformats.org/drawingml/2006/main" noGrp="1"/>
          </p:cNvSpPr>
          <p:nvPr/>
        </p:nvSpPr>
        <p:spPr>
          <a:xfrm xmlns:a="http://schemas.openxmlformats.org/drawingml/2006/main">
            <a:off x="609600" y="4000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83F71"/>
                </a:solidFill>
                <a:latin typeface="Arial"/>
                <a:ea typeface="Arial"/>
                <a:cs typeface="Arial"/>
              </a:defRPr>
            </a:defPPr>
          </a:lstStyle>
          <a:p xmlns:a="http://schemas.openxmlformats.org/drawingml/2006/main">
            <a:pPr>
              <a:defRPr sz="3300" b="1">
                <a:solidFill>
                  <a:srgbClr val="183F71"/>
                </a:solidFill>
                <a:latin typeface="Arial"/>
                <a:ea typeface="Arial"/>
                <a:cs typeface="Arial"/>
              </a:defRPr>
            </a:pPr>
            <a:r>
              <a:rPr sz="3300" b="1">
                <a:solidFill>
                  <a:srgbClr val="183F71"/>
                </a:solidFill>
                <a:latin typeface="Arial"/>
                <a:ea typeface="Arial"/>
                <a:cs typeface="Arial"/>
              </a:rPr>
              <a:t>Rocq-readable: navigate the evidence</a:t>
            </a:r>
          </a:p>
        </p:txBody>
      </p:sp>
      <p:sp>
        <p:nvSpPr>
          <p:cNvPr id="2" name="">
            <a:extLst xmlns:a="http://schemas.openxmlformats.org/drawingml/2006/main">
              <a:ext uri="{FF2B5EF4-FFF2-40B4-BE49-F238E27FC236}">
                <a16:creationId xmlns:a16="http://schemas.microsoft.com/office/drawing/2014/main" id="{99FE3CD8-63E6-40F7-AF8F-6A8BB6A1AAE0}"/>
              </a:ext>
            </a:extLst>
          </p:cNvPr>
          <p:cNvSpPr>
            <a:spLocks xmlns:a="http://schemas.openxmlformats.org/drawingml/2006/main" noGrp="1"/>
          </p:cNvSpPr>
          <p:nvPr/>
        </p:nvSpPr>
        <p:spPr>
          <a:xfrm xmlns:a="http://schemas.openxmlformats.org/drawingml/2006/main">
            <a:off x="11239500"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667488"/>
                </a:solidFill>
                <a:latin typeface="Arial"/>
                <a:ea typeface="Arial"/>
                <a:cs typeface="Arial"/>
              </a:defRPr>
            </a:defPPr>
          </a:lstStyle>
          <a:p xmlns:a="http://schemas.openxmlformats.org/drawingml/2006/main">
            <a:pPr>
              <a:defRPr sz="1200" b="0">
                <a:solidFill>
                  <a:srgbClr val="667488"/>
                </a:solidFill>
                <a:latin typeface="Arial"/>
                <a:ea typeface="Arial"/>
                <a:cs typeface="Arial"/>
              </a:defRPr>
            </a:pPr>
            <a:r>
              <a:rPr sz="1200" b="0">
                <a:solidFill>
                  <a:srgbClr val="667488"/>
                </a:solidFill>
                <a:latin typeface="Arial"/>
                <a:ea typeface="Arial"/>
                <a:cs typeface="Arial"/>
              </a:rPr>
              <a:t>28</a:t>
            </a:r>
          </a:p>
        </p:txBody>
      </p:sp>
      <p:pic>
        <p:nvPicPr>
          <p:cNvPr id="3" name="">
            <a:extLst xmlns:a="http://schemas.openxmlformats.org/drawingml/2006/main">
              <a:ext uri="{FF2B5EF4-FFF2-40B4-BE49-F238E27FC236}">
                <a16:creationId xmlns:a16="http://schemas.microsoft.com/office/drawing/2014/main" id="{9C2EDEC2-7923-4493-96D0-39E81EFAADCF}"/>
              </a:ext>
            </a:extLst>
          </p:cNvPr>
          <p:cNvPicPr>
            <a:picLocks xmlns:a="http://schemas.openxmlformats.org/drawingml/2006/main" noChangeAspect="1"/>
          </p:cNvPicPr>
          <p:nvPr/>
        </p:nvPicPr>
        <p:blipFill>
          <a:blip xmlns:r="http://schemas.openxmlformats.org/officeDocument/2006/relationships" xmlns:a="http://schemas.openxmlformats.org/drawingml/2006/main" r:embed="Ra7ee17ee0fbe4deb"/>
          <a:stretch xmlns:a="http://schemas.openxmlformats.org/drawingml/2006/main"/>
        </p:blipFill>
        <p:spPr>
          <a:xfrm xmlns:a="http://schemas.openxmlformats.org/drawingml/2006/main">
            <a:off x="609600" y="2263171"/>
            <a:ext cx="6572250" cy="24269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9DFA620-9AD2-457C-ACA8-8BB59E66D97B}"/>
              </a:ext>
            </a:extLst>
          </p:cNvPr>
          <p:cNvSpPr>
            <a:spLocks xmlns:a="http://schemas.openxmlformats.org/drawingml/2006/main" noGrp="1"/>
          </p:cNvSpPr>
          <p:nvPr/>
        </p:nvSpPr>
        <p:spPr>
          <a:xfrm xmlns:a="http://schemas.openxmlformats.org/drawingml/2006/main">
            <a:off x="7620000" y="1524000"/>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5C9D"/>
                </a:solidFill>
                <a:latin typeface="Arial"/>
                <a:ea typeface="Arial"/>
                <a:cs typeface="Arial"/>
              </a:defRPr>
            </a:defPPr>
          </a:lstStyle>
          <a:p xmlns:a="http://schemas.openxmlformats.org/drawingml/2006/main">
            <a:pPr>
              <a:defRPr sz="2175" b="1">
                <a:solidFill>
                  <a:srgbClr val="245C9D"/>
                </a:solidFill>
                <a:latin typeface="Arial"/>
                <a:ea typeface="Arial"/>
                <a:cs typeface="Arial"/>
              </a:defRPr>
            </a:pPr>
            <a:r>
              <a:rPr sz="2175" b="1">
                <a:solidFill>
                  <a:srgbClr val="245C9D"/>
                </a:solidFill>
                <a:latin typeface="Arial"/>
                <a:ea typeface="Arial"/>
                <a:cs typeface="Arial"/>
              </a:rPr>
              <a:t>Review through linked declarations</a:t>
            </a:r>
          </a:p>
        </p:txBody>
      </p:sp>
      <p:sp>
        <p:nvSpPr>
          <p:cNvPr id="5" name="">
            <a:extLst xmlns:a="http://schemas.openxmlformats.org/drawingml/2006/main">
              <a:ext uri="{FF2B5EF4-FFF2-40B4-BE49-F238E27FC236}">
                <a16:creationId xmlns:a16="http://schemas.microsoft.com/office/drawing/2014/main" id="{7321A0F4-6383-49D1-918D-10B2F620EB9E}"/>
              </a:ext>
            </a:extLst>
          </p:cNvPr>
          <p:cNvSpPr>
            <a:spLocks xmlns:a="http://schemas.openxmlformats.org/drawingml/2006/main" noGrp="1"/>
          </p:cNvSpPr>
          <p:nvPr/>
        </p:nvSpPr>
        <p:spPr>
          <a:xfrm xmlns:a="http://schemas.openxmlformats.org/drawingml/2006/main">
            <a:off x="7620000" y="2571750"/>
            <a:ext cx="390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Explore dependencies and the original proof-free source.</a:t>
            </a:r>
          </a:p>
        </p:txBody>
      </p:sp>
      <p:sp>
        <p:nvSpPr>
          <p:cNvPr id="6" name="">
            <a:extLst xmlns:a="http://schemas.openxmlformats.org/drawingml/2006/main">
              <a:ext uri="{FF2B5EF4-FFF2-40B4-BE49-F238E27FC236}">
                <a16:creationId xmlns:a16="http://schemas.microsoft.com/office/drawing/2014/main" id="{75984672-6009-40E5-9E24-3BA6A2280A5A}"/>
              </a:ext>
            </a:extLst>
          </p:cNvPr>
          <p:cNvSpPr>
            <a:spLocks xmlns:a="http://schemas.openxmlformats.org/drawingml/2006/main" noGrp="1"/>
          </p:cNvSpPr>
          <p:nvPr/>
        </p:nvSpPr>
        <p:spPr>
          <a:xfrm xmlns:a="http://schemas.openxmlformats.org/drawingml/2006/main">
            <a:off x="7620000" y="3381375"/>
            <a:ext cx="390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Keep formal rendering distinct from cached AI explanations.</a:t>
            </a:r>
          </a:p>
        </p:txBody>
      </p:sp>
      <p:sp>
        <p:nvSpPr>
          <p:cNvPr id="7" name="">
            <a:extLst xmlns:a="http://schemas.openxmlformats.org/drawingml/2006/main">
              <a:ext uri="{FF2B5EF4-FFF2-40B4-BE49-F238E27FC236}">
                <a16:creationId xmlns:a16="http://schemas.microsoft.com/office/drawing/2014/main" id="{3B23B4C6-E8B3-4CBC-BAC4-6B31184B062E}"/>
              </a:ext>
            </a:extLst>
          </p:cNvPr>
          <p:cNvSpPr>
            <a:spLocks xmlns:a="http://schemas.openxmlformats.org/drawingml/2006/main" noGrp="1"/>
          </p:cNvSpPr>
          <p:nvPr/>
        </p:nvSpPr>
        <p:spPr>
          <a:xfrm xmlns:a="http://schemas.openxmlformats.org/drawingml/2006/main">
            <a:off x="7620000" y="4191000"/>
            <a:ext cx="390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Inspect coverage notices and unresolved references.</a:t>
            </a:r>
          </a:p>
        </p:txBody>
      </p:sp>
      <p:sp>
        <p:nvSpPr>
          <p:cNvPr id="8" name="">
            <a:extLst xmlns:a="http://schemas.openxmlformats.org/drawingml/2006/main">
              <a:ext uri="{FF2B5EF4-FFF2-40B4-BE49-F238E27FC236}">
                <a16:creationId xmlns:a16="http://schemas.microsoft.com/office/drawing/2014/main" id="{070ED10C-27DC-47C1-AA68-91C55A1C82CE}"/>
              </a:ext>
            </a:extLst>
          </p:cNvPr>
          <p:cNvSpPr>
            <a:spLocks xmlns:a="http://schemas.openxmlformats.org/drawingml/2006/main" noGrp="1"/>
          </p:cNvSpPr>
          <p:nvPr/>
        </p:nvSpPr>
        <p:spPr>
          <a:xfrm xmlns:a="http://schemas.openxmlformats.org/drawingml/2006/main">
            <a:off x="7620000" y="5000625"/>
            <a:ext cx="390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53345"/>
                </a:solidFill>
                <a:latin typeface="Arial"/>
                <a:ea typeface="Arial"/>
                <a:cs typeface="Arial"/>
              </a:defRPr>
            </a:defPPr>
          </a:lstStyle>
          <a:p xmlns:a="http://schemas.openxmlformats.org/drawingml/2006/main">
            <a:pPr>
              <a:defRPr sz="1875" b="0">
                <a:solidFill>
                  <a:srgbClr val="253345"/>
                </a:solidFill>
                <a:latin typeface="Arial"/>
                <a:ea typeface="Arial"/>
                <a:cs typeface="Arial"/>
              </a:defRPr>
            </a:pPr>
            <a:r>
              <a:rPr sz="1875" b="0">
                <a:solidFill>
                  <a:srgbClr val="253345"/>
                </a:solidFill>
                <a:latin typeface="Arial"/>
                <a:ea typeface="Arial"/>
                <a:cs typeface="Arial"/>
              </a:rPr>
              <a:t>Check proofs independently of their presentation.</a:t>
            </a:r>
          </a:p>
        </p:txBody>
      </p:sp>
      <p:sp>
        <p:nvSpPr>
          <p:cNvPr id="9" name="">
            <a:extLst xmlns:a="http://schemas.openxmlformats.org/drawingml/2006/main">
              <a:ext uri="{FF2B5EF4-FFF2-40B4-BE49-F238E27FC236}">
                <a16:creationId xmlns:a16="http://schemas.microsoft.com/office/drawing/2014/main" id="{2952CCC1-52C3-43DE-8BF5-A14EDB5FD43D}"/>
              </a:ext>
            </a:extLst>
          </p:cNvPr>
          <p:cNvSpPr>
            <a:spLocks xmlns:a="http://schemas.openxmlformats.org/drawingml/2006/main" noGrp="1"/>
          </p:cNvSpPr>
          <p:nvPr/>
        </p:nvSpPr>
        <p:spPr>
          <a:xfrm xmlns:a="http://schemas.openxmlformats.org/drawingml/2006/main">
            <a:off x="609600" y="59531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3F71"/>
                </a:solidFill>
                <a:latin typeface="Arial"/>
                <a:ea typeface="Arial"/>
                <a:cs typeface="Arial"/>
              </a:defRPr>
            </a:defPPr>
          </a:lstStyle>
          <a:p xmlns:a="http://schemas.openxmlformats.org/drawingml/2006/main">
            <a:pPr>
              <a:defRPr sz="1875" b="1">
                <a:solidFill>
                  <a:srgbClr val="183F71"/>
                </a:solidFill>
                <a:latin typeface="Arial"/>
                <a:ea typeface="Arial"/>
                <a:cs typeface="Arial"/>
              </a:defRPr>
            </a:pPr>
            <a:r>
              <a:rPr sz="1875" b="1">
                <a:solidFill>
                  <a:srgbClr val="183F71"/>
                </a:solidFill>
                <a:latin typeface="Arial"/>
                <a:ea typeface="Arial"/>
                <a:cs typeface="Arial"/>
              </a:rPr>
              <a:t>Readable contracts help people inspect what the theorem actually says.</a:t>
            </a:r>
          </a:p>
        </p:txBody>
      </p:sp>
    </p:spTree>
    <p:extLst>
      <p:ext uri="{BB962C8B-B14F-4D97-AF65-F5344CB8AC3E}">
        <p14:creationId xmlns:p14="http://schemas.microsoft.com/office/powerpoint/2010/main" val="115575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2026-10-13T03:17:20.4430000Z</dcterms:created>
  <dcterms:modified xsi:type="dcterms:W3CDTF">2026-10-13T03:17:20.4430000Z</dcterms:modified>
</coreProperties>
</file>